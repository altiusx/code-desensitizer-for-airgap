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95360" y="-2011680"/>
            <a:ext cx="6400800" cy="6400800"/>
          </a:xfrm>
          <a:prstGeom prst="ellipse">
            <a:avLst/>
          </a:prstGeom>
          <a:solidFill>
            <a:srgbClr val="2A3A7A">
              <a:alpha val="45000"/>
            </a:srgbClr>
          </a:solidFill>
          <a:ln/>
        </p:spPr>
      </p:sp>
      <p:sp>
        <p:nvSpPr>
          <p:cNvPr id="3" name="Shape 1"/>
          <p:cNvSpPr/>
          <p:nvPr/>
        </p:nvSpPr>
        <p:spPr>
          <a:xfrm>
            <a:off x="9875520" y="3291840"/>
            <a:ext cx="5029200" cy="5029200"/>
          </a:xfrm>
          <a:prstGeom prst="ellipse">
            <a:avLst/>
          </a:prstGeom>
          <a:solidFill>
            <a:srgbClr val="2A3A7A">
              <a:alpha val="30000"/>
            </a:srgbClr>
          </a:solidFill>
          <a:ln/>
        </p:spPr>
      </p:sp>
      <p:sp>
        <p:nvSpPr>
          <p:cNvPr id="4" name="Shape 2"/>
          <p:cNvSpPr/>
          <p:nvPr/>
        </p:nvSpPr>
        <p:spPr>
          <a:xfrm>
            <a:off x="548640" y="1051560"/>
            <a:ext cx="777240" cy="777240"/>
          </a:xfrm>
          <a:prstGeom prst="ellipse">
            <a:avLst/>
          </a:prstGeom>
          <a:solidFill>
            <a:srgbClr val="2A3A7A"/>
          </a:solidFill>
          <a:ln/>
        </p:spPr>
      </p:sp>
      <p:pic>
        <p:nvPicPr>
          <p:cNvPr id="5" name="Image 0" descr="preencoded.png">    </p:cNvPr>
          <p:cNvPicPr>
            <a:picLocks noChangeAspect="1"/>
          </p:cNvPicPr>
          <p:nvPr/>
        </p:nvPicPr>
        <p:blipFill>
          <a:blip r:embed="rId1"/>
          <a:stretch>
            <a:fillRect/>
          </a:stretch>
        </p:blipFill>
        <p:spPr>
          <a:xfrm>
            <a:off x="750722" y="1253642"/>
            <a:ext cx="373075" cy="373075"/>
          </a:xfrm>
          <a:prstGeom prst="rect">
            <a:avLst/>
          </a:prstGeom>
        </p:spPr>
      </p:pic>
      <p:sp>
        <p:nvSpPr>
          <p:cNvPr id="6" name="Text 3"/>
          <p:cNvSpPr/>
          <p:nvPr/>
        </p:nvSpPr>
        <p:spPr>
          <a:xfrm>
            <a:off x="548640" y="2148840"/>
            <a:ext cx="96012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A DISCIPLINED DELIVERY PARADIGM FOR CLASSIFIED ENVIRONMENTS</a:t>
            </a:r>
            <a:endParaRPr lang="en-US" sz="1300" dirty="0"/>
          </a:p>
        </p:txBody>
      </p:sp>
      <p:sp>
        <p:nvSpPr>
          <p:cNvPr id="7" name="Text 4"/>
          <p:cNvSpPr/>
          <p:nvPr/>
        </p:nvSpPr>
        <p:spPr>
          <a:xfrm>
            <a:off x="548640" y="2468880"/>
            <a:ext cx="10515600" cy="2011680"/>
          </a:xfrm>
          <a:prstGeom prst="rect">
            <a:avLst/>
          </a:prstGeom>
          <a:noFill/>
          <a:ln/>
        </p:spPr>
        <p:txBody>
          <a:bodyPr wrap="square" lIns="0" tIns="0" rIns="0" bIns="0" rtlCol="0" anchor="ctr"/>
          <a:lstStyle/>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Internet-First,</a:t>
            </a:r>
            <a:endParaRPr lang="en-US" sz="5400" dirty="0"/>
          </a:p>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Airgap-Final</a:t>
            </a:r>
            <a:endParaRPr lang="en-US" sz="5400" dirty="0"/>
          </a:p>
        </p:txBody>
      </p:sp>
      <p:sp>
        <p:nvSpPr>
          <p:cNvPr id="8" name="Text 5"/>
          <p:cNvSpPr/>
          <p:nvPr/>
        </p:nvSpPr>
        <p:spPr>
          <a:xfrm>
            <a:off x="548640" y="4663440"/>
            <a:ext cx="877824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Build at internet speed on desensitized parallels. Integrate behind the gate.</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Never move what matters: names, data, rules, and mapping.json stay inside.</a:t>
            </a:r>
            <a:endParaRPr lang="en-US" sz="1600" dirty="0"/>
          </a:p>
        </p:txBody>
      </p:sp>
      <p:sp>
        <p:nvSpPr>
          <p:cNvPr id="9" name="Text 6"/>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Core Engineering Team  ·  Strategy Proposal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BURNING PLATFORM</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Why we must change how we build</a:t>
            </a:r>
            <a:endParaRPr lang="en-US" sz="3000" dirty="0"/>
          </a:p>
        </p:txBody>
      </p:sp>
      <p:sp>
        <p:nvSpPr>
          <p:cNvPr id="6" name="Shape 4"/>
          <p:cNvSpPr/>
          <p:nvPr/>
        </p:nvSpPr>
        <p:spPr>
          <a:xfrm>
            <a:off x="548640"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77240" y="1828800"/>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07999" y="1959559"/>
            <a:ext cx="241402" cy="241402"/>
          </a:xfrm>
          <a:prstGeom prst="rect">
            <a:avLst/>
          </a:prstGeom>
        </p:spPr>
      </p:pic>
      <p:sp>
        <p:nvSpPr>
          <p:cNvPr id="9" name="Text 6"/>
          <p:cNvSpPr/>
          <p:nvPr/>
        </p:nvSpPr>
        <p:spPr>
          <a:xfrm>
            <a:off x="1417320"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6–8 mo</a:t>
            </a:r>
            <a:endParaRPr lang="en-US" sz="4000" dirty="0"/>
          </a:p>
        </p:txBody>
      </p:sp>
      <p:sp>
        <p:nvSpPr>
          <p:cNvPr id="10" name="Text 7"/>
          <p:cNvSpPr/>
          <p:nvPr/>
        </p:nvSpPr>
        <p:spPr>
          <a:xfrm>
            <a:off x="777240"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to deliver the backbone of ONE MFE —</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and it was one of the easier ones</a:t>
            </a:r>
            <a:endParaRPr lang="en-US" sz="1250" dirty="0"/>
          </a:p>
        </p:txBody>
      </p:sp>
      <p:sp>
        <p:nvSpPr>
          <p:cNvPr id="11" name="Shape 8"/>
          <p:cNvSpPr/>
          <p:nvPr/>
        </p:nvSpPr>
        <p:spPr>
          <a:xfrm>
            <a:off x="4334256"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62856" y="1828800"/>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93615" y="1959559"/>
            <a:ext cx="241402" cy="241402"/>
          </a:xfrm>
          <a:prstGeom prst="rect">
            <a:avLst/>
          </a:prstGeom>
        </p:spPr>
      </p:pic>
      <p:sp>
        <p:nvSpPr>
          <p:cNvPr id="14" name="Text 10"/>
          <p:cNvSpPr/>
          <p:nvPr/>
        </p:nvSpPr>
        <p:spPr>
          <a:xfrm>
            <a:off x="5202936"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“days”</a:t>
            </a:r>
            <a:endParaRPr lang="en-US" sz="4000" dirty="0"/>
          </a:p>
        </p:txBody>
      </p:sp>
      <p:sp>
        <p:nvSpPr>
          <p:cNvPr id="15" name="Text 11"/>
          <p:cNvSpPr/>
          <p:nvPr/>
        </p:nvSpPr>
        <p:spPr>
          <a:xfrm>
            <a:off x="4562856"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what GenAI-adopter user teams now</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promise stakeholders for the same features</a:t>
            </a:r>
            <a:endParaRPr lang="en-US" sz="1250" dirty="0"/>
          </a:p>
        </p:txBody>
      </p:sp>
      <p:sp>
        <p:nvSpPr>
          <p:cNvPr id="16" name="Shape 12"/>
          <p:cNvSpPr/>
          <p:nvPr/>
        </p:nvSpPr>
        <p:spPr>
          <a:xfrm>
            <a:off x="8119872"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48472" y="18288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79231" y="1959559"/>
            <a:ext cx="241402" cy="241402"/>
          </a:xfrm>
          <a:prstGeom prst="rect">
            <a:avLst/>
          </a:prstGeom>
        </p:spPr>
      </p:pic>
      <p:sp>
        <p:nvSpPr>
          <p:cNvPr id="19" name="Text 14"/>
          <p:cNvSpPr/>
          <p:nvPr/>
        </p:nvSpPr>
        <p:spPr>
          <a:xfrm>
            <a:off x="8988552"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9 → 6</a:t>
            </a:r>
            <a:endParaRPr lang="en-US" sz="4000" dirty="0"/>
          </a:p>
        </p:txBody>
      </p:sp>
      <p:sp>
        <p:nvSpPr>
          <p:cNvPr id="20" name="Text 15"/>
          <p:cNvSpPr/>
          <p:nvPr/>
        </p:nvSpPr>
        <p:spPr>
          <a:xfrm>
            <a:off x="8348472"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contractor-heavy team today; a mandated</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headcount reduction is coming, date unknown</a:t>
            </a:r>
            <a:endParaRPr lang="en-US" sz="1250" dirty="0"/>
          </a:p>
        </p:txBody>
      </p:sp>
      <p:sp>
        <p:nvSpPr>
          <p:cNvPr id="21" name="Text 16"/>
          <p:cNvSpPr/>
          <p:nvPr/>
        </p:nvSpPr>
        <p:spPr>
          <a:xfrm>
            <a:off x="548640" y="3886200"/>
            <a:ext cx="11094415" cy="10515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The real threat is not the vibe-coders' speed — it is their story. </a:t>
            </a:r>
            <a:pPr indent="0" marL="0">
              <a:buNone/>
            </a:pPr>
            <a:r>
              <a:rPr lang="en-US" sz="1500" dirty="0">
                <a:solidFill>
                  <a:srgbClr val="1B2440"/>
                </a:solidFill>
                <a:latin typeface="Calibri" pitchFamily="34" charset="0"/>
                <a:ea typeface="Calibri" pitchFamily="34" charset="-122"/>
                <a:cs typeface="Calibri" pitchFamily="34" charset="-120"/>
              </a:rPr>
              <a:t>If stakeholders believe features take days, months-long cycles become politically indefensible, regardless of the engineering truth. Prototype speed is not production speed: their “adjust the naming later” approach has no tests, no security model, and no integration plan. But we can only win that argument by matching their velocity </a:t>
            </a:r>
            <a:pPr indent="0" marL="0">
              <a:buNone/>
            </a:pPr>
            <a:r>
              <a:rPr lang="en-US" sz="1500" i="1" dirty="0">
                <a:solidFill>
                  <a:srgbClr val="1B2440"/>
                </a:solidFill>
                <a:latin typeface="Calibri" pitchFamily="34" charset="0"/>
                <a:ea typeface="Calibri" pitchFamily="34" charset="-122"/>
                <a:cs typeface="Calibri" pitchFamily="34" charset="-120"/>
              </a:rPr>
              <a:t>with</a:t>
            </a:r>
            <a:pPr indent="0" marL="0">
              <a:buNone/>
            </a:pPr>
            <a:r>
              <a:rPr lang="en-US" sz="1500" dirty="0">
                <a:solidFill>
                  <a:srgbClr val="1B2440"/>
                </a:solidFill>
                <a:latin typeface="Calibri" pitchFamily="34" charset="0"/>
                <a:ea typeface="Calibri" pitchFamily="34" charset="-122"/>
                <a:cs typeface="Calibri" pitchFamily="34" charset="-120"/>
              </a:rPr>
              <a:t> discipline — not by defending slowness.</a:t>
            </a:r>
            <a:endParaRPr lang="en-US" sz="1500" dirty="0"/>
          </a:p>
        </p:txBody>
      </p:sp>
      <p:sp>
        <p:nvSpPr>
          <p:cNvPr id="22" name="Shape 17"/>
          <p:cNvSpPr/>
          <p:nvPr/>
        </p:nvSpPr>
        <p:spPr>
          <a:xfrm>
            <a:off x="548640" y="5120640"/>
            <a:ext cx="11094415" cy="1051560"/>
          </a:xfrm>
          <a:prstGeom prst="roundRect">
            <a:avLst>
              <a:gd name="adj" fmla="val 6957"/>
            </a:avLst>
          </a:prstGeom>
          <a:solidFill>
            <a:srgbClr val="EAF4EF"/>
          </a:solidFill>
          <a:ln/>
          <a:effectLst>
            <a:outerShdw sx="100000" sy="100000" kx="0" ky="0" algn="bl" rotWithShape="0" blurRad="76200" dist="12700" dir="5400000">
              <a:srgbClr val="9AA7C4">
                <a:alpha val="25000"/>
              </a:srgbClr>
            </a:outerShdw>
          </a:effectLst>
        </p:spPr>
      </p:sp>
      <p:sp>
        <p:nvSpPr>
          <p:cNvPr id="23" name="Shape 18"/>
          <p:cNvSpPr/>
          <p:nvPr/>
        </p:nvSpPr>
        <p:spPr>
          <a:xfrm>
            <a:off x="777240" y="5330952"/>
            <a:ext cx="594360" cy="594360"/>
          </a:xfrm>
          <a:prstGeom prst="ellipse">
            <a:avLst/>
          </a:prstGeom>
          <a:solidFill>
            <a:srgbClr val="2E7D5B"/>
          </a:solidFill>
          <a:ln/>
        </p:spPr>
      </p:sp>
      <p:pic>
        <p:nvPicPr>
          <p:cNvPr id="24" name="Image 3" descr="preencoded.png">    </p:cNvPr>
          <p:cNvPicPr>
            <a:picLocks noChangeAspect="1"/>
          </p:cNvPicPr>
          <p:nvPr/>
        </p:nvPicPr>
        <p:blipFill>
          <a:blip r:embed="rId4"/>
          <a:stretch>
            <a:fillRect/>
          </a:stretch>
        </p:blipFill>
        <p:spPr>
          <a:xfrm>
            <a:off x="931774" y="5485486"/>
            <a:ext cx="285293" cy="285293"/>
          </a:xfrm>
          <a:prstGeom prst="rect">
            <a:avLst/>
          </a:prstGeom>
        </p:spPr>
      </p:pic>
      <p:sp>
        <p:nvSpPr>
          <p:cNvPr id="25" name="Text 19"/>
          <p:cNvSpPr/>
          <p:nvPr/>
        </p:nvSpPr>
        <p:spPr>
          <a:xfrm>
            <a:off x="1554480" y="5257800"/>
            <a:ext cx="9859975" cy="8229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The bet:  </a:t>
            </a:r>
            <a:pPr indent="0" marL="0">
              <a:buNone/>
            </a:pPr>
            <a:r>
              <a:rPr lang="en-US" sz="1450" dirty="0">
                <a:solidFill>
                  <a:srgbClr val="1B2440"/>
                </a:solidFill>
                <a:latin typeface="Calibri" pitchFamily="34" charset="0"/>
                <a:ea typeface="Calibri" pitchFamily="34" charset="-122"/>
                <a:cs typeface="Calibri" pitchFamily="34" charset="-120"/>
              </a:rPr>
              <a:t>≈90% of our application logic is not classified — only terminology, data, and specific rule values are. So we build the 90% at internet speed under a fictional context, and bind the classified 10% inside the airgap.</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OPERATING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loop, two worlds, a gate between them</a:t>
            </a:r>
            <a:endParaRPr lang="en-US" sz="3000" dirty="0"/>
          </a:p>
        </p:txBody>
      </p:sp>
      <p:sp>
        <p:nvSpPr>
          <p:cNvPr id="6" name="Shape 4"/>
          <p:cNvSpPr/>
          <p:nvPr/>
        </p:nvSpPr>
        <p:spPr>
          <a:xfrm>
            <a:off x="5486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1152144" y="2029968"/>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294790" y="2172614"/>
            <a:ext cx="263347" cy="263347"/>
          </a:xfrm>
          <a:prstGeom prst="rect">
            <a:avLst/>
          </a:prstGeom>
        </p:spPr>
      </p:pic>
      <p:sp>
        <p:nvSpPr>
          <p:cNvPr id="9" name="Text 6"/>
          <p:cNvSpPr/>
          <p:nvPr/>
        </p:nvSpPr>
        <p:spPr>
          <a:xfrm>
            <a:off x="6217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Spec inside</a:t>
            </a:r>
            <a:endParaRPr lang="en-US" sz="1250" dirty="0"/>
          </a:p>
        </p:txBody>
      </p:sp>
      <p:sp>
        <p:nvSpPr>
          <p:cNvPr id="10" name="Text 7"/>
          <p:cNvSpPr/>
          <p:nvPr/>
        </p:nvSpPr>
        <p:spPr>
          <a:xfrm>
            <a:off x="6217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Routes, contracts,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rule keys, fixtures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authored in Confi</a:t>
            </a:r>
            <a:endParaRPr lang="en-US" sz="950" dirty="0"/>
          </a:p>
        </p:txBody>
      </p:sp>
      <p:sp>
        <p:nvSpPr>
          <p:cNvPr id="11" name="Text 8"/>
          <p:cNvSpPr/>
          <p:nvPr/>
        </p:nvSpPr>
        <p:spPr>
          <a:xfrm>
            <a:off x="224942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2" name="Shape 9"/>
          <p:cNvSpPr/>
          <p:nvPr/>
        </p:nvSpPr>
        <p:spPr>
          <a:xfrm>
            <a:off x="242316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026664" y="2029968"/>
            <a:ext cx="548640" cy="54864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169310" y="2172614"/>
            <a:ext cx="263347" cy="263347"/>
          </a:xfrm>
          <a:prstGeom prst="rect">
            <a:avLst/>
          </a:prstGeom>
        </p:spPr>
      </p:pic>
      <p:sp>
        <p:nvSpPr>
          <p:cNvPr id="15" name="Text 11"/>
          <p:cNvSpPr/>
          <p:nvPr/>
        </p:nvSpPr>
        <p:spPr>
          <a:xfrm>
            <a:off x="249631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Desensitize</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 egress gate</a:t>
            </a:r>
            <a:endParaRPr lang="en-US" sz="1250" dirty="0"/>
          </a:p>
        </p:txBody>
      </p:sp>
      <p:sp>
        <p:nvSpPr>
          <p:cNvPr id="16" name="Text 12"/>
          <p:cNvSpPr/>
          <p:nvPr/>
        </p:nvSpPr>
        <p:spPr>
          <a:xfrm>
            <a:off x="249631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code_extractor +</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scans + 2-person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review + approval</a:t>
            </a:r>
            <a:endParaRPr lang="en-US" sz="950" dirty="0"/>
          </a:p>
        </p:txBody>
      </p:sp>
      <p:sp>
        <p:nvSpPr>
          <p:cNvPr id="17" name="Text 13"/>
          <p:cNvSpPr/>
          <p:nvPr/>
        </p:nvSpPr>
        <p:spPr>
          <a:xfrm>
            <a:off x="412394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8" name="Shape 14"/>
          <p:cNvSpPr/>
          <p:nvPr/>
        </p:nvSpPr>
        <p:spPr>
          <a:xfrm>
            <a:off x="429768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19" name="Shape 15"/>
          <p:cNvSpPr/>
          <p:nvPr/>
        </p:nvSpPr>
        <p:spPr>
          <a:xfrm>
            <a:off x="4901184" y="2029968"/>
            <a:ext cx="548640" cy="548640"/>
          </a:xfrm>
          <a:prstGeom prst="ellipse">
            <a:avLst/>
          </a:prstGeom>
          <a:solidFill>
            <a:srgbClr val="2E7D5B"/>
          </a:solidFill>
          <a:ln/>
        </p:spPr>
      </p:sp>
      <p:pic>
        <p:nvPicPr>
          <p:cNvPr id="20" name="Image 2" descr="preencoded.png">    </p:cNvPr>
          <p:cNvPicPr>
            <a:picLocks noChangeAspect="1"/>
          </p:cNvPicPr>
          <p:nvPr/>
        </p:nvPicPr>
        <p:blipFill>
          <a:blip r:embed="rId3"/>
          <a:stretch>
            <a:fillRect/>
          </a:stretch>
        </p:blipFill>
        <p:spPr>
          <a:xfrm>
            <a:off x="5043830" y="2172614"/>
            <a:ext cx="263347" cy="263347"/>
          </a:xfrm>
          <a:prstGeom prst="rect">
            <a:avLst/>
          </a:prstGeom>
        </p:spPr>
      </p:pic>
      <p:sp>
        <p:nvSpPr>
          <p:cNvPr id="21" name="Text 16"/>
          <p:cNvSpPr/>
          <p:nvPr/>
        </p:nvSpPr>
        <p:spPr>
          <a:xfrm>
            <a:off x="437083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Build outside</a:t>
            </a:r>
            <a:endParaRPr lang="en-US" sz="1250" dirty="0"/>
          </a:p>
        </p:txBody>
      </p:sp>
      <p:sp>
        <p:nvSpPr>
          <p:cNvPr id="22" name="Text 17"/>
          <p:cNvSpPr/>
          <p:nvPr/>
        </p:nvSpPr>
        <p:spPr>
          <a:xfrm>
            <a:off x="437083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React MFEs as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passive shells at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“Looking at Trees”</a:t>
            </a:r>
            <a:endParaRPr lang="en-US" sz="950" dirty="0"/>
          </a:p>
        </p:txBody>
      </p:sp>
      <p:sp>
        <p:nvSpPr>
          <p:cNvPr id="23" name="Text 18"/>
          <p:cNvSpPr/>
          <p:nvPr/>
        </p:nvSpPr>
        <p:spPr>
          <a:xfrm>
            <a:off x="599846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24" name="Shape 19"/>
          <p:cNvSpPr/>
          <p:nvPr/>
        </p:nvSpPr>
        <p:spPr>
          <a:xfrm>
            <a:off x="617220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25" name="Shape 20"/>
          <p:cNvSpPr/>
          <p:nvPr/>
        </p:nvSpPr>
        <p:spPr>
          <a:xfrm>
            <a:off x="6775704" y="2029968"/>
            <a:ext cx="548640" cy="548640"/>
          </a:xfrm>
          <a:prstGeom prst="ellipse">
            <a:avLst/>
          </a:prstGeom>
          <a:solidFill>
            <a:srgbClr val="2E7D5B"/>
          </a:solidFill>
          <a:ln/>
        </p:spPr>
      </p:sp>
      <p:pic>
        <p:nvPicPr>
          <p:cNvPr id="26" name="Image 3" descr="preencoded.png">    </p:cNvPr>
          <p:cNvPicPr>
            <a:picLocks noChangeAspect="1"/>
          </p:cNvPicPr>
          <p:nvPr/>
        </p:nvPicPr>
        <p:blipFill>
          <a:blip r:embed="rId4"/>
          <a:stretch>
            <a:fillRect/>
          </a:stretch>
        </p:blipFill>
        <p:spPr>
          <a:xfrm>
            <a:off x="6918350" y="2172614"/>
            <a:ext cx="263347" cy="263347"/>
          </a:xfrm>
          <a:prstGeom prst="rect">
            <a:avLst/>
          </a:prstGeom>
        </p:spPr>
      </p:pic>
      <p:sp>
        <p:nvSpPr>
          <p:cNvPr id="27" name="Text 21"/>
          <p:cNvSpPr/>
          <p:nvPr/>
        </p:nvSpPr>
        <p:spPr>
          <a:xfrm>
            <a:off x="624535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Prove outside</a:t>
            </a:r>
            <a:endParaRPr lang="en-US" sz="1250" dirty="0"/>
          </a:p>
        </p:txBody>
      </p:sp>
      <p:sp>
        <p:nvSpPr>
          <p:cNvPr id="28" name="Text 22"/>
          <p:cNvSpPr/>
          <p:nvPr/>
        </p:nvSpPr>
        <p:spPr>
          <a:xfrm>
            <a:off x="624535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MSW mocks, Playwright,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SAST, lint, dep-delta</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report — CI parity</a:t>
            </a:r>
            <a:endParaRPr lang="en-US" sz="950" dirty="0"/>
          </a:p>
        </p:txBody>
      </p:sp>
      <p:sp>
        <p:nvSpPr>
          <p:cNvPr id="29" name="Text 23"/>
          <p:cNvSpPr/>
          <p:nvPr/>
        </p:nvSpPr>
        <p:spPr>
          <a:xfrm>
            <a:off x="787298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0" name="Shape 24"/>
          <p:cNvSpPr/>
          <p:nvPr/>
        </p:nvSpPr>
        <p:spPr>
          <a:xfrm>
            <a:off x="804672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1" name="Shape 25"/>
          <p:cNvSpPr/>
          <p:nvPr/>
        </p:nvSpPr>
        <p:spPr>
          <a:xfrm>
            <a:off x="8650224" y="2029968"/>
            <a:ext cx="548640" cy="548640"/>
          </a:xfrm>
          <a:prstGeom prst="ellipse">
            <a:avLst/>
          </a:prstGeom>
          <a:solidFill>
            <a:srgbClr val="1E2761"/>
          </a:solidFill>
          <a:ln/>
        </p:spPr>
      </p:sp>
      <p:pic>
        <p:nvPicPr>
          <p:cNvPr id="32" name="Image 4" descr="preencoded.png">    </p:cNvPr>
          <p:cNvPicPr>
            <a:picLocks noChangeAspect="1"/>
          </p:cNvPicPr>
          <p:nvPr/>
        </p:nvPicPr>
        <p:blipFill>
          <a:blip r:embed="rId5"/>
          <a:stretch>
            <a:fillRect/>
          </a:stretch>
        </p:blipFill>
        <p:spPr>
          <a:xfrm>
            <a:off x="8792870" y="2172614"/>
            <a:ext cx="263347" cy="263347"/>
          </a:xfrm>
          <a:prstGeom prst="rect">
            <a:avLst/>
          </a:prstGeom>
        </p:spPr>
      </p:pic>
      <p:sp>
        <p:nvSpPr>
          <p:cNvPr id="33" name="Text 26"/>
          <p:cNvSpPr/>
          <p:nvPr/>
        </p:nvSpPr>
        <p:spPr>
          <a:xfrm>
            <a:off x="811987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Integrate inside</a:t>
            </a:r>
            <a:endParaRPr lang="en-US" sz="1250" dirty="0"/>
          </a:p>
        </p:txBody>
      </p:sp>
      <p:sp>
        <p:nvSpPr>
          <p:cNvPr id="34" name="Text 27"/>
          <p:cNvSpPr/>
          <p:nvPr/>
        </p:nvSpPr>
        <p:spPr>
          <a:xfrm>
            <a:off x="811987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Tagged release in,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reverse mapping,</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bind real config</a:t>
            </a:r>
            <a:endParaRPr lang="en-US" sz="950" dirty="0"/>
          </a:p>
        </p:txBody>
      </p:sp>
      <p:sp>
        <p:nvSpPr>
          <p:cNvPr id="35" name="Text 28"/>
          <p:cNvSpPr/>
          <p:nvPr/>
        </p:nvSpPr>
        <p:spPr>
          <a:xfrm>
            <a:off x="974750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6" name="Shape 29"/>
          <p:cNvSpPr/>
          <p:nvPr/>
        </p:nvSpPr>
        <p:spPr>
          <a:xfrm>
            <a:off x="99212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7" name="Shape 30"/>
          <p:cNvSpPr/>
          <p:nvPr/>
        </p:nvSpPr>
        <p:spPr>
          <a:xfrm>
            <a:off x="10524744" y="2029968"/>
            <a:ext cx="548640" cy="548640"/>
          </a:xfrm>
          <a:prstGeom prst="ellipse">
            <a:avLst/>
          </a:prstGeom>
          <a:solidFill>
            <a:srgbClr val="1E2761"/>
          </a:solidFill>
          <a:ln/>
        </p:spPr>
      </p:sp>
      <p:pic>
        <p:nvPicPr>
          <p:cNvPr id="38" name="Image 5" descr="preencoded.png">    </p:cNvPr>
          <p:cNvPicPr>
            <a:picLocks noChangeAspect="1"/>
          </p:cNvPicPr>
          <p:nvPr/>
        </p:nvPicPr>
        <p:blipFill>
          <a:blip r:embed="rId6"/>
          <a:stretch>
            <a:fillRect/>
          </a:stretch>
        </p:blipFill>
        <p:spPr>
          <a:xfrm>
            <a:off x="10667390" y="2172614"/>
            <a:ext cx="263347" cy="263347"/>
          </a:xfrm>
          <a:prstGeom prst="rect">
            <a:avLst/>
          </a:prstGeom>
        </p:spPr>
      </p:pic>
      <p:sp>
        <p:nvSpPr>
          <p:cNvPr id="39" name="Text 31"/>
          <p:cNvSpPr/>
          <p:nvPr/>
        </p:nvSpPr>
        <p:spPr>
          <a:xfrm>
            <a:off x="99943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Run in Confi</a:t>
            </a:r>
            <a:endParaRPr lang="en-US" sz="1250" dirty="0"/>
          </a:p>
        </p:txBody>
      </p:sp>
      <p:sp>
        <p:nvSpPr>
          <p:cNvPr id="40" name="Text 32"/>
          <p:cNvSpPr/>
          <p:nvPr/>
        </p:nvSpPr>
        <p:spPr>
          <a:xfrm>
            <a:off x="99943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Logic packs resolve,</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real backend wired</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by configuration</a:t>
            </a:r>
            <a:endParaRPr lang="en-US" sz="950" dirty="0"/>
          </a:p>
        </p:txBody>
      </p:sp>
      <p:sp>
        <p:nvSpPr>
          <p:cNvPr id="41" name="Text 33"/>
          <p:cNvSpPr/>
          <p:nvPr/>
        </p:nvSpPr>
        <p:spPr>
          <a:xfrm>
            <a:off x="548640" y="4434840"/>
            <a:ext cx="11094415" cy="36576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AIRGAP </a:t>
            </a:r>
            <a:pPr algn="ctr" indent="0" marL="0">
              <a:buNone/>
            </a:pPr>
            <a:r>
              <a:rPr lang="en-US" sz="1300" dirty="0">
                <a:solidFill>
                  <a:srgbClr val="5A6B8C"/>
                </a:solidFill>
                <a:latin typeface="Calibri" pitchFamily="34" charset="0"/>
                <a:ea typeface="Calibri" pitchFamily="34" charset="-122"/>
                <a:cs typeface="Calibri" pitchFamily="34" charset="-120"/>
              </a:rPr>
              <a:t>steps 1–2 and 5–6  ·  </a:t>
            </a:r>
            <a:pPr algn="ctr" indent="0" marL="0">
              <a:buNone/>
            </a:pPr>
            <a:r>
              <a:rPr lang="en-US" sz="1300" b="1" dirty="0">
                <a:solidFill>
                  <a:srgbClr val="2E7D5B"/>
                </a:solidFill>
                <a:latin typeface="Calibri" pitchFamily="34" charset="0"/>
                <a:ea typeface="Calibri" pitchFamily="34" charset="-122"/>
                <a:cs typeface="Calibri" pitchFamily="34" charset="-120"/>
              </a:rPr>
              <a:t>INTERNET </a:t>
            </a:r>
            <a:pPr algn="ctr" indent="0" marL="0">
              <a:buNone/>
            </a:pPr>
            <a:r>
              <a:rPr lang="en-US" sz="1300" dirty="0">
                <a:solidFill>
                  <a:srgbClr val="5A6B8C"/>
                </a:solidFill>
                <a:latin typeface="Calibri" pitchFamily="34" charset="0"/>
                <a:ea typeface="Calibri" pitchFamily="34" charset="-122"/>
                <a:cs typeface="Calibri" pitchFamily="34" charset="-120"/>
              </a:rPr>
              <a:t>steps 3–4 only  ·  the gate is crossed by </a:t>
            </a:r>
            <a:pPr algn="ctr" indent="0" marL="0">
              <a:buNone/>
            </a:pPr>
            <a:r>
              <a:rPr lang="en-US" sz="1300" b="1" dirty="0">
                <a:solidFill>
                  <a:srgbClr val="1E2761"/>
                </a:solidFill>
                <a:latin typeface="Calibri" pitchFamily="34" charset="0"/>
                <a:ea typeface="Calibri" pitchFamily="34" charset="-122"/>
                <a:cs typeface="Calibri" pitchFamily="34" charset="-120"/>
              </a:rPr>
              <a:t>spec packages out</a:t>
            </a:r>
            <a:pPr algn="ctr" indent="0" marL="0">
              <a:buNone/>
            </a:pPr>
            <a:r>
              <a:rPr lang="en-US" sz="1300" dirty="0">
                <a:solidFill>
                  <a:srgbClr val="5A6B8C"/>
                </a:solidFill>
                <a:latin typeface="Calibri" pitchFamily="34" charset="0"/>
                <a:ea typeface="Calibri" pitchFamily="34" charset="-122"/>
                <a:cs typeface="Calibri" pitchFamily="34" charset="-120"/>
              </a:rPr>
              <a:t> and </a:t>
            </a:r>
            <a:pPr algn="ctr" indent="0" marL="0">
              <a:buNone/>
            </a:pPr>
            <a:r>
              <a:rPr lang="en-US" sz="1300" b="1" dirty="0">
                <a:solidFill>
                  <a:srgbClr val="1E2761"/>
                </a:solidFill>
                <a:latin typeface="Calibri" pitchFamily="34" charset="0"/>
                <a:ea typeface="Calibri" pitchFamily="34" charset="-122"/>
                <a:cs typeface="Calibri" pitchFamily="34" charset="-120"/>
              </a:rPr>
              <a:t>tagged releases in</a:t>
            </a:r>
            <a:pPr algn="ctr" indent="0" marL="0">
              <a:buNone/>
            </a:pPr>
            <a:r>
              <a:rPr lang="en-US" sz="1300" dirty="0">
                <a:solidFill>
                  <a:srgbClr val="5A6B8C"/>
                </a:solidFill>
                <a:latin typeface="Calibri" pitchFamily="34" charset="0"/>
                <a:ea typeface="Calibri" pitchFamily="34" charset="-122"/>
                <a:cs typeface="Calibri" pitchFamily="34" charset="-120"/>
              </a:rPr>
              <a:t> — never by live repos in either direction</a:t>
            </a:r>
            <a:endParaRPr lang="en-US" sz="1300" dirty="0"/>
          </a:p>
        </p:txBody>
      </p:sp>
      <p:sp>
        <p:nvSpPr>
          <p:cNvPr id="42" name="Shape 34"/>
          <p:cNvSpPr/>
          <p:nvPr/>
        </p:nvSpPr>
        <p:spPr>
          <a:xfrm>
            <a:off x="548640" y="5029200"/>
            <a:ext cx="11094415" cy="1143000"/>
          </a:xfrm>
          <a:prstGeom prst="roundRect">
            <a:avLst>
              <a:gd name="adj" fmla="val 6400"/>
            </a:avLst>
          </a:prstGeom>
          <a:solidFill>
            <a:srgbClr val="EDF3FC"/>
          </a:solidFill>
          <a:ln/>
          <a:effectLst>
            <a:outerShdw sx="100000" sy="100000" kx="0" ky="0" algn="bl" rotWithShape="0" blurRad="76200" dist="12700" dir="5400000">
              <a:srgbClr val="9AA7C4">
                <a:alpha val="25000"/>
              </a:srgbClr>
            </a:outerShdw>
          </a:effectLst>
        </p:spPr>
      </p:sp>
      <p:sp>
        <p:nvSpPr>
          <p:cNvPr id="43" name="Shape 35"/>
          <p:cNvSpPr/>
          <p:nvPr/>
        </p:nvSpPr>
        <p:spPr>
          <a:xfrm>
            <a:off x="777240" y="5285232"/>
            <a:ext cx="594360" cy="594360"/>
          </a:xfrm>
          <a:prstGeom prst="ellipse">
            <a:avLst/>
          </a:prstGeom>
          <a:solidFill>
            <a:srgbClr val="1E2761"/>
          </a:solidFill>
          <a:ln/>
        </p:spPr>
      </p:sp>
      <p:pic>
        <p:nvPicPr>
          <p:cNvPr id="44" name="Image 6" descr="preencoded.png">    </p:cNvPr>
          <p:cNvPicPr>
            <a:picLocks noChangeAspect="1"/>
          </p:cNvPicPr>
          <p:nvPr/>
        </p:nvPicPr>
        <p:blipFill>
          <a:blip r:embed="rId7"/>
          <a:stretch>
            <a:fillRect/>
          </a:stretch>
        </p:blipFill>
        <p:spPr>
          <a:xfrm>
            <a:off x="931774" y="5439766"/>
            <a:ext cx="285293" cy="285293"/>
          </a:xfrm>
          <a:prstGeom prst="rect">
            <a:avLst/>
          </a:prstGeom>
        </p:spPr>
      </p:pic>
      <p:sp>
        <p:nvSpPr>
          <p:cNvPr id="45" name="Text 36"/>
          <p:cNvSpPr/>
          <p:nvPr/>
        </p:nvSpPr>
        <p:spPr>
          <a:xfrm>
            <a:off x="1554480" y="5193792"/>
            <a:ext cx="9859975" cy="8686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paradigm shift:  </a:t>
            </a:r>
            <a:pPr indent="0" marL="0">
              <a:buNone/>
            </a:pPr>
            <a:r>
              <a:rPr lang="en-US" sz="1400" dirty="0">
                <a:solidFill>
                  <a:srgbClr val="1B2440"/>
                </a:solidFill>
                <a:latin typeface="Calibri" pitchFamily="34" charset="0"/>
                <a:ea typeface="Calibri" pitchFamily="34" charset="-122"/>
                <a:cs typeface="Calibri" pitchFamily="34" charset="-120"/>
              </a:rPr>
              <a:t>the internet repo is the </a:t>
            </a:r>
            <a:pPr indent="0" marL="0">
              <a:buNone/>
            </a:pPr>
            <a:r>
              <a:rPr lang="en-US" sz="1400" b="1" i="1" dirty="0">
                <a:solidFill>
                  <a:srgbClr val="1B2440"/>
                </a:solidFill>
                <a:latin typeface="Calibri" pitchFamily="34" charset="0"/>
                <a:ea typeface="Calibri" pitchFamily="34" charset="-122"/>
                <a:cs typeface="Calibri" pitchFamily="34" charset="-120"/>
              </a:rPr>
              <a:t>factory</a:t>
            </a:r>
            <a:pPr indent="0" marL="0">
              <a:buNone/>
            </a:pPr>
            <a:r>
              <a:rPr lang="en-US" sz="1400" dirty="0">
                <a:solidFill>
                  <a:srgbClr val="1B2440"/>
                </a:solidFill>
                <a:latin typeface="Calibri" pitchFamily="34" charset="0"/>
                <a:ea typeface="Calibri" pitchFamily="34" charset="-122"/>
                <a:cs typeface="Calibri" pitchFamily="34" charset="-120"/>
              </a:rPr>
              <a:t>; the Confi repo is the </a:t>
            </a:r>
            <a:pPr indent="0" marL="0">
              <a:buNone/>
            </a:pPr>
            <a:r>
              <a:rPr lang="en-US" sz="1400" b="1" i="1" dirty="0">
                <a:solidFill>
                  <a:srgbClr val="1B2440"/>
                </a:solidFill>
                <a:latin typeface="Calibri" pitchFamily="34" charset="0"/>
                <a:ea typeface="Calibri" pitchFamily="34" charset="-122"/>
                <a:cs typeface="Calibri" pitchFamily="34" charset="-120"/>
              </a:rPr>
              <a:t>product</a:t>
            </a:r>
            <a:pPr indent="0" marL="0">
              <a:buNone/>
            </a:pPr>
            <a:r>
              <a:rPr lang="en-US" sz="1400" dirty="0">
                <a:solidFill>
                  <a:srgbClr val="1B2440"/>
                </a:solidFill>
                <a:latin typeface="Calibri" pitchFamily="34" charset="0"/>
                <a:ea typeface="Calibri" pitchFamily="34" charset="-122"/>
                <a:cs typeface="Calibri" pitchFamily="34" charset="-120"/>
              </a:rPr>
              <a:t>. All feature engineering happens outside against mocks; inside becomes an integration, binding, and verification activity — wiring, not debugging.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THREAT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What crosses the gate — and what never does</a:t>
            </a:r>
            <a:endParaRPr lang="en-US" sz="3000" dirty="0"/>
          </a:p>
        </p:txBody>
      </p:sp>
      <p:sp>
        <p:nvSpPr>
          <p:cNvPr id="6" name="Shape 4"/>
          <p:cNvSpPr/>
          <p:nvPr/>
        </p:nvSpPr>
        <p:spPr>
          <a:xfrm>
            <a:off x="548640" y="1645920"/>
            <a:ext cx="5364328" cy="4434840"/>
          </a:xfrm>
          <a:prstGeom prst="roundRect">
            <a:avLst>
              <a:gd name="adj" fmla="val 1649"/>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22960" y="1874520"/>
            <a:ext cx="548640" cy="548640"/>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65606" y="2017166"/>
            <a:ext cx="263347" cy="263347"/>
          </a:xfrm>
          <a:prstGeom prst="rect">
            <a:avLst/>
          </a:prstGeom>
        </p:spPr>
      </p:pic>
      <p:sp>
        <p:nvSpPr>
          <p:cNvPr id="9" name="Text 6"/>
          <p:cNvSpPr/>
          <p:nvPr/>
        </p:nvSpPr>
        <p:spPr>
          <a:xfrm>
            <a:off x="1508760" y="1938528"/>
            <a:ext cx="4175608" cy="45720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OUTBOUND: the Spec Package (lean, abstract)</a:t>
            </a:r>
            <a:endParaRPr lang="en-US" sz="1500" dirty="0"/>
          </a:p>
        </p:txBody>
      </p:sp>
      <p:sp>
        <p:nvSpPr>
          <p:cNvPr id="10" name="Text 7"/>
          <p:cNvSpPr/>
          <p:nvPr/>
        </p:nvSpPr>
        <p:spPr>
          <a:xfrm>
            <a:off x="868680"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Routes &amp; navigation structure (desensitized names)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Component-tree layouts &amp; interaction descriptions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Service method signatures (renamed, no bodies with rule values)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API contracts — OpenAPI spec + synthetic sample JSON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Abstract rule keys &amp; schema shapes (RULE_017 — never the value)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Selected sanitized source via code_extractor trace</a:t>
            </a:r>
            <a:endParaRPr lang="en-US" sz="1300" dirty="0"/>
          </a:p>
        </p:txBody>
      </p:sp>
      <p:sp>
        <p:nvSpPr>
          <p:cNvPr id="11" name="Text 8"/>
          <p:cNvSpPr/>
          <p:nvPr/>
        </p:nvSpPr>
        <p:spPr>
          <a:xfrm>
            <a:off x="868680" y="5166360"/>
            <a:ext cx="4724248" cy="77724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Rule of thumb: </a:t>
            </a:r>
            <a:pPr indent="0" marL="0">
              <a:buNone/>
            </a:pPr>
            <a:r>
              <a:rPr lang="en-US" sz="1250" dirty="0">
                <a:solidFill>
                  <a:srgbClr val="1B2440"/>
                </a:solidFill>
                <a:latin typeface="Calibri" pitchFamily="34" charset="0"/>
                <a:ea typeface="Calibri" pitchFamily="34" charset="-122"/>
                <a:cs typeface="Calibri" pitchFamily="34" charset="-120"/>
              </a:rPr>
              <a:t>everything outbound must read as a generic “Looking at Trees” retail app to an outsider — structure yes, meaning no.</a:t>
            </a:r>
            <a:endParaRPr lang="en-US" sz="1250" dirty="0"/>
          </a:p>
        </p:txBody>
      </p:sp>
      <p:sp>
        <p:nvSpPr>
          <p:cNvPr id="12" name="Shape 9"/>
          <p:cNvSpPr/>
          <p:nvPr/>
        </p:nvSpPr>
        <p:spPr>
          <a:xfrm>
            <a:off x="6278728" y="1645920"/>
            <a:ext cx="5364328" cy="4434840"/>
          </a:xfrm>
          <a:prstGeom prst="roundRect">
            <a:avLst>
              <a:gd name="adj" fmla="val 1649"/>
            </a:avLst>
          </a:prstGeom>
          <a:solidFill>
            <a:srgbClr val="FBEDEB"/>
          </a:solidFill>
          <a:ln/>
          <a:effectLst>
            <a:outerShdw sx="100000" sy="100000" kx="0" ky="0" algn="bl" rotWithShape="0" blurRad="76200" dist="12700" dir="5400000">
              <a:srgbClr val="9AA7C4">
                <a:alpha val="25000"/>
              </a:srgbClr>
            </a:outerShdw>
          </a:effectLst>
        </p:spPr>
      </p:sp>
      <p:sp>
        <p:nvSpPr>
          <p:cNvPr id="13" name="Shape 10"/>
          <p:cNvSpPr/>
          <p:nvPr/>
        </p:nvSpPr>
        <p:spPr>
          <a:xfrm>
            <a:off x="6553048" y="1874520"/>
            <a:ext cx="548640" cy="548640"/>
          </a:xfrm>
          <a:prstGeom prst="ellipse">
            <a:avLst/>
          </a:prstGeom>
          <a:solidFill>
            <a:srgbClr val="C0392B"/>
          </a:solidFill>
          <a:ln/>
        </p:spPr>
      </p:sp>
      <p:pic>
        <p:nvPicPr>
          <p:cNvPr id="14" name="Image 1" descr="preencoded.png">    </p:cNvPr>
          <p:cNvPicPr>
            <a:picLocks noChangeAspect="1"/>
          </p:cNvPicPr>
          <p:nvPr/>
        </p:nvPicPr>
        <p:blipFill>
          <a:blip r:embed="rId2"/>
          <a:stretch>
            <a:fillRect/>
          </a:stretch>
        </p:blipFill>
        <p:spPr>
          <a:xfrm>
            <a:off x="6695694" y="2017166"/>
            <a:ext cx="263347" cy="263347"/>
          </a:xfrm>
          <a:prstGeom prst="rect">
            <a:avLst/>
          </a:prstGeom>
        </p:spPr>
      </p:pic>
      <p:sp>
        <p:nvSpPr>
          <p:cNvPr id="15" name="Text 11"/>
          <p:cNvSpPr/>
          <p:nvPr/>
        </p:nvSpPr>
        <p:spPr>
          <a:xfrm>
            <a:off x="7238848" y="1938528"/>
            <a:ext cx="4175608" cy="45720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NEVER LEAVES THE AIRGAP</a:t>
            </a:r>
            <a:endParaRPr lang="en-US" sz="1500" dirty="0"/>
          </a:p>
        </p:txBody>
      </p:sp>
      <p:sp>
        <p:nvSpPr>
          <p:cNvPr id="16" name="Text 12"/>
          <p:cNvSpPr/>
          <p:nvPr/>
        </p:nvSpPr>
        <p:spPr>
          <a:xfrm>
            <a:off x="6598768"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mapping.json — the single most sensitive artifact we now own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terminology, entity names, org structure, user identities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Business-rule VALUES: thresholds, formulas, decision tables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data, real fixtures, real payloads — synthetic only outside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Infrastructure: URLs, certs, SSO config, pipeline internals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Full repository exports — spec packages only, ever</a:t>
            </a:r>
            <a:endParaRPr lang="en-US" sz="1300" dirty="0"/>
          </a:p>
        </p:txBody>
      </p:sp>
      <p:sp>
        <p:nvSpPr>
          <p:cNvPr id="17" name="Text 13"/>
          <p:cNvSpPr/>
          <p:nvPr/>
        </p:nvSpPr>
        <p:spPr>
          <a:xfrm>
            <a:off x="6598768" y="5166360"/>
            <a:ext cx="4724248" cy="77724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Treat mapping.json like a key file: </a:t>
            </a:r>
            <a:pPr indent="0" marL="0">
              <a:buNone/>
            </a:pPr>
            <a:r>
              <a:rPr lang="en-US" sz="1250" dirty="0">
                <a:solidFill>
                  <a:srgbClr val="1B2440"/>
                </a:solidFill>
                <a:latin typeface="Calibri" pitchFamily="34" charset="0"/>
                <a:ea typeface="Calibri" pitchFamily="34" charset="-122"/>
                <a:cs typeface="Calibri" pitchFamily="34" charset="-120"/>
              </a:rPr>
              <a:t>encrypted at rest, access-logged, named custodians, never in any repo — inside or outside.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PATTERN · SOLVING THE SENSITIZER DILEMMA</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Passive Shells + Logic Packs</a:t>
            </a:r>
            <a:endParaRPr lang="en-US" sz="3000" dirty="0"/>
          </a:p>
        </p:txBody>
      </p:sp>
      <p:sp>
        <p:nvSpPr>
          <p:cNvPr id="6" name="Text 4"/>
          <p:cNvSpPr/>
          <p:nvPr/>
        </p:nvSpPr>
        <p:spPr>
          <a:xfrm>
            <a:off x="548640" y="1691640"/>
            <a:ext cx="4937760" cy="4206240"/>
          </a:xfrm>
          <a:prstGeom prst="rect">
            <a:avLst/>
          </a:prstGeom>
          <a:noFill/>
          <a:ln/>
        </p:spPr>
        <p:txBody>
          <a:bodyPr wrap="square" lIns="0" tIns="0" rIns="0" bIns="0" rtlCol="0" anchor="ctr"/>
          <a:lstStyle/>
          <a:p>
            <a:pPr indent="0" marL="0">
              <a:spcAft>
                <a:spcPts val="600"/>
              </a:spcAft>
              <a:buNone/>
            </a:pPr>
            <a:r>
              <a:rPr lang="en-US" sz="1450" b="1" dirty="0">
                <a:solidFill>
                  <a:srgbClr val="1E2761"/>
                </a:solidFill>
                <a:latin typeface="Calibri" pitchFamily="34" charset="0"/>
                <a:ea typeface="Calibri" pitchFamily="34" charset="-122"/>
                <a:cs typeface="Calibri" pitchFamily="34" charset="-120"/>
              </a:rPr>
              <a:t>Stop planning a tool that rewrites business logic — </a:t>
            </a: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code that must be transformed after every crossing will drift and break. Instead, make the sensitive logic </a:t>
            </a:r>
            <a:pPr indent="0" marL="0">
              <a:spcAft>
                <a:spcPts val="600"/>
              </a:spcAft>
              <a:buNone/>
            </a:pPr>
            <a:r>
              <a:rPr lang="en-US" sz="1450" b="1" dirty="0">
                <a:solidFill>
                  <a:srgbClr val="1B2440"/>
                </a:solidFill>
                <a:latin typeface="Calibri" pitchFamily="34" charset="0"/>
                <a:ea typeface="Calibri" pitchFamily="34" charset="-122"/>
                <a:cs typeface="Calibri" pitchFamily="34" charset="-120"/>
              </a:rPr>
              <a:t>data, not code.</a:t>
            </a:r>
            <a:endParaRPr lang="en-US" sz="1450" dirty="0"/>
          </a:p>
          <a:p>
            <a:pPr indent="0" marL="0">
              <a:spcAft>
                <a:spcPts val="600"/>
              </a:spcAft>
              <a:buNone/>
            </a:pP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The React MFE built outside is a passive shell: it renders whatever schema, state machine, and rule outcomes it is given. Outside, it is fed a fictional “trees” logic pack. Inside, the SAME unmodified bundle is fed the real pack at runtime.</a:t>
            </a:r>
            <a:endParaRPr lang="en-US" sz="1450" dirty="0"/>
          </a:p>
          <a:p>
            <a:pPr indent="0" marL="0">
              <a:spcAft>
                <a:spcPts val="600"/>
              </a:spcAft>
              <a:buNone/>
            </a:pPr>
            <a:endParaRPr lang="en-US" sz="1450" dirty="0"/>
          </a:p>
          <a:p>
            <a:pPr indent="0" marL="0">
              <a:spcAft>
                <a:spcPts val="600"/>
              </a:spcAft>
              <a:buNone/>
            </a:pPr>
            <a:r>
              <a:rPr lang="en-US" sz="1450" b="1" dirty="0">
                <a:solidFill>
                  <a:srgbClr val="2E7D5B"/>
                </a:solidFill>
                <a:latin typeface="Calibri" pitchFamily="34" charset="0"/>
                <a:ea typeface="Calibri" pitchFamily="34" charset="-122"/>
                <a:cs typeface="Calibri" pitchFamily="34" charset="-120"/>
              </a:rPr>
              <a:t>The “Sensitizer” stops being a risky code transformer and becomes a logic-pack authoring &amp; validation tool that lives entirely inside the airgap.</a:t>
            </a:r>
            <a:endParaRPr lang="en-US" sz="1450" dirty="0"/>
          </a:p>
        </p:txBody>
      </p:sp>
      <p:sp>
        <p:nvSpPr>
          <p:cNvPr id="7" name="Shape 5"/>
          <p:cNvSpPr/>
          <p:nvPr/>
        </p:nvSpPr>
        <p:spPr>
          <a:xfrm>
            <a:off x="5943600" y="1645920"/>
            <a:ext cx="5669280" cy="1965960"/>
          </a:xfrm>
          <a:prstGeom prst="roundRect">
            <a:avLst>
              <a:gd name="adj" fmla="val 3721"/>
            </a:avLst>
          </a:prstGeom>
          <a:solidFill>
            <a:srgbClr val="EAF4EF"/>
          </a:solidFill>
          <a:ln/>
          <a:effectLst>
            <a:outerShdw sx="100000" sy="100000" kx="0" ky="0" algn="bl" rotWithShape="0" blurRad="76200" dist="12700" dir="5400000">
              <a:srgbClr val="9AA7C4">
                <a:alpha val="25000"/>
              </a:srgbClr>
            </a:outerShdw>
          </a:effectLst>
        </p:spPr>
      </p:sp>
      <p:sp>
        <p:nvSpPr>
          <p:cNvPr id="8" name="Shape 6"/>
          <p:cNvSpPr/>
          <p:nvPr/>
        </p:nvSpPr>
        <p:spPr>
          <a:xfrm>
            <a:off x="6172200" y="1828800"/>
            <a:ext cx="502920" cy="502920"/>
          </a:xfrm>
          <a:prstGeom prst="ellipse">
            <a:avLst/>
          </a:prstGeom>
          <a:solidFill>
            <a:srgbClr val="2E7D5B"/>
          </a:solidFill>
          <a:ln/>
        </p:spPr>
      </p:sp>
      <p:pic>
        <p:nvPicPr>
          <p:cNvPr id="9" name="Image 0" descr="preencoded.png">    </p:cNvPr>
          <p:cNvPicPr>
            <a:picLocks noChangeAspect="1"/>
          </p:cNvPicPr>
          <p:nvPr/>
        </p:nvPicPr>
        <p:blipFill>
          <a:blip r:embed="rId1"/>
          <a:stretch>
            <a:fillRect/>
          </a:stretch>
        </p:blipFill>
        <p:spPr>
          <a:xfrm>
            <a:off x="6302959" y="1959559"/>
            <a:ext cx="241402" cy="241402"/>
          </a:xfrm>
          <a:prstGeom prst="rect">
            <a:avLst/>
          </a:prstGeom>
        </p:spPr>
      </p:pic>
      <p:sp>
        <p:nvSpPr>
          <p:cNvPr id="10" name="Text 7"/>
          <p:cNvSpPr/>
          <p:nvPr/>
        </p:nvSpPr>
        <p:spPr>
          <a:xfrm>
            <a:off x="6812280" y="1883664"/>
            <a:ext cx="4617720" cy="3657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BUILT ON THE INTERNET — the shell</a:t>
            </a:r>
            <a:endParaRPr lang="en-US" sz="1300" dirty="0"/>
          </a:p>
        </p:txBody>
      </p:sp>
      <p:sp>
        <p:nvSpPr>
          <p:cNvPr id="11" name="Text 8"/>
          <p:cNvSpPr/>
          <p:nvPr/>
        </p:nvSpPr>
        <p:spPr>
          <a:xfrm>
            <a:off x="6217920" y="2331720"/>
            <a:ext cx="5120640" cy="118872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Schema-driven forms &amp; validation engine (JSON Schema / Zod)</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Metadata-driven UI state machines (XState-style definitions)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Rule evaluator that resolves abstract keys: can(“RULE_017”)</a:t>
            </a:r>
            <a:endParaRPr lang="en-US" sz="1200" dirty="0"/>
          </a:p>
        </p:txBody>
      </p:sp>
      <p:sp>
        <p:nvSpPr>
          <p:cNvPr id="12" name="Text 9"/>
          <p:cNvSpPr/>
          <p:nvPr/>
        </p:nvSpPr>
        <p:spPr>
          <a:xfrm>
            <a:off x="5943600" y="3657600"/>
            <a:ext cx="5669280" cy="320040"/>
          </a:xfrm>
          <a:prstGeom prst="rect">
            <a:avLst/>
          </a:prstGeom>
          <a:noFill/>
          <a:ln/>
        </p:spPr>
        <p:txBody>
          <a:bodyPr wrap="square" lIns="0" tIns="0" rIns="0" bIns="0" rtlCol="0" anchor="ctr"/>
          <a:lstStyle/>
          <a:p>
            <a:pPr algn="ctr" indent="0" marL="0">
              <a:buNone/>
            </a:pPr>
            <a:r>
              <a:rPr lang="en-US" sz="1200" b="1" dirty="0">
                <a:solidFill>
                  <a:srgbClr val="5A6B8C"/>
                </a:solidFill>
                <a:latin typeface="Calibri" pitchFamily="34" charset="0"/>
                <a:ea typeface="Calibri" pitchFamily="34" charset="-122"/>
                <a:cs typeface="Calibri" pitchFamily="34" charset="-120"/>
              </a:rPr>
              <a:t>▼  same bundle, different pack  ▼</a:t>
            </a:r>
            <a:endParaRPr lang="en-US" sz="1200" dirty="0"/>
          </a:p>
        </p:txBody>
      </p:sp>
      <p:sp>
        <p:nvSpPr>
          <p:cNvPr id="13" name="Shape 10"/>
          <p:cNvSpPr/>
          <p:nvPr/>
        </p:nvSpPr>
        <p:spPr>
          <a:xfrm>
            <a:off x="5943600" y="4023360"/>
            <a:ext cx="5669280" cy="2057400"/>
          </a:xfrm>
          <a:prstGeom prst="roundRect">
            <a:avLst>
              <a:gd name="adj" fmla="val 3556"/>
            </a:avLst>
          </a:prstGeom>
          <a:solidFill>
            <a:srgbClr val="EDF3FC"/>
          </a:solidFill>
          <a:ln/>
          <a:effectLst>
            <a:outerShdw sx="100000" sy="100000" kx="0" ky="0" algn="bl" rotWithShape="0" blurRad="76200" dist="12700" dir="5400000">
              <a:srgbClr val="9AA7C4">
                <a:alpha val="25000"/>
              </a:srgbClr>
            </a:outerShdw>
          </a:effectLst>
        </p:spPr>
      </p:sp>
      <p:sp>
        <p:nvSpPr>
          <p:cNvPr id="14" name="Shape 11"/>
          <p:cNvSpPr/>
          <p:nvPr/>
        </p:nvSpPr>
        <p:spPr>
          <a:xfrm>
            <a:off x="6172200" y="4224528"/>
            <a:ext cx="502920" cy="502920"/>
          </a:xfrm>
          <a:prstGeom prst="ellipse">
            <a:avLst/>
          </a:prstGeom>
          <a:solidFill>
            <a:srgbClr val="1E2761"/>
          </a:solidFill>
          <a:ln/>
        </p:spPr>
      </p:sp>
      <p:pic>
        <p:nvPicPr>
          <p:cNvPr id="15" name="Image 1" descr="preencoded.png">    </p:cNvPr>
          <p:cNvPicPr>
            <a:picLocks noChangeAspect="1"/>
          </p:cNvPicPr>
          <p:nvPr/>
        </p:nvPicPr>
        <p:blipFill>
          <a:blip r:embed="rId2"/>
          <a:stretch>
            <a:fillRect/>
          </a:stretch>
        </p:blipFill>
        <p:spPr>
          <a:xfrm>
            <a:off x="6302959" y="4355287"/>
            <a:ext cx="241402" cy="241402"/>
          </a:xfrm>
          <a:prstGeom prst="rect">
            <a:avLst/>
          </a:prstGeom>
        </p:spPr>
      </p:pic>
      <p:sp>
        <p:nvSpPr>
          <p:cNvPr id="16" name="Text 12"/>
          <p:cNvSpPr/>
          <p:nvPr/>
        </p:nvSpPr>
        <p:spPr>
          <a:xfrm>
            <a:off x="6812280" y="4279392"/>
            <a:ext cx="461772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RESOLVED IN CONFI — the logic pack</a:t>
            </a:r>
            <a:endParaRPr lang="en-US" sz="1300" dirty="0"/>
          </a:p>
        </p:txBody>
      </p:sp>
      <p:sp>
        <p:nvSpPr>
          <p:cNvPr id="17" name="Text 13"/>
          <p:cNvSpPr/>
          <p:nvPr/>
        </p:nvSpPr>
        <p:spPr>
          <a:xfrm>
            <a:off x="6217920" y="4709160"/>
            <a:ext cx="5120640" cy="128016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validation schemas, thresholds, decision tables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labels/terminology via i18n-style token catalogs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Served by config endpoint or baked in at Confi build time —</a:t>
            </a:r>
            <a:endParaRPr lang="en-US" sz="1200" dirty="0"/>
          </a:p>
          <a:p>
            <a:pPr indent="0" marL="0">
              <a:spcAft>
                <a:spcPts val="500"/>
              </a:spcAft>
              <a:buNone/>
            </a:pPr>
            <a:r>
              <a:rPr lang="en-US" sz="1200" dirty="0">
                <a:solidFill>
                  <a:srgbClr val="1B2440"/>
                </a:solidFill>
                <a:latin typeface="Calibri" pitchFamily="34" charset="0"/>
                <a:ea typeface="Calibri" pitchFamily="34" charset="-122"/>
                <a:cs typeface="Calibri" pitchFamily="34" charset="-120"/>
              </a:rPr>
              <a:t>versioned, reviewed, and tested like code, inside only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ARCHITECTURE PATTERN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Anatomy of a logic pack — and its contract</a:t>
            </a:r>
            <a:endParaRPr lang="en-US" sz="3000" dirty="0"/>
          </a:p>
        </p:txBody>
      </p:sp>
      <p:sp>
        <p:nvSpPr>
          <p:cNvPr id="6" name="Shape 4"/>
          <p:cNvSpPr/>
          <p:nvPr/>
        </p:nvSpPr>
        <p:spPr>
          <a:xfrm>
            <a:off x="548640" y="1600200"/>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737360"/>
            <a:ext cx="475488" cy="47548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73435" y="1860987"/>
            <a:ext cx="228234" cy="228234"/>
          </a:xfrm>
          <a:prstGeom prst="rect">
            <a:avLst/>
          </a:prstGeom>
        </p:spPr>
      </p:pic>
      <p:sp>
        <p:nvSpPr>
          <p:cNvPr id="9" name="Text 6"/>
          <p:cNvSpPr/>
          <p:nvPr/>
        </p:nvSpPr>
        <p:spPr>
          <a:xfrm>
            <a:off x="1417320" y="1673352"/>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labels.json</a:t>
            </a:r>
            <a:endParaRPr lang="en-US" sz="1300" dirty="0"/>
          </a:p>
        </p:txBody>
      </p:sp>
      <p:sp>
        <p:nvSpPr>
          <p:cNvPr id="10" name="Text 7"/>
          <p:cNvSpPr/>
          <p:nvPr/>
        </p:nvSpPr>
        <p:spPr>
          <a:xfrm>
            <a:off x="3291840" y="1655064"/>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Terminology catalog: every user-facing string is a token (entity.name.plural). Outside pack says “Trees”; inside pack says the real term. This replaces most of what the Sensitizer would have rewritten.</a:t>
            </a:r>
            <a:endParaRPr lang="en-US" sz="1100" dirty="0"/>
          </a:p>
        </p:txBody>
      </p:sp>
      <p:sp>
        <p:nvSpPr>
          <p:cNvPr id="11" name="Shape 8"/>
          <p:cNvSpPr/>
          <p:nvPr/>
        </p:nvSpPr>
        <p:spPr>
          <a:xfrm>
            <a:off x="548640" y="2441448"/>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2578608"/>
            <a:ext cx="475488" cy="47548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73435" y="2702235"/>
            <a:ext cx="228234" cy="228234"/>
          </a:xfrm>
          <a:prstGeom prst="rect">
            <a:avLst/>
          </a:prstGeom>
        </p:spPr>
      </p:pic>
      <p:sp>
        <p:nvSpPr>
          <p:cNvPr id="14" name="Text 10"/>
          <p:cNvSpPr/>
          <p:nvPr/>
        </p:nvSpPr>
        <p:spPr>
          <a:xfrm>
            <a:off x="1417320" y="2514600"/>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schemas/*.json</a:t>
            </a:r>
            <a:endParaRPr lang="en-US" sz="1300" dirty="0"/>
          </a:p>
        </p:txBody>
      </p:sp>
      <p:sp>
        <p:nvSpPr>
          <p:cNvPr id="15" name="Text 11"/>
          <p:cNvSpPr/>
          <p:nvPr/>
        </p:nvSpPr>
        <p:spPr>
          <a:xfrm>
            <a:off x="3291840" y="2496312"/>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JSON Schema (or Zod-serializable) validation per form/entity. The shell's validation engine executes whatever schema it receives — rule values never exist in JS source.</a:t>
            </a:r>
            <a:endParaRPr lang="en-US" sz="1100" dirty="0"/>
          </a:p>
        </p:txBody>
      </p:sp>
      <p:sp>
        <p:nvSpPr>
          <p:cNvPr id="16" name="Shape 12"/>
          <p:cNvSpPr/>
          <p:nvPr/>
        </p:nvSpPr>
        <p:spPr>
          <a:xfrm>
            <a:off x="548640" y="3282696"/>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3419856"/>
            <a:ext cx="475488" cy="47548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73435" y="3543483"/>
            <a:ext cx="228234" cy="228234"/>
          </a:xfrm>
          <a:prstGeom prst="rect">
            <a:avLst/>
          </a:prstGeom>
        </p:spPr>
      </p:pic>
      <p:sp>
        <p:nvSpPr>
          <p:cNvPr id="19" name="Text 14"/>
          <p:cNvSpPr/>
          <p:nvPr/>
        </p:nvSpPr>
        <p:spPr>
          <a:xfrm>
            <a:off x="1417320" y="3355848"/>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flows/*.json</a:t>
            </a:r>
            <a:endParaRPr lang="en-US" sz="1300" dirty="0"/>
          </a:p>
        </p:txBody>
      </p:sp>
      <p:sp>
        <p:nvSpPr>
          <p:cNvPr id="20" name="Text 15"/>
          <p:cNvSpPr/>
          <p:nvPr/>
        </p:nvSpPr>
        <p:spPr>
          <a:xfrm>
            <a:off x="3291840" y="3337560"/>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UI state machines: states, events, guards by abstract key. Screen flow differences between fictional and real domains live here, not in components.</a:t>
            </a:r>
            <a:endParaRPr lang="en-US" sz="1100" dirty="0"/>
          </a:p>
        </p:txBody>
      </p:sp>
      <p:sp>
        <p:nvSpPr>
          <p:cNvPr id="21" name="Shape 16"/>
          <p:cNvSpPr/>
          <p:nvPr/>
        </p:nvSpPr>
        <p:spPr>
          <a:xfrm>
            <a:off x="548640" y="4123944"/>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261104"/>
            <a:ext cx="475488" cy="475488"/>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73435" y="4384731"/>
            <a:ext cx="228234" cy="228234"/>
          </a:xfrm>
          <a:prstGeom prst="rect">
            <a:avLst/>
          </a:prstGeom>
        </p:spPr>
      </p:pic>
      <p:sp>
        <p:nvSpPr>
          <p:cNvPr id="24" name="Text 18"/>
          <p:cNvSpPr/>
          <p:nvPr/>
        </p:nvSpPr>
        <p:spPr>
          <a:xfrm>
            <a:off x="1417320" y="4197096"/>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rules.json</a:t>
            </a:r>
            <a:endParaRPr lang="en-US" sz="1300" dirty="0"/>
          </a:p>
        </p:txBody>
      </p:sp>
      <p:sp>
        <p:nvSpPr>
          <p:cNvPr id="25" name="Text 19"/>
          <p:cNvSpPr/>
          <p:nvPr/>
        </p:nvSpPr>
        <p:spPr>
          <a:xfrm>
            <a:off x="3291840" y="4178808"/>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Decision tables &amp; guard outcomes keyed by RULE_nnn. The outside pack contains plausible fictional values so the shell is fully testable; Playwright tests assert against the pack, so the same suites re-run inside with real values.</a:t>
            </a:r>
            <a:endParaRPr lang="en-US" sz="1100" dirty="0"/>
          </a:p>
        </p:txBody>
      </p:sp>
      <p:sp>
        <p:nvSpPr>
          <p:cNvPr id="26" name="Shape 20"/>
          <p:cNvSpPr/>
          <p:nvPr/>
        </p:nvSpPr>
        <p:spPr>
          <a:xfrm>
            <a:off x="548640" y="4965192"/>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749808" y="5102352"/>
            <a:ext cx="475488" cy="475488"/>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873435" y="5225979"/>
            <a:ext cx="228234" cy="228234"/>
          </a:xfrm>
          <a:prstGeom prst="rect">
            <a:avLst/>
          </a:prstGeom>
        </p:spPr>
      </p:pic>
      <p:sp>
        <p:nvSpPr>
          <p:cNvPr id="29" name="Text 22"/>
          <p:cNvSpPr/>
          <p:nvPr/>
        </p:nvSpPr>
        <p:spPr>
          <a:xfrm>
            <a:off x="1417320" y="5038344"/>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contract.d.ts</a:t>
            </a:r>
            <a:endParaRPr lang="en-US" sz="1300" dirty="0"/>
          </a:p>
        </p:txBody>
      </p:sp>
      <p:sp>
        <p:nvSpPr>
          <p:cNvPr id="30" name="Text 23"/>
          <p:cNvSpPr/>
          <p:nvPr/>
        </p:nvSpPr>
        <p:spPr>
          <a:xfrm>
            <a:off x="3291840" y="5020056"/>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The ONE thing both worlds share: the pack's TypeScript type + JSON Schema meta-validator. CI on both sides validates its packs against the same contract version — this is what keeps the two worlds honest.</a:t>
            </a:r>
            <a:endParaRPr lang="en-US" sz="1100" dirty="0"/>
          </a:p>
        </p:txBody>
      </p:sp>
      <p:sp>
        <p:nvSpPr>
          <p:cNvPr id="31" name="Text 24"/>
          <p:cNvSpPr/>
          <p:nvPr/>
        </p:nvSpPr>
        <p:spPr>
          <a:xfrm>
            <a:off x="548640" y="5852160"/>
            <a:ext cx="11094415" cy="548640"/>
          </a:xfrm>
          <a:prstGeom prst="rect">
            <a:avLst/>
          </a:prstGeom>
          <a:noFill/>
          <a:ln/>
        </p:spPr>
        <p:txBody>
          <a:bodyPr wrap="square" lIns="0" tIns="0" rIns="0" bIns="0" rtlCol="0" anchor="ctr"/>
          <a:lstStyle/>
          <a:p>
            <a:pPr indent="0" marL="0">
              <a:buNone/>
            </a:pPr>
            <a:r>
              <a:rPr lang="en-US" sz="1150" b="1" dirty="0">
                <a:solidFill>
                  <a:srgbClr val="C0392B"/>
                </a:solidFill>
                <a:latin typeface="Calibri" pitchFamily="34" charset="0"/>
                <a:ea typeface="Calibri" pitchFamily="34" charset="-122"/>
                <a:cs typeface="Calibri" pitchFamily="34" charset="-120"/>
              </a:rPr>
              <a:t>Escape hatch: </a:t>
            </a:r>
            <a:pPr indent="0" marL="0">
              <a:buNone/>
            </a:pPr>
            <a:r>
              <a:rPr lang="en-US" sz="1150" dirty="0">
                <a:solidFill>
                  <a:srgbClr val="1B2440"/>
                </a:solidFill>
                <a:latin typeface="Calibri" pitchFamily="34" charset="0"/>
                <a:ea typeface="Calibri" pitchFamily="34" charset="-122"/>
                <a:cs typeface="Calibri" pitchFamily="34" charset="-120"/>
              </a:rPr>
              <a:t>some logic will be too complex for declarative packs (~10–20%). Those modules are stubbed outside behind the same interface and hand-implemented inside — planned, budgeted, and tracked per feature, not discovered at integration time.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Four gates between the airgap and the internet</a:t>
            </a:r>
            <a:endParaRPr lang="en-US" sz="3000" dirty="0"/>
          </a:p>
        </p:txBody>
      </p:sp>
      <p:sp>
        <p:nvSpPr>
          <p:cNvPr id="6" name="Shape 4"/>
          <p:cNvSpPr/>
          <p:nvPr/>
        </p:nvSpPr>
        <p:spPr>
          <a:xfrm>
            <a:off x="548640"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4708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1977847"/>
            <a:ext cx="241402" cy="241402"/>
          </a:xfrm>
          <a:prstGeom prst="rect">
            <a:avLst/>
          </a:prstGeom>
        </p:spPr>
      </p:pic>
      <p:sp>
        <p:nvSpPr>
          <p:cNvPr id="9" name="Text 6"/>
          <p:cNvSpPr/>
          <p:nvPr/>
        </p:nvSpPr>
        <p:spPr>
          <a:xfrm>
            <a:off x="1353312"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0</a:t>
            </a:r>
            <a:endParaRPr lang="en-US" sz="1050" dirty="0"/>
          </a:p>
        </p:txBody>
      </p:sp>
      <p:sp>
        <p:nvSpPr>
          <p:cNvPr id="10" name="Text 7"/>
          <p:cNvSpPr/>
          <p:nvPr/>
        </p:nvSpPr>
        <p:spPr>
          <a:xfrm>
            <a:off x="1353312"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Automated scan</a:t>
            </a:r>
            <a:endParaRPr lang="en-US" sz="1400" dirty="0"/>
          </a:p>
        </p:txBody>
      </p:sp>
      <p:sp>
        <p:nvSpPr>
          <p:cNvPr id="11" name="Text 8"/>
          <p:cNvSpPr/>
          <p:nvPr/>
        </p:nvSpPr>
        <p:spPr>
          <a:xfrm>
            <a:off x="731520"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Extractor --dry-run diff review</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Secret/credential scanners (gitleaks-class) on output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Denylist scan: real term corpus, hostnames, IP/URL regexes, org markers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String-literal audit: every literal masked or allowlisted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Blocks on ANY hit — no human override at this gate</a:t>
            </a:r>
            <a:endParaRPr lang="en-US" sz="1000" dirty="0"/>
          </a:p>
        </p:txBody>
      </p:sp>
      <p:sp>
        <p:nvSpPr>
          <p:cNvPr id="12" name="Shape 9"/>
          <p:cNvSpPr/>
          <p:nvPr/>
        </p:nvSpPr>
        <p:spPr>
          <a:xfrm>
            <a:off x="3379394"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580562" y="1847088"/>
            <a:ext cx="502920" cy="50292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711321" y="1977847"/>
            <a:ext cx="241402" cy="241402"/>
          </a:xfrm>
          <a:prstGeom prst="rect">
            <a:avLst/>
          </a:prstGeom>
        </p:spPr>
      </p:pic>
      <p:sp>
        <p:nvSpPr>
          <p:cNvPr id="15" name="Text 11"/>
          <p:cNvSpPr/>
          <p:nvPr/>
        </p:nvSpPr>
        <p:spPr>
          <a:xfrm>
            <a:off x="4184066"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1</a:t>
            </a:r>
            <a:endParaRPr lang="en-US" sz="1050" dirty="0"/>
          </a:p>
        </p:txBody>
      </p:sp>
      <p:sp>
        <p:nvSpPr>
          <p:cNvPr id="16" name="Text 12"/>
          <p:cNvSpPr/>
          <p:nvPr/>
        </p:nvSpPr>
        <p:spPr>
          <a:xfrm>
            <a:off x="4184066"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Author checklist</a:t>
            </a:r>
            <a:endParaRPr lang="en-US" sz="1400" dirty="0"/>
          </a:p>
        </p:txBody>
      </p:sp>
      <p:sp>
        <p:nvSpPr>
          <p:cNvPr id="17" name="Text 13"/>
          <p:cNvSpPr/>
          <p:nvPr/>
        </p:nvSpPr>
        <p:spPr>
          <a:xfrm>
            <a:off x="3562274"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Comments/docs stripped; template literals &amp; concatenations checked by eye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Fixtures are synthetic — generated, never copied-then-edited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Error messages, test names, enum values desensitized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No real rule values in code, configs, or committed samples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Signed: “I have read every line of this package”</a:t>
            </a:r>
            <a:endParaRPr lang="en-US" sz="1000" dirty="0"/>
          </a:p>
        </p:txBody>
      </p:sp>
      <p:sp>
        <p:nvSpPr>
          <p:cNvPr id="18" name="Shape 14"/>
          <p:cNvSpPr/>
          <p:nvPr/>
        </p:nvSpPr>
        <p:spPr>
          <a:xfrm>
            <a:off x="6210148"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9" name="Shape 15"/>
          <p:cNvSpPr/>
          <p:nvPr/>
        </p:nvSpPr>
        <p:spPr>
          <a:xfrm>
            <a:off x="6411316" y="1847088"/>
            <a:ext cx="502920" cy="502920"/>
          </a:xfrm>
          <a:prstGeom prst="ellipse">
            <a:avLst/>
          </a:prstGeom>
          <a:solidFill>
            <a:srgbClr val="1E2761"/>
          </a:solidFill>
          <a:ln/>
        </p:spPr>
      </p:sp>
      <p:pic>
        <p:nvPicPr>
          <p:cNvPr id="20" name="Image 2" descr="preencoded.png">    </p:cNvPr>
          <p:cNvPicPr>
            <a:picLocks noChangeAspect="1"/>
          </p:cNvPicPr>
          <p:nvPr/>
        </p:nvPicPr>
        <p:blipFill>
          <a:blip r:embed="rId3"/>
          <a:stretch>
            <a:fillRect/>
          </a:stretch>
        </p:blipFill>
        <p:spPr>
          <a:xfrm>
            <a:off x="6542075" y="1977847"/>
            <a:ext cx="241402" cy="241402"/>
          </a:xfrm>
          <a:prstGeom prst="rect">
            <a:avLst/>
          </a:prstGeom>
        </p:spPr>
      </p:pic>
      <p:sp>
        <p:nvSpPr>
          <p:cNvPr id="21" name="Text 16"/>
          <p:cNvSpPr/>
          <p:nvPr/>
        </p:nvSpPr>
        <p:spPr>
          <a:xfrm>
            <a:off x="7014820"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2</a:t>
            </a:r>
            <a:endParaRPr lang="en-US" sz="1050" dirty="0"/>
          </a:p>
        </p:txBody>
      </p:sp>
      <p:sp>
        <p:nvSpPr>
          <p:cNvPr id="22" name="Text 17"/>
          <p:cNvSpPr/>
          <p:nvPr/>
        </p:nvSpPr>
        <p:spPr>
          <a:xfrm>
            <a:off x="7014820"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Second-person review</a:t>
            </a:r>
            <a:endParaRPr lang="en-US" sz="1400" dirty="0"/>
          </a:p>
        </p:txBody>
      </p:sp>
      <p:sp>
        <p:nvSpPr>
          <p:cNvPr id="23" name="Text 18"/>
          <p:cNvSpPr/>
          <p:nvPr/>
        </p:nvSpPr>
        <p:spPr>
          <a:xfrm>
            <a:off x="6393028"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Reviewer did NOT author the package — fresh eyes, full read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Reads the desensitized output only, hunting residual meaning</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Checks structure itself isn't identifying (unique flow shapes)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Tech lead or supervisor; rotates to avoid rubber-stamping</a:t>
            </a:r>
            <a:endParaRPr lang="en-US" sz="1000" dirty="0"/>
          </a:p>
        </p:txBody>
      </p:sp>
      <p:sp>
        <p:nvSpPr>
          <p:cNvPr id="24" name="Shape 19"/>
          <p:cNvSpPr/>
          <p:nvPr/>
        </p:nvSpPr>
        <p:spPr>
          <a:xfrm>
            <a:off x="9040901"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5" name="Shape 20"/>
          <p:cNvSpPr/>
          <p:nvPr/>
        </p:nvSpPr>
        <p:spPr>
          <a:xfrm>
            <a:off x="9242069" y="1847088"/>
            <a:ext cx="502920" cy="502920"/>
          </a:xfrm>
          <a:prstGeom prst="ellipse">
            <a:avLst/>
          </a:prstGeom>
          <a:solidFill>
            <a:srgbClr val="1E2761"/>
          </a:solidFill>
          <a:ln/>
        </p:spPr>
      </p:sp>
      <p:pic>
        <p:nvPicPr>
          <p:cNvPr id="26" name="Image 3" descr="preencoded.png">    </p:cNvPr>
          <p:cNvPicPr>
            <a:picLocks noChangeAspect="1"/>
          </p:cNvPicPr>
          <p:nvPr/>
        </p:nvPicPr>
        <p:blipFill>
          <a:blip r:embed="rId4"/>
          <a:stretch>
            <a:fillRect/>
          </a:stretch>
        </p:blipFill>
        <p:spPr>
          <a:xfrm>
            <a:off x="9372829" y="1977847"/>
            <a:ext cx="241402" cy="241402"/>
          </a:xfrm>
          <a:prstGeom prst="rect">
            <a:avLst/>
          </a:prstGeom>
        </p:spPr>
      </p:pic>
      <p:sp>
        <p:nvSpPr>
          <p:cNvPr id="27" name="Text 21"/>
          <p:cNvSpPr/>
          <p:nvPr/>
        </p:nvSpPr>
        <p:spPr>
          <a:xfrm>
            <a:off x="9845573"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3</a:t>
            </a:r>
            <a:endParaRPr lang="en-US" sz="1050" dirty="0"/>
          </a:p>
        </p:txBody>
      </p:sp>
      <p:sp>
        <p:nvSpPr>
          <p:cNvPr id="28" name="Text 22"/>
          <p:cNvSpPr/>
          <p:nvPr/>
        </p:nvSpPr>
        <p:spPr>
          <a:xfrm>
            <a:off x="9845573"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Approval + ledger</a:t>
            </a:r>
            <a:endParaRPr lang="en-US" sz="1400" dirty="0"/>
          </a:p>
        </p:txBody>
      </p:sp>
      <p:sp>
        <p:nvSpPr>
          <p:cNvPr id="29" name="Text 23"/>
          <p:cNvSpPr/>
          <p:nvPr/>
        </p:nvSpPr>
        <p:spPr>
          <a:xfrm>
            <a:off x="9223781"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Approval per matrix (next slide) — risk-tiered, not one-size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Egress ledger: what, who, when, hashes, mapping version</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Package archived immutably for future audit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Transfer via the org's sanctioned egress channel only</a:t>
            </a:r>
            <a:endParaRPr lang="en-US" sz="1000" dirty="0"/>
          </a:p>
        </p:txBody>
      </p:sp>
      <p:sp>
        <p:nvSpPr>
          <p:cNvPr id="30" name="Text 24"/>
          <p:cNvSpPr/>
          <p:nvPr/>
        </p:nvSpPr>
        <p:spPr>
          <a:xfrm>
            <a:off x="548640" y="5943600"/>
            <a:ext cx="11094415" cy="411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Design principle: </a:t>
            </a:r>
            <a:pPr algn="ctr" indent="0" marL="0">
              <a:buNone/>
            </a:pPr>
            <a:r>
              <a:rPr lang="en-US" sz="1300" dirty="0">
                <a:solidFill>
                  <a:srgbClr val="1B2440"/>
                </a:solidFill>
                <a:latin typeface="Calibri" pitchFamily="34" charset="0"/>
                <a:ea typeface="Calibri" pitchFamily="34" charset="-122"/>
                <a:cs typeface="Calibri" pitchFamily="34" charset="-120"/>
              </a:rPr>
              <a:t>the desensitizer is a productivity tool, not a security control. Gates 0–3 are the security control. Humans catch meaning; machines catch strings — you need both, every time.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 · COMPLIANCE WITHOUT KILLING VELOCITY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risk-tiered approval matrix</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0240"/>
                <a:gridCol w="3566160"/>
                <a:gridCol w="2011680"/>
                <a:gridCol w="2468880"/>
                <a:gridCol w="1124712"/>
              </a:tblGrid>
              <a:tr h="6583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Package type</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 2 reviewer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Final approver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SLA</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1 · Structural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OpenAPI shapes, routes, component trees, type signatures — no logic, no literals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One tech lead</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Engineering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Same day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2 · Sanitized source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code_extractor output, service signatures, synthetic fixtures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one peer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Supervisor + monthly cyber audit of the ledger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2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3 · Logic-adjacent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Abstract rule keys, state-machine shapes, anything touching classified-adjacent flows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Cybersecurity / SW-assurance rep (named fast-track contact)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5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0 · Standing patterns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Pre-approved recurring shapes (e.g. CRUD contract template, N-th similar fixture set)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Checklist only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Pre-authorized by prior Tier-2 approval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Immediate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bl>
          </a:graphicData>
        </a:graphic>
      </p:graphicFrame>
      <p:sp>
        <p:nvSpPr>
          <p:cNvPr id="7" name="Text 4"/>
          <p:cNvSpPr/>
          <p:nvPr/>
        </p:nvSpPr>
        <p:spPr>
          <a:xfrm>
            <a:off x="548640" y="5349240"/>
            <a:ext cx="11094415" cy="8686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How this stays fast: </a:t>
            </a:r>
            <a:pPr indent="0" marL="0">
              <a:buNone/>
            </a:pPr>
            <a:r>
              <a:rPr lang="en-US" sz="1300" dirty="0">
                <a:solidFill>
                  <a:srgbClr val="1B2440"/>
                </a:solidFill>
                <a:latin typeface="Calibri" pitchFamily="34" charset="0"/>
                <a:ea typeface="Calibri" pitchFamily="34" charset="-122"/>
                <a:cs typeface="Calibri" pitchFamily="34" charset="-120"/>
              </a:rPr>
              <a:t>cyber assurance is IN the loop but not ON the path — they co-author the checklists and denylists, audit the ledger monthly, and are pulled in live only for Tier 3. Velocity comes from Tier 0: the more we standardize spec-package shapes, the more egress becomes pre-approved routine instead of a negotiation.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 · A REAL PRODUCT IN A FICTIONAL DOMAIN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“Looking at Trees Corp.” sandbox</a:t>
            </a:r>
            <a:endParaRPr lang="en-US" sz="3000" dirty="0"/>
          </a:p>
        </p:txBody>
      </p:sp>
      <p:sp>
        <p:nvSpPr>
          <p:cNvPr id="6" name="Shape 4"/>
          <p:cNvSpPr/>
          <p:nvPr/>
        </p:nvSpPr>
        <p:spPr>
          <a:xfrm>
            <a:off x="548640" y="1645920"/>
            <a:ext cx="5364328" cy="4297680"/>
          </a:xfrm>
          <a:prstGeom prst="roundRect">
            <a:avLst>
              <a:gd name="adj" fmla="val 1702"/>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04672" y="1847088"/>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42564" y="1984980"/>
            <a:ext cx="254569" cy="254569"/>
          </a:xfrm>
          <a:prstGeom prst="rect">
            <a:avLst/>
          </a:prstGeom>
        </p:spPr>
      </p:pic>
      <p:sp>
        <p:nvSpPr>
          <p:cNvPr id="9" name="Text 6"/>
          <p:cNvSpPr/>
          <p:nvPr/>
        </p:nvSpPr>
        <p:spPr>
          <a:xfrm>
            <a:off x="1463040" y="1920240"/>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Universe discipline</a:t>
            </a:r>
            <a:endParaRPr lang="en-US" sz="1500" dirty="0"/>
          </a:p>
        </p:txBody>
      </p:sp>
      <p:sp>
        <p:nvSpPr>
          <p:cNvPr id="10" name="Text 7"/>
          <p:cNvSpPr/>
          <p:nvPr/>
        </p:nvSpPr>
        <p:spPr>
          <a:xfrm>
            <a:off x="822960"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Write a “world bible”: LTC's domain model, entities, personas — rich enough that devs never need to reach for a real term</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One canonical glossary maps LTC ↔ real terms; it lives INSIDE the airgap with mapping.json and is version-locked to it</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Structural isomorphism is a leak vector: cardinalities, flow shapes and org-chart mirrors can identify the real domain — deliberately vary non-essential structure</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Private repos, org-owned accounts, 2FA, no personal GitHub; assume everything outside is readable by an adversary</a:t>
            </a:r>
            <a:endParaRPr lang="en-US" sz="1200" dirty="0"/>
          </a:p>
        </p:txBody>
      </p:sp>
      <p:sp>
        <p:nvSpPr>
          <p:cNvPr id="11" name="Shape 8"/>
          <p:cNvSpPr/>
          <p:nvPr/>
        </p:nvSpPr>
        <p:spPr>
          <a:xfrm>
            <a:off x="6278728" y="1645920"/>
            <a:ext cx="5364328" cy="4297680"/>
          </a:xfrm>
          <a:prstGeom prst="roundRect">
            <a:avLst>
              <a:gd name="adj" fmla="val 1702"/>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6534760" y="1847088"/>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672651" y="1984980"/>
            <a:ext cx="254569" cy="254569"/>
          </a:xfrm>
          <a:prstGeom prst="rect">
            <a:avLst/>
          </a:prstGeom>
        </p:spPr>
      </p:pic>
      <p:sp>
        <p:nvSpPr>
          <p:cNvPr id="14" name="Text 10"/>
          <p:cNvSpPr/>
          <p:nvPr/>
        </p:nvSpPr>
        <p:spPr>
          <a:xfrm>
            <a:off x="7193128" y="1920240"/>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Repo parity with Confi GitLab</a:t>
            </a:r>
            <a:endParaRPr lang="en-US" sz="1500" dirty="0"/>
          </a:p>
        </p:txBody>
      </p:sp>
      <p:sp>
        <p:nvSpPr>
          <p:cNvPr id="15" name="Text 11"/>
          <p:cNvSpPr/>
          <p:nvPr/>
        </p:nvSpPr>
        <p:spPr>
          <a:xfrm>
            <a:off x="6553048"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Same pipeline stages: lint (same ESLint config file), unit, SAST, build, tag — export the actual config files inward so rules are identical, not similar</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Semantic version tags = the ONLY inbound artifact unit; no branch syncing, no cherry-picked commits across the gap</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Dependency-delta job in CI: diff package-lock / pom against the Confi-approved manifest; new libs &amp; versions become a machine-readable request list for the internal registry</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Pin exact versions + lockfiles; Confi rebuilds from source through its own pipeline — internet build artifacts are never trusted directly</a:t>
            </a:r>
            <a:endParaRPr lang="en-US" sz="1200" dirty="0"/>
          </a:p>
        </p:txBody>
      </p:sp>
      <p:sp>
        <p:nvSpPr>
          <p:cNvPr id="16" name="Text 12"/>
          <p:cNvSpPr/>
          <p:nvPr/>
        </p:nvSpPr>
        <p:spPr>
          <a:xfrm>
            <a:off x="548640" y="603504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Prefer Confi-approved libraries by default; a delta is a conscious, flagged decision — never a surprise found at integration.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CONTRACT-FIRST BUILDING AGAINST MOCKS</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OpenAPI file is the center of gravity</a:t>
            </a:r>
            <a:endParaRPr lang="en-US" sz="3000" dirty="0"/>
          </a:p>
        </p:txBody>
      </p:sp>
      <p:sp>
        <p:nvSpPr>
          <p:cNvPr id="6" name="Shape 4"/>
          <p:cNvSpPr/>
          <p:nvPr/>
        </p:nvSpPr>
        <p:spPr>
          <a:xfrm>
            <a:off x="548640" y="1645920"/>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31520" y="1792224"/>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62279" y="1922983"/>
            <a:ext cx="241402" cy="241402"/>
          </a:xfrm>
          <a:prstGeom prst="rect">
            <a:avLst/>
          </a:prstGeom>
        </p:spPr>
      </p:pic>
      <p:sp>
        <p:nvSpPr>
          <p:cNvPr id="9" name="Text 6"/>
          <p:cNvSpPr/>
          <p:nvPr/>
        </p:nvSpPr>
        <p:spPr>
          <a:xfrm>
            <a:off x="1389888" y="1737360"/>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OpenAPI spec</a:t>
            </a:r>
            <a:endParaRPr lang="en-US" sz="1300" dirty="0"/>
          </a:p>
        </p:txBody>
      </p:sp>
      <p:sp>
        <p:nvSpPr>
          <p:cNvPr id="10" name="Text 7"/>
          <p:cNvSpPr/>
          <p:nvPr/>
        </p:nvSpPr>
        <p:spPr>
          <a:xfrm>
            <a:off x="3749040" y="1719072"/>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Authored/extracted inside, desensitized, egressed as the spec package's core artifact</a:t>
            </a:r>
            <a:endParaRPr lang="en-US" sz="1050" dirty="0"/>
          </a:p>
        </p:txBody>
      </p:sp>
      <p:sp>
        <p:nvSpPr>
          <p:cNvPr id="11" name="Shape 8"/>
          <p:cNvSpPr/>
          <p:nvPr/>
        </p:nvSpPr>
        <p:spPr>
          <a:xfrm>
            <a:off x="548640" y="2578608"/>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31520" y="2724912"/>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62279" y="2855671"/>
            <a:ext cx="241402" cy="241402"/>
          </a:xfrm>
          <a:prstGeom prst="rect">
            <a:avLst/>
          </a:prstGeom>
        </p:spPr>
      </p:pic>
      <p:sp>
        <p:nvSpPr>
          <p:cNvPr id="14" name="Text 10"/>
          <p:cNvSpPr/>
          <p:nvPr/>
        </p:nvSpPr>
        <p:spPr>
          <a:xfrm>
            <a:off x="1389888" y="2670048"/>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Generated types + client</a:t>
            </a:r>
            <a:endParaRPr lang="en-US" sz="1300" dirty="0"/>
          </a:p>
        </p:txBody>
      </p:sp>
      <p:sp>
        <p:nvSpPr>
          <p:cNvPr id="15" name="Text 11"/>
          <p:cNvSpPr/>
          <p:nvPr/>
        </p:nvSpPr>
        <p:spPr>
          <a:xfrm>
            <a:off x="3749040" y="2651760"/>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openapi-typescript / orval generate the TS types and the thin API client — nobody hand-writes fetch calls</a:t>
            </a:r>
            <a:endParaRPr lang="en-US" sz="1050" dirty="0"/>
          </a:p>
        </p:txBody>
      </p:sp>
      <p:sp>
        <p:nvSpPr>
          <p:cNvPr id="16" name="Shape 12"/>
          <p:cNvSpPr/>
          <p:nvPr/>
        </p:nvSpPr>
        <p:spPr>
          <a:xfrm>
            <a:off x="548640" y="3511296"/>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31520" y="36576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62279" y="3788359"/>
            <a:ext cx="241402" cy="241402"/>
          </a:xfrm>
          <a:prstGeom prst="rect">
            <a:avLst/>
          </a:prstGeom>
        </p:spPr>
      </p:pic>
      <p:sp>
        <p:nvSpPr>
          <p:cNvPr id="19" name="Text 14"/>
          <p:cNvSpPr/>
          <p:nvPr/>
        </p:nvSpPr>
        <p:spPr>
          <a:xfrm>
            <a:off x="1389888" y="3602736"/>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MSW mock layer</a:t>
            </a:r>
            <a:endParaRPr lang="en-US" sz="1300" dirty="0"/>
          </a:p>
        </p:txBody>
      </p:sp>
      <p:sp>
        <p:nvSpPr>
          <p:cNvPr id="20" name="Text 15"/>
          <p:cNvSpPr/>
          <p:nvPr/>
        </p:nvSpPr>
        <p:spPr>
          <a:xfrm>
            <a:off x="3749040" y="3584448"/>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Handlers generated from the same spec + synthetic fixture factories (faker with fixed seeds). Runs in browser AND in CI (node)</a:t>
            </a:r>
            <a:endParaRPr lang="en-US" sz="1050" dirty="0"/>
          </a:p>
        </p:txBody>
      </p:sp>
      <p:sp>
        <p:nvSpPr>
          <p:cNvPr id="21" name="Shape 16"/>
          <p:cNvSpPr/>
          <p:nvPr/>
        </p:nvSpPr>
        <p:spPr>
          <a:xfrm>
            <a:off x="548640" y="4443984"/>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31520" y="459028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62279" y="4721047"/>
            <a:ext cx="241402" cy="241402"/>
          </a:xfrm>
          <a:prstGeom prst="rect">
            <a:avLst/>
          </a:prstGeom>
        </p:spPr>
      </p:pic>
      <p:sp>
        <p:nvSpPr>
          <p:cNvPr id="24" name="Text 18"/>
          <p:cNvSpPr/>
          <p:nvPr/>
        </p:nvSpPr>
        <p:spPr>
          <a:xfrm>
            <a:off x="1389888" y="4535424"/>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Playwright E2E</a:t>
            </a:r>
            <a:endParaRPr lang="en-US" sz="1300" dirty="0"/>
          </a:p>
        </p:txBody>
      </p:sp>
      <p:sp>
        <p:nvSpPr>
          <p:cNvPr id="25" name="Text 19"/>
          <p:cNvSpPr/>
          <p:nvPr/>
        </p:nvSpPr>
        <p:spPr>
          <a:xfrm>
            <a:off x="3749040" y="4517136"/>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Full user journeys against the MSW-backed app: zero backend, deterministic data, failure-mode tests (500s, timeouts, empty states) — cheap outside, impossible inside</a:t>
            </a:r>
            <a:endParaRPr lang="en-US" sz="1050" dirty="0"/>
          </a:p>
        </p:txBody>
      </p:sp>
      <p:sp>
        <p:nvSpPr>
          <p:cNvPr id="26" name="Shape 20"/>
          <p:cNvSpPr/>
          <p:nvPr/>
        </p:nvSpPr>
        <p:spPr>
          <a:xfrm>
            <a:off x="8138160" y="1645920"/>
            <a:ext cx="3504895" cy="3621024"/>
          </a:xfrm>
          <a:prstGeom prst="roundRect">
            <a:avLst>
              <a:gd name="adj" fmla="val 2087"/>
            </a:avLst>
          </a:prstGeom>
          <a:solidFill>
            <a:srgbClr val="EAF4EF"/>
          </a:solidFill>
          <a:ln/>
          <a:effectLst>
            <a:outerShdw sx="100000" sy="100000" kx="0" ky="0" algn="bl" rotWithShape="0" blurRad="76200" dist="12700" dir="5400000">
              <a:srgbClr val="9AA7C4">
                <a:alpha val="25000"/>
              </a:srgbClr>
            </a:outerShdw>
          </a:effectLst>
        </p:spPr>
      </p:sp>
      <p:sp>
        <p:nvSpPr>
          <p:cNvPr id="27" name="Shape 21"/>
          <p:cNvSpPr/>
          <p:nvPr/>
        </p:nvSpPr>
        <p:spPr>
          <a:xfrm>
            <a:off x="8366760" y="1847088"/>
            <a:ext cx="502920" cy="502920"/>
          </a:xfrm>
          <a:prstGeom prst="ellipse">
            <a:avLst/>
          </a:prstGeom>
          <a:solidFill>
            <a:srgbClr val="2E7D5B"/>
          </a:solidFill>
          <a:ln/>
        </p:spPr>
      </p:sp>
      <p:pic>
        <p:nvPicPr>
          <p:cNvPr id="28" name="Image 4" descr="preencoded.png">    </p:cNvPr>
          <p:cNvPicPr>
            <a:picLocks noChangeAspect="1"/>
          </p:cNvPicPr>
          <p:nvPr/>
        </p:nvPicPr>
        <p:blipFill>
          <a:blip r:embed="rId5"/>
          <a:stretch>
            <a:fillRect/>
          </a:stretch>
        </p:blipFill>
        <p:spPr>
          <a:xfrm>
            <a:off x="8497519" y="1977847"/>
            <a:ext cx="241402" cy="241402"/>
          </a:xfrm>
          <a:prstGeom prst="rect">
            <a:avLst/>
          </a:prstGeom>
        </p:spPr>
      </p:pic>
      <p:sp>
        <p:nvSpPr>
          <p:cNvPr id="29" name="Text 22"/>
          <p:cNvSpPr/>
          <p:nvPr/>
        </p:nvSpPr>
        <p:spPr>
          <a:xfrm>
            <a:off x="8979408" y="1920240"/>
            <a:ext cx="2499055" cy="54864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Definition of “done outside”</a:t>
            </a:r>
            <a:endParaRPr lang="en-US" sz="1350" dirty="0"/>
          </a:p>
        </p:txBody>
      </p:sp>
      <p:sp>
        <p:nvSpPr>
          <p:cNvPr id="30" name="Text 23"/>
          <p:cNvSpPr/>
          <p:nvPr/>
        </p:nvSpPr>
        <p:spPr>
          <a:xfrm>
            <a:off x="8366760" y="2514600"/>
            <a:ext cx="3047695" cy="265176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App fully runnable with zero backend</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Playwright green on every journey</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Contract tests: mocks validated against the OpenAPI spec — mock drift fails CI</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Same suites re-run INSIDE against the real backend as the integration check</a:t>
            </a:r>
            <a:endParaRPr lang="en-US" sz="1150" dirty="0"/>
          </a:p>
        </p:txBody>
      </p:sp>
      <p:sp>
        <p:nvSpPr>
          <p:cNvPr id="31" name="Shape 24"/>
          <p:cNvSpPr/>
          <p:nvPr/>
        </p:nvSpPr>
        <p:spPr>
          <a:xfrm>
            <a:off x="548640" y="5440680"/>
            <a:ext cx="11094415" cy="868680"/>
          </a:xfrm>
          <a:prstGeom prst="roundRect">
            <a:avLst>
              <a:gd name="adj" fmla="val 8421"/>
            </a:avLst>
          </a:prstGeom>
          <a:solidFill>
            <a:srgbClr val="EDF3FC"/>
          </a:solidFill>
          <a:ln/>
          <a:effectLst>
            <a:outerShdw sx="100000" sy="100000" kx="0" ky="0" algn="bl" rotWithShape="0" blurRad="76200" dist="12700" dir="5400000">
              <a:srgbClr val="9AA7C4">
                <a:alpha val="25000"/>
              </a:srgbClr>
            </a:outerShdw>
          </a:effectLst>
        </p:spPr>
      </p:sp>
      <p:sp>
        <p:nvSpPr>
          <p:cNvPr id="32" name="Text 25"/>
          <p:cNvSpPr/>
          <p:nvPr/>
        </p:nvSpPr>
        <p:spPr>
          <a:xfrm>
            <a:off x="822960" y="5559552"/>
            <a:ext cx="10545775"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Contract change protocol: </a:t>
            </a:r>
            <a:pPr indent="0" marL="0">
              <a:buNone/>
            </a:pPr>
            <a:r>
              <a:rPr lang="en-US" sz="1250" dirty="0">
                <a:solidFill>
                  <a:srgbClr val="1B2440"/>
                </a:solidFill>
                <a:latin typeface="Calibri" pitchFamily="34" charset="0"/>
                <a:ea typeface="Calibri" pitchFamily="34" charset="-122"/>
                <a:cs typeface="Calibri" pitchFamily="34" charset="-120"/>
              </a:rPr>
              <a:t>backend contract changes inside → re-extract the OpenAPI diff → egress the delta (Tier 1, same-day) → regenerate types &amp; mocks outside. The spec version is pinned in both repos; a version mismatch fails both CIs loudly.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ENVIRONMENT DECOUPLING</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Integration inside = configuration, not debugging</a:t>
            </a:r>
            <a:endParaRPr lang="en-US" sz="3000" dirty="0"/>
          </a:p>
        </p:txBody>
      </p:sp>
      <p:sp>
        <p:nvSpPr>
          <p:cNvPr id="6" name="Shape 4"/>
          <p:cNvSpPr/>
          <p:nvPr/>
        </p:nvSpPr>
        <p:spPr>
          <a:xfrm>
            <a:off x="548640" y="1691640"/>
            <a:ext cx="11094415" cy="1042416"/>
          </a:xfrm>
          <a:prstGeom prst="roundRect">
            <a:avLst>
              <a:gd name="adj" fmla="val 7018"/>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947672"/>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87700" y="2085564"/>
            <a:ext cx="254569" cy="254569"/>
          </a:xfrm>
          <a:prstGeom prst="rect">
            <a:avLst/>
          </a:prstGeom>
        </p:spPr>
      </p:pic>
      <p:sp>
        <p:nvSpPr>
          <p:cNvPr id="9" name="Text 6"/>
          <p:cNvSpPr/>
          <p:nvPr/>
        </p:nvSpPr>
        <p:spPr>
          <a:xfrm>
            <a:off x="1463040" y="1801368"/>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FEATURE CORE  (identical in both worlds)</a:t>
            </a:r>
            <a:endParaRPr lang="en-US" sz="1300" dirty="0"/>
          </a:p>
        </p:txBody>
      </p:sp>
      <p:sp>
        <p:nvSpPr>
          <p:cNvPr id="10" name="Text 7"/>
          <p:cNvSpPr/>
          <p:nvPr/>
        </p:nvSpPr>
        <p:spPr>
          <a:xfrm>
            <a:off x="1463040" y="2093976"/>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Components · hooks · state machines · schema-driven validation engine · logic-pack consumer. Imports ONLY the API-client interface and tokens — never fetch/axios, never window.location, never env vars.</a:t>
            </a:r>
            <a:endParaRPr lang="en-US" sz="1150" dirty="0"/>
          </a:p>
        </p:txBody>
      </p:sp>
      <p:sp>
        <p:nvSpPr>
          <p:cNvPr id="11" name="Shape 8"/>
          <p:cNvSpPr/>
          <p:nvPr/>
        </p:nvSpPr>
        <p:spPr>
          <a:xfrm>
            <a:off x="548640" y="2862072"/>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3118104"/>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87700" y="3255996"/>
            <a:ext cx="254569" cy="254569"/>
          </a:xfrm>
          <a:prstGeom prst="rect">
            <a:avLst/>
          </a:prstGeom>
        </p:spPr>
      </p:pic>
      <p:sp>
        <p:nvSpPr>
          <p:cNvPr id="14" name="Text 10"/>
          <p:cNvSpPr/>
          <p:nvPr/>
        </p:nvSpPr>
        <p:spPr>
          <a:xfrm>
            <a:off x="1463040" y="2971800"/>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THIN API CLIENT  (identical interface, swappable transport)</a:t>
            </a:r>
            <a:endParaRPr lang="en-US" sz="1300" dirty="0"/>
          </a:p>
        </p:txBody>
      </p:sp>
      <p:sp>
        <p:nvSpPr>
          <p:cNvPr id="15" name="Text 11"/>
          <p:cNvSpPr/>
          <p:nvPr/>
        </p:nvSpPr>
        <p:spPr>
          <a:xfrm>
            <a:off x="1463040" y="3264408"/>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Generated from OpenAPI. All I/O passes through it: base URL, auth header injection, error normalization, retry. MSW intercepts it outside; the real gateway serves it inside. One file changes behavior — zero feature code.</a:t>
            </a:r>
            <a:endParaRPr lang="en-US" sz="1150" dirty="0"/>
          </a:p>
        </p:txBody>
      </p:sp>
      <p:sp>
        <p:nvSpPr>
          <p:cNvPr id="16" name="Shape 12"/>
          <p:cNvSpPr/>
          <p:nvPr/>
        </p:nvSpPr>
        <p:spPr>
          <a:xfrm>
            <a:off x="548640" y="4032504"/>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288536"/>
            <a:ext cx="530352" cy="530352"/>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87700" y="4426428"/>
            <a:ext cx="254569" cy="254569"/>
          </a:xfrm>
          <a:prstGeom prst="rect">
            <a:avLst/>
          </a:prstGeom>
        </p:spPr>
      </p:pic>
      <p:sp>
        <p:nvSpPr>
          <p:cNvPr id="19" name="Text 14"/>
          <p:cNvSpPr/>
          <p:nvPr/>
        </p:nvSpPr>
        <p:spPr>
          <a:xfrm>
            <a:off x="1463040" y="4142232"/>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ENVIRONMENT BINDING  (differs per world, injected at deploy)</a:t>
            </a:r>
            <a:endParaRPr lang="en-US" sz="1300" dirty="0"/>
          </a:p>
        </p:txBody>
      </p:sp>
      <p:sp>
        <p:nvSpPr>
          <p:cNvPr id="20" name="Text 15"/>
          <p:cNvSpPr/>
          <p:nvPr/>
        </p:nvSpPr>
        <p:spPr>
          <a:xfrm>
            <a:off x="1463040" y="4434840"/>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Runtime env config (import-map / env.js per SSPA practice): endpoints, SSO/auth provider adapter, certs, logic-pack source. Auth is an interface with two adapters — FakeAuthProvider outside, real SSO inside.</a:t>
            </a:r>
            <a:endParaRPr lang="en-US" sz="1150" dirty="0"/>
          </a:p>
        </p:txBody>
      </p:sp>
      <p:sp>
        <p:nvSpPr>
          <p:cNvPr id="21" name="Shape 16"/>
          <p:cNvSpPr/>
          <p:nvPr/>
        </p:nvSpPr>
        <p:spPr>
          <a:xfrm>
            <a:off x="548640" y="5248656"/>
            <a:ext cx="11094415" cy="868680"/>
          </a:xfrm>
          <a:prstGeom prst="roundRect">
            <a:avLst>
              <a:gd name="adj" fmla="val 8421"/>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5385816"/>
            <a:ext cx="548640" cy="548640"/>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892454" y="5528462"/>
            <a:ext cx="263347" cy="263347"/>
          </a:xfrm>
          <a:prstGeom prst="rect">
            <a:avLst/>
          </a:prstGeom>
        </p:spPr>
      </p:pic>
      <p:sp>
        <p:nvSpPr>
          <p:cNvPr id="24" name="Text 18"/>
          <p:cNvSpPr/>
          <p:nvPr/>
        </p:nvSpPr>
        <p:spPr>
          <a:xfrm>
            <a:off x="1463040" y="5340096"/>
            <a:ext cx="9905695" cy="68580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Enforced, not hoped for: </a:t>
            </a:r>
            <a:pPr indent="0" marL="0">
              <a:buNone/>
            </a:pPr>
            <a:r>
              <a:rPr lang="en-US" sz="1250" dirty="0">
                <a:solidFill>
                  <a:srgbClr val="1B2440"/>
                </a:solidFill>
                <a:latin typeface="Calibri" pitchFamily="34" charset="0"/>
                <a:ea typeface="Calibri" pitchFamily="34" charset="-122"/>
                <a:cs typeface="Calibri" pitchFamily="34" charset="-120"/>
              </a:rPr>
              <a:t>an ESLint boundary rule (import/no-restricted-paths) forbids feature code from importing transport or env modules. The dependency direction is validated by CI in both worlds — that is what makes “swap by configuration” actually true at integration time.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2 · THE ANGULAR-TO-REACT FACTORY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feature, end-to-end, at a time</a:t>
            </a:r>
            <a:endParaRPr lang="en-US" sz="3000" dirty="0"/>
          </a:p>
        </p:txBody>
      </p:sp>
      <p:sp>
        <p:nvSpPr>
          <p:cNvPr id="6" name="Shape 4"/>
          <p:cNvSpPr/>
          <p:nvPr/>
        </p:nvSpPr>
        <p:spPr>
          <a:xfrm>
            <a:off x="548640"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1</a:t>
            </a:r>
            <a:endParaRPr lang="en-US" sz="3600" dirty="0"/>
          </a:p>
        </p:txBody>
      </p:sp>
      <p:sp>
        <p:nvSpPr>
          <p:cNvPr id="8" name="Text 6"/>
          <p:cNvSpPr/>
          <p:nvPr/>
        </p:nvSpPr>
        <p:spPr>
          <a:xfrm>
            <a:off x="731520"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Inventory</a:t>
            </a:r>
            <a:endParaRPr lang="en-US" sz="1500" dirty="0"/>
          </a:p>
        </p:txBody>
      </p:sp>
      <p:sp>
        <p:nvSpPr>
          <p:cNvPr id="9" name="Text 7"/>
          <p:cNvSpPr/>
          <p:nvPr/>
        </p:nvSpPr>
        <p:spPr>
          <a:xfrm>
            <a:off x="731520"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Catalog every Angular feature: routes, screens, API calls, rule touchpoints, complexity, usage. One tracker row per feature — this IS the program backlog and the parity scoreboard.</a:t>
            </a:r>
            <a:endParaRPr lang="en-US" sz="1050" dirty="0"/>
          </a:p>
        </p:txBody>
      </p:sp>
      <p:sp>
        <p:nvSpPr>
          <p:cNvPr id="10" name="Text 8"/>
          <p:cNvSpPr/>
          <p:nvPr/>
        </p:nvSpPr>
        <p:spPr>
          <a:xfrm>
            <a:off x="3132506"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1" name="Shape 9"/>
          <p:cNvSpPr/>
          <p:nvPr/>
        </p:nvSpPr>
        <p:spPr>
          <a:xfrm>
            <a:off x="3379394"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2" name="Text 10"/>
          <p:cNvSpPr/>
          <p:nvPr/>
        </p:nvSpPr>
        <p:spPr>
          <a:xfrm>
            <a:off x="3562274"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2</a:t>
            </a:r>
            <a:endParaRPr lang="en-US" sz="3600" dirty="0"/>
          </a:p>
        </p:txBody>
      </p:sp>
      <p:sp>
        <p:nvSpPr>
          <p:cNvPr id="13" name="Text 11"/>
          <p:cNvSpPr/>
          <p:nvPr/>
        </p:nvSpPr>
        <p:spPr>
          <a:xfrm>
            <a:off x="3562274"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Contract</a:t>
            </a:r>
            <a:endParaRPr lang="en-US" sz="1500" dirty="0"/>
          </a:p>
        </p:txBody>
      </p:sp>
      <p:sp>
        <p:nvSpPr>
          <p:cNvPr id="14" name="Text 12"/>
          <p:cNvSpPr/>
          <p:nvPr/>
        </p:nvSpPr>
        <p:spPr>
          <a:xfrm>
            <a:off x="3562274"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Write the feature's spec inside: OpenAPI slice, rule keys, fixtures, flow notes. Desensitize, gate, egress. Timebox it — a spec that takes a week is being over-written.</a:t>
            </a:r>
            <a:endParaRPr lang="en-US" sz="1050" dirty="0"/>
          </a:p>
        </p:txBody>
      </p:sp>
      <p:sp>
        <p:nvSpPr>
          <p:cNvPr id="15" name="Text 13"/>
          <p:cNvSpPr/>
          <p:nvPr/>
        </p:nvSpPr>
        <p:spPr>
          <a:xfrm>
            <a:off x="5963260"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6" name="Shape 14"/>
          <p:cNvSpPr/>
          <p:nvPr/>
        </p:nvSpPr>
        <p:spPr>
          <a:xfrm>
            <a:off x="6210148"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7" name="Text 15"/>
          <p:cNvSpPr/>
          <p:nvPr/>
        </p:nvSpPr>
        <p:spPr>
          <a:xfrm>
            <a:off x="6393028"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3</a:t>
            </a:r>
            <a:endParaRPr lang="en-US" sz="3600" dirty="0"/>
          </a:p>
        </p:txBody>
      </p:sp>
      <p:sp>
        <p:nvSpPr>
          <p:cNvPr id="18" name="Text 16"/>
          <p:cNvSpPr/>
          <p:nvPr/>
        </p:nvSpPr>
        <p:spPr>
          <a:xfrm>
            <a:off x="6393028"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Build</a:t>
            </a:r>
            <a:endParaRPr lang="en-US" sz="1500" dirty="0"/>
          </a:p>
        </p:txBody>
      </p:sp>
      <p:sp>
        <p:nvSpPr>
          <p:cNvPr id="19" name="Text 17"/>
          <p:cNvSpPr/>
          <p:nvPr/>
        </p:nvSpPr>
        <p:spPr>
          <a:xfrm>
            <a:off x="6393028"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Implement outside as a passive shell against MSW. Port end-to-end (UI + tests + docs), never all-UI-first. Escape-hatch modules stubbed and flagged for inside work.</a:t>
            </a:r>
            <a:endParaRPr lang="en-US" sz="1050" dirty="0"/>
          </a:p>
        </p:txBody>
      </p:sp>
      <p:sp>
        <p:nvSpPr>
          <p:cNvPr id="20" name="Text 18"/>
          <p:cNvSpPr/>
          <p:nvPr/>
        </p:nvSpPr>
        <p:spPr>
          <a:xfrm>
            <a:off x="8794013"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21" name="Shape 19"/>
          <p:cNvSpPr/>
          <p:nvPr/>
        </p:nvSpPr>
        <p:spPr>
          <a:xfrm>
            <a:off x="9040901"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2" name="Text 20"/>
          <p:cNvSpPr/>
          <p:nvPr/>
        </p:nvSpPr>
        <p:spPr>
          <a:xfrm>
            <a:off x="9223781"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4</a:t>
            </a:r>
            <a:endParaRPr lang="en-US" sz="3600" dirty="0"/>
          </a:p>
        </p:txBody>
      </p:sp>
      <p:sp>
        <p:nvSpPr>
          <p:cNvPr id="23" name="Text 21"/>
          <p:cNvSpPr/>
          <p:nvPr/>
        </p:nvSpPr>
        <p:spPr>
          <a:xfrm>
            <a:off x="9223781"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Verify &amp; ship</a:t>
            </a:r>
            <a:endParaRPr lang="en-US" sz="1500" dirty="0"/>
          </a:p>
        </p:txBody>
      </p:sp>
      <p:sp>
        <p:nvSpPr>
          <p:cNvPr id="24" name="Text 22"/>
          <p:cNvSpPr/>
          <p:nvPr/>
        </p:nvSpPr>
        <p:spPr>
          <a:xfrm>
            <a:off x="9223781"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Tag release. Inside: reverse-map, bind real config + logic pack, implement stubs, re-run the same Playwright suite against the real backend. Gap found ⇒ fix the SPEC first, then the code.</a:t>
            </a:r>
            <a:endParaRPr lang="en-US" sz="1050" dirty="0"/>
          </a:p>
        </p:txBody>
      </p:sp>
      <p:sp>
        <p:nvSpPr>
          <p:cNvPr id="25" name="Shape 23"/>
          <p:cNvSpPr/>
          <p:nvPr/>
        </p:nvSpPr>
        <p:spPr>
          <a:xfrm>
            <a:off x="548640" y="4983480"/>
            <a:ext cx="11094415" cy="1143000"/>
          </a:xfrm>
          <a:prstGeom prst="roundRect">
            <a:avLst>
              <a:gd name="adj" fmla="val 6400"/>
            </a:avLst>
          </a:prstGeom>
          <a:solidFill>
            <a:srgbClr val="EAF4EF"/>
          </a:solidFill>
          <a:ln/>
          <a:effectLst>
            <a:outerShdw sx="100000" sy="100000" kx="0" ky="0" algn="bl" rotWithShape="0" blurRad="76200" dist="12700" dir="5400000">
              <a:srgbClr val="9AA7C4">
                <a:alpha val="25000"/>
              </a:srgbClr>
            </a:outerShdw>
          </a:effectLst>
        </p:spPr>
      </p:sp>
      <p:sp>
        <p:nvSpPr>
          <p:cNvPr id="26" name="Shape 24"/>
          <p:cNvSpPr/>
          <p:nvPr/>
        </p:nvSpPr>
        <p:spPr>
          <a:xfrm>
            <a:off x="777240" y="5230368"/>
            <a:ext cx="594360" cy="594360"/>
          </a:xfrm>
          <a:prstGeom prst="ellipse">
            <a:avLst/>
          </a:prstGeom>
          <a:solidFill>
            <a:srgbClr val="2E7D5B"/>
          </a:solidFill>
          <a:ln/>
        </p:spPr>
      </p:sp>
      <p:pic>
        <p:nvPicPr>
          <p:cNvPr id="27" name="Image 0" descr="preencoded.png">    </p:cNvPr>
          <p:cNvPicPr>
            <a:picLocks noChangeAspect="1"/>
          </p:cNvPicPr>
          <p:nvPr/>
        </p:nvPicPr>
        <p:blipFill>
          <a:blip r:embed="rId1"/>
          <a:stretch>
            <a:fillRect/>
          </a:stretch>
        </p:blipFill>
        <p:spPr>
          <a:xfrm>
            <a:off x="931774" y="5384902"/>
            <a:ext cx="285293" cy="285293"/>
          </a:xfrm>
          <a:prstGeom prst="rect">
            <a:avLst/>
          </a:prstGeom>
        </p:spPr>
      </p:pic>
      <p:sp>
        <p:nvSpPr>
          <p:cNvPr id="28" name="Text 25"/>
          <p:cNvSpPr/>
          <p:nvPr/>
        </p:nvSpPr>
        <p:spPr>
          <a:xfrm>
            <a:off x="1554480" y="5120640"/>
            <a:ext cx="9814255" cy="86868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Pick the pilot deliberately: </a:t>
            </a:r>
            <a:pPr indent="0" marL="0">
              <a:buNone/>
            </a:pPr>
            <a:r>
              <a:rPr lang="en-US" sz="1350" dirty="0">
                <a:solidFill>
                  <a:srgbClr val="1B2440"/>
                </a:solidFill>
                <a:latin typeface="Calibri" pitchFamily="34" charset="0"/>
                <a:ea typeface="Calibri" pitchFamily="34" charset="-122"/>
                <a:cs typeface="Calibri" pitchFamily="34" charset="-120"/>
              </a:rPr>
              <a:t>medium complexity, low classification-density, real users — not the hardest MFE and not a toy. Its job is to calibrate the whole pipeline: spec effort, gate SLAs, integration cost, logic-pack coverage. Instrument everything; the pilot's metrics are the business case for Phase 3.</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CADCFC"/>
                </a:solidFill>
                <a:latin typeface="Calibri" pitchFamily="34" charset="0"/>
                <a:ea typeface="Calibri" pitchFamily="34" charset="-122"/>
                <a:cs typeface="Calibri" pitchFamily="34" charset="-120"/>
              </a:rPr>
              <a:t>HONEST AUDIT</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Where this plan is currently exposed</a:t>
            </a:r>
            <a:endParaRPr lang="en-US" sz="3000" dirty="0"/>
          </a:p>
        </p:txBody>
      </p:sp>
      <p:sp>
        <p:nvSpPr>
          <p:cNvPr id="6" name="Shape 4"/>
          <p:cNvSpPr/>
          <p:nvPr/>
        </p:nvSpPr>
        <p:spPr>
          <a:xfrm>
            <a:off x="548640" y="1600200"/>
            <a:ext cx="5387188" cy="2103120"/>
          </a:xfrm>
          <a:prstGeom prst="roundRect">
            <a:avLst>
              <a:gd name="adj" fmla="val 3478"/>
            </a:avLst>
          </a:prstGeom>
          <a:solidFill>
            <a:srgbClr val="2A3A7A"/>
          </a:solidFill>
          <a:ln/>
        </p:spPr>
      </p:sp>
      <p:sp>
        <p:nvSpPr>
          <p:cNvPr id="7" name="Shape 5"/>
          <p:cNvSpPr/>
          <p:nvPr/>
        </p:nvSpPr>
        <p:spPr>
          <a:xfrm>
            <a:off x="731520" y="1783080"/>
            <a:ext cx="457200" cy="457200"/>
          </a:xfrm>
          <a:prstGeom prst="ellipse">
            <a:avLst/>
          </a:prstGeom>
          <a:solidFill>
            <a:srgbClr val="C0392B"/>
          </a:solidFill>
          <a:ln/>
        </p:spPr>
      </p:sp>
      <p:pic>
        <p:nvPicPr>
          <p:cNvPr id="8" name="Image 0" descr="preencoded.png">    </p:cNvPr>
          <p:cNvPicPr>
            <a:picLocks noChangeAspect="1"/>
          </p:cNvPicPr>
          <p:nvPr/>
        </p:nvPicPr>
        <p:blipFill>
          <a:blip r:embed="rId1"/>
          <a:stretch>
            <a:fillRect/>
          </a:stretch>
        </p:blipFill>
        <p:spPr>
          <a:xfrm>
            <a:off x="850392" y="1901952"/>
            <a:ext cx="219456" cy="219456"/>
          </a:xfrm>
          <a:prstGeom prst="rect">
            <a:avLst/>
          </a:prstGeom>
        </p:spPr>
      </p:pic>
      <p:sp>
        <p:nvSpPr>
          <p:cNvPr id="9" name="Text 6"/>
          <p:cNvSpPr/>
          <p:nvPr/>
        </p:nvSpPr>
        <p:spPr>
          <a:xfrm>
            <a:off x="1325880"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It started as shadow IT</a:t>
            </a:r>
            <a:endParaRPr lang="en-US" sz="1450" dirty="0"/>
          </a:p>
        </p:txBody>
      </p:sp>
      <p:sp>
        <p:nvSpPr>
          <p:cNvPr id="10" name="Text 7"/>
          <p:cNvSpPr/>
          <p:nvPr/>
        </p:nvSpPr>
        <p:spPr>
          <a:xfrm>
            <a:off x="777240"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Building outside “secretly” is the plan's biggest vulnerability. Discovered before sanctioned, the whole paradigm — and its authors — lose credibility permanently. Legitimize FIRST: brief supervisor &amp; cyber, get written authorization for a bounded pilot. This is Phase 0, and it blocks everything.</a:t>
            </a:r>
            <a:endParaRPr lang="en-US" sz="1080" dirty="0"/>
          </a:p>
        </p:txBody>
      </p:sp>
      <p:sp>
        <p:nvSpPr>
          <p:cNvPr id="11" name="Shape 8"/>
          <p:cNvSpPr/>
          <p:nvPr/>
        </p:nvSpPr>
        <p:spPr>
          <a:xfrm>
            <a:off x="6255868" y="1600200"/>
            <a:ext cx="5387188" cy="2103120"/>
          </a:xfrm>
          <a:prstGeom prst="roundRect">
            <a:avLst>
              <a:gd name="adj" fmla="val 3478"/>
            </a:avLst>
          </a:prstGeom>
          <a:solidFill>
            <a:srgbClr val="2A3A7A"/>
          </a:solidFill>
          <a:ln/>
        </p:spPr>
      </p:sp>
      <p:sp>
        <p:nvSpPr>
          <p:cNvPr id="12" name="Shape 9"/>
          <p:cNvSpPr/>
          <p:nvPr/>
        </p:nvSpPr>
        <p:spPr>
          <a:xfrm>
            <a:off x="6438748" y="1783080"/>
            <a:ext cx="457200" cy="457200"/>
          </a:xfrm>
          <a:prstGeom prst="ellipse">
            <a:avLst/>
          </a:prstGeom>
          <a:solidFill>
            <a:srgbClr val="C0392B"/>
          </a:solidFill>
          <a:ln/>
        </p:spPr>
      </p:sp>
      <p:pic>
        <p:nvPicPr>
          <p:cNvPr id="13" name="Image 1" descr="preencoded.png">    </p:cNvPr>
          <p:cNvPicPr>
            <a:picLocks noChangeAspect="1"/>
          </p:cNvPicPr>
          <p:nvPr/>
        </p:nvPicPr>
        <p:blipFill>
          <a:blip r:embed="rId2"/>
          <a:stretch>
            <a:fillRect/>
          </a:stretch>
        </p:blipFill>
        <p:spPr>
          <a:xfrm>
            <a:off x="6557620" y="1901952"/>
            <a:ext cx="219456" cy="219456"/>
          </a:xfrm>
          <a:prstGeom prst="rect">
            <a:avLst/>
          </a:prstGeom>
        </p:spPr>
      </p:pic>
      <p:sp>
        <p:nvSpPr>
          <p:cNvPr id="14" name="Text 10"/>
          <p:cNvSpPr/>
          <p:nvPr/>
        </p:nvSpPr>
        <p:spPr>
          <a:xfrm>
            <a:off x="7033108"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Desensitizer ≠ DLP</a:t>
            </a:r>
            <a:endParaRPr lang="en-US" sz="1450" dirty="0"/>
          </a:p>
        </p:txBody>
      </p:sp>
      <p:sp>
        <p:nvSpPr>
          <p:cNvPr id="15" name="Text 11"/>
          <p:cNvSpPr/>
          <p:nvPr/>
        </p:nvSpPr>
        <p:spPr>
          <a:xfrm>
            <a:off x="6484468"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code_extractor only removes what mapping.json names, and its own README lists bypasses (template literals, regex literals, CSS). Domain knowledge also leaks through structure, comments and fixture shapes. It must be treated as a productivity aid inside a gated process — never as the control itself.</a:t>
            </a:r>
            <a:endParaRPr lang="en-US" sz="1080" dirty="0"/>
          </a:p>
        </p:txBody>
      </p:sp>
      <p:sp>
        <p:nvSpPr>
          <p:cNvPr id="16" name="Shape 12"/>
          <p:cNvSpPr/>
          <p:nvPr/>
        </p:nvSpPr>
        <p:spPr>
          <a:xfrm>
            <a:off x="548640" y="3886200"/>
            <a:ext cx="5387188" cy="2103120"/>
          </a:xfrm>
          <a:prstGeom prst="roundRect">
            <a:avLst>
              <a:gd name="adj" fmla="val 3478"/>
            </a:avLst>
          </a:prstGeom>
          <a:solidFill>
            <a:srgbClr val="2A3A7A"/>
          </a:solidFill>
          <a:ln/>
        </p:spPr>
      </p:sp>
      <p:sp>
        <p:nvSpPr>
          <p:cNvPr id="17" name="Shape 13"/>
          <p:cNvSpPr/>
          <p:nvPr/>
        </p:nvSpPr>
        <p:spPr>
          <a:xfrm>
            <a:off x="731520" y="4069080"/>
            <a:ext cx="457200" cy="457200"/>
          </a:xfrm>
          <a:prstGeom prst="ellipse">
            <a:avLst/>
          </a:prstGeom>
          <a:solidFill>
            <a:srgbClr val="C0392B"/>
          </a:solidFill>
          <a:ln/>
        </p:spPr>
      </p:sp>
      <p:pic>
        <p:nvPicPr>
          <p:cNvPr id="18" name="Image 2" descr="preencoded.png">    </p:cNvPr>
          <p:cNvPicPr>
            <a:picLocks noChangeAspect="1"/>
          </p:cNvPicPr>
          <p:nvPr/>
        </p:nvPicPr>
        <p:blipFill>
          <a:blip r:embed="rId3"/>
          <a:stretch>
            <a:fillRect/>
          </a:stretch>
        </p:blipFill>
        <p:spPr>
          <a:xfrm>
            <a:off x="850392" y="4187952"/>
            <a:ext cx="219456" cy="219456"/>
          </a:xfrm>
          <a:prstGeom prst="rect">
            <a:avLst/>
          </a:prstGeom>
        </p:spPr>
      </p:pic>
      <p:sp>
        <p:nvSpPr>
          <p:cNvPr id="19" name="Text 14"/>
          <p:cNvSpPr/>
          <p:nvPr/>
        </p:nvSpPr>
        <p:spPr>
          <a:xfrm>
            <a:off x="1325880"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Split-brain &amp; drift</a:t>
            </a:r>
            <a:endParaRPr lang="en-US" sz="1450" dirty="0"/>
          </a:p>
        </p:txBody>
      </p:sp>
      <p:sp>
        <p:nvSpPr>
          <p:cNvPr id="20" name="Text 15"/>
          <p:cNvSpPr/>
          <p:nvPr/>
        </p:nvSpPr>
        <p:spPr>
          <a:xfrm>
            <a:off x="777240"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Two repos, one truth problem: hotfixes made inside never flow back out, so the factory drifts from the product. Mapping versions, contract versions and pack versions must be pinned together per release — and “inside-only patches” need a scheduled re-sync ritual, or the outside repo quietly dies.</a:t>
            </a:r>
            <a:endParaRPr lang="en-US" sz="1080" dirty="0"/>
          </a:p>
        </p:txBody>
      </p:sp>
      <p:sp>
        <p:nvSpPr>
          <p:cNvPr id="21" name="Shape 16"/>
          <p:cNvSpPr/>
          <p:nvPr/>
        </p:nvSpPr>
        <p:spPr>
          <a:xfrm>
            <a:off x="6255868" y="3886200"/>
            <a:ext cx="5387188" cy="2103120"/>
          </a:xfrm>
          <a:prstGeom prst="roundRect">
            <a:avLst>
              <a:gd name="adj" fmla="val 3478"/>
            </a:avLst>
          </a:prstGeom>
          <a:solidFill>
            <a:srgbClr val="2A3A7A"/>
          </a:solidFill>
          <a:ln/>
        </p:spPr>
      </p:sp>
      <p:sp>
        <p:nvSpPr>
          <p:cNvPr id="22" name="Shape 17"/>
          <p:cNvSpPr/>
          <p:nvPr/>
        </p:nvSpPr>
        <p:spPr>
          <a:xfrm>
            <a:off x="6438748" y="4069080"/>
            <a:ext cx="457200" cy="457200"/>
          </a:xfrm>
          <a:prstGeom prst="ellipse">
            <a:avLst/>
          </a:prstGeom>
          <a:solidFill>
            <a:srgbClr val="C0392B"/>
          </a:solidFill>
          <a:ln/>
        </p:spPr>
      </p:sp>
      <p:pic>
        <p:nvPicPr>
          <p:cNvPr id="23" name="Image 3" descr="preencoded.png">    </p:cNvPr>
          <p:cNvPicPr>
            <a:picLocks noChangeAspect="1"/>
          </p:cNvPicPr>
          <p:nvPr/>
        </p:nvPicPr>
        <p:blipFill>
          <a:blip r:embed="rId4"/>
          <a:stretch>
            <a:fillRect/>
          </a:stretch>
        </p:blipFill>
        <p:spPr>
          <a:xfrm>
            <a:off x="6557620" y="4187952"/>
            <a:ext cx="219456" cy="219456"/>
          </a:xfrm>
          <a:prstGeom prst="rect">
            <a:avLst/>
          </a:prstGeom>
        </p:spPr>
      </p:pic>
      <p:sp>
        <p:nvSpPr>
          <p:cNvPr id="24" name="Text 18"/>
          <p:cNvSpPr/>
          <p:nvPr/>
        </p:nvSpPr>
        <p:spPr>
          <a:xfrm>
            <a:off x="7033108"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People, not tooling</a:t>
            </a:r>
            <a:endParaRPr lang="en-US" sz="1450" dirty="0"/>
          </a:p>
        </p:txBody>
      </p:sp>
      <p:sp>
        <p:nvSpPr>
          <p:cNvPr id="25" name="Text 19"/>
          <p:cNvSpPr/>
          <p:nvPr/>
        </p:nvSpPr>
        <p:spPr>
          <a:xfrm>
            <a:off x="6484468"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Contractors are being asked to excel at roles that automate them away — expect quiet attrition of the best ones. And the plan silently assumes contractors currently do the backend: who builds Java/Spring features in the new model? Name it, budget it, and be straight with people about timelines.</a:t>
            </a:r>
            <a:endParaRPr lang="en-US" sz="1080" dirty="0"/>
          </a:p>
        </p:txBody>
      </p:sp>
      <p:sp>
        <p:nvSpPr>
          <p:cNvPr id="26" name="Text 20"/>
          <p:cNvSpPr/>
          <p:nvPr/>
        </p:nvSpPr>
        <p:spPr>
          <a:xfrm>
            <a:off x="548640" y="6263640"/>
            <a:ext cx="11094415" cy="320040"/>
          </a:xfrm>
          <a:prstGeom prst="rect">
            <a:avLst/>
          </a:prstGeom>
          <a:noFill/>
          <a:ln/>
        </p:spPr>
        <p:txBody>
          <a:bodyPr wrap="square" lIns="0" tIns="0" rIns="0" bIns="0" rtlCol="0" anchor="ctr"/>
          <a:lstStyle/>
          <a:p>
            <a:pPr algn="ctr" indent="0" marL="0">
              <a:buNone/>
            </a:pPr>
            <a:r>
              <a:rPr lang="en-US" sz="1300" i="1" dirty="0">
                <a:solidFill>
                  <a:srgbClr val="CADCFC"/>
                </a:solidFill>
                <a:latin typeface="Calibri" pitchFamily="34" charset="0"/>
                <a:ea typeface="Calibri" pitchFamily="34" charset="-122"/>
                <a:cs typeface="Calibri" pitchFamily="34" charset="-120"/>
              </a:rPr>
              <a:t>None of these kill the strategy — every one of them kills it if ignored.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EXECUTION · A PRAGMATIC TRANSITION TIMELINE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Phase exits are criteria, not dates</a:t>
            </a:r>
            <a:endParaRPr lang="en-US" sz="3000" dirty="0"/>
          </a:p>
        </p:txBody>
      </p:sp>
      <p:sp>
        <p:nvSpPr>
          <p:cNvPr id="6" name="Shape 4"/>
          <p:cNvSpPr/>
          <p:nvPr/>
        </p:nvSpPr>
        <p:spPr>
          <a:xfrm>
            <a:off x="548640"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0</a:t>
            </a:r>
            <a:endParaRPr lang="en-US" sz="1100" dirty="0"/>
          </a:p>
        </p:txBody>
      </p:sp>
      <p:sp>
        <p:nvSpPr>
          <p:cNvPr id="8" name="Text 6"/>
          <p:cNvSpPr/>
          <p:nvPr/>
        </p:nvSpPr>
        <p:spPr>
          <a:xfrm>
            <a:off x="731520"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Legitimize &amp; pilot</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0–2)</a:t>
            </a:r>
            <a:endParaRPr lang="en-US" sz="1350" dirty="0"/>
          </a:p>
        </p:txBody>
      </p:sp>
      <p:sp>
        <p:nvSpPr>
          <p:cNvPr id="9" name="Text 7"/>
          <p:cNvSpPr/>
          <p:nvPr/>
        </p:nvSpPr>
        <p:spPr>
          <a:xfrm>
            <a:off x="731520"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Written authorization: scope, egress channel, named approvers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Gates 0–3 stood up; denylist co-authored with cyber</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World bible v1 + internet org &amp; repos with CI parity</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Pilot feature specced and egressed</a:t>
            </a:r>
            <a:endParaRPr lang="en-US" sz="980" dirty="0"/>
          </a:p>
        </p:txBody>
      </p:sp>
      <p:sp>
        <p:nvSpPr>
          <p:cNvPr id="10" name="Shape 8"/>
          <p:cNvSpPr/>
          <p:nvPr/>
        </p:nvSpPr>
        <p:spPr>
          <a:xfrm>
            <a:off x="3379394"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1" name="Text 9"/>
          <p:cNvSpPr/>
          <p:nvPr/>
        </p:nvSpPr>
        <p:spPr>
          <a:xfrm>
            <a:off x="3562274"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1</a:t>
            </a:r>
            <a:endParaRPr lang="en-US" sz="1100" dirty="0"/>
          </a:p>
        </p:txBody>
      </p:sp>
      <p:sp>
        <p:nvSpPr>
          <p:cNvPr id="12" name="Text 10"/>
          <p:cNvSpPr/>
          <p:nvPr/>
        </p:nvSpPr>
        <p:spPr>
          <a:xfrm>
            <a:off x="3562274"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Internet-first core team</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2–8)</a:t>
            </a:r>
            <a:endParaRPr lang="en-US" sz="1350" dirty="0"/>
          </a:p>
        </p:txBody>
      </p:sp>
      <p:sp>
        <p:nvSpPr>
          <p:cNvPr id="13" name="Text 11"/>
          <p:cNvSpPr/>
          <p:nvPr/>
        </p:nvSpPr>
        <p:spPr>
          <a:xfrm>
            <a:off x="3562274"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Core team builds pilot + 2–3 MFEs outside; logic-pack engine v1</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Contractors own integration, mappings, env testing, config mgmt; some move to BA/spec roles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Dependency-delta job feeding Confi registry requests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2 MFEs shipped through the full loop; integration ≤ 15% of feature effort</a:t>
            </a:r>
            <a:endParaRPr lang="en-US" sz="980" dirty="0"/>
          </a:p>
        </p:txBody>
      </p:sp>
      <p:sp>
        <p:nvSpPr>
          <p:cNvPr id="14" name="Shape 12"/>
          <p:cNvSpPr/>
          <p:nvPr/>
        </p:nvSpPr>
        <p:spPr>
          <a:xfrm>
            <a:off x="6210148"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5" name="Text 13"/>
          <p:cNvSpPr/>
          <p:nvPr/>
        </p:nvSpPr>
        <p:spPr>
          <a:xfrm>
            <a:off x="6393028"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2</a:t>
            </a:r>
            <a:endParaRPr lang="en-US" sz="1100" dirty="0"/>
          </a:p>
        </p:txBody>
      </p:sp>
      <p:sp>
        <p:nvSpPr>
          <p:cNvPr id="16" name="Text 14"/>
          <p:cNvSpPr/>
          <p:nvPr/>
        </p:nvSpPr>
        <p:spPr>
          <a:xfrm>
            <a:off x="6393028"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Outbound spec pipeline at scale</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6–14, overlaps)</a:t>
            </a:r>
            <a:endParaRPr lang="en-US" sz="1350" dirty="0"/>
          </a:p>
        </p:txBody>
      </p:sp>
      <p:sp>
        <p:nvSpPr>
          <p:cNvPr id="17" name="Text 15"/>
          <p:cNvSpPr/>
          <p:nvPr/>
        </p:nvSpPr>
        <p:spPr>
          <a:xfrm>
            <a:off x="6393028"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Spec-package tooling hardened; Tier-0 standing approvals in force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Angular inventory complete; migration factory running per-feature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Sensitizer = logic-pack compiler + validators, fully inside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egress SLA met 90%+; zero security incidents; parity scoreboard trending to done</a:t>
            </a:r>
            <a:endParaRPr lang="en-US" sz="980" dirty="0"/>
          </a:p>
        </p:txBody>
      </p:sp>
      <p:sp>
        <p:nvSpPr>
          <p:cNvPr id="18" name="Shape 16"/>
          <p:cNvSpPr/>
          <p:nvPr/>
        </p:nvSpPr>
        <p:spPr>
          <a:xfrm>
            <a:off x="9040901" y="1691640"/>
            <a:ext cx="2602154" cy="4206240"/>
          </a:xfrm>
          <a:prstGeom prst="roundRect">
            <a:avLst>
              <a:gd name="adj" fmla="val 2811"/>
            </a:avLst>
          </a:prstGeom>
          <a:solidFill>
            <a:srgbClr val="EAF4EF"/>
          </a:solidFill>
          <a:ln/>
          <a:effectLst>
            <a:outerShdw sx="100000" sy="100000" kx="0" ky="0" algn="bl" rotWithShape="0" blurRad="76200" dist="12700" dir="5400000">
              <a:srgbClr val="9AA7C4">
                <a:alpha val="25000"/>
              </a:srgbClr>
            </a:outerShdw>
          </a:effectLst>
        </p:spPr>
      </p:sp>
      <p:sp>
        <p:nvSpPr>
          <p:cNvPr id="19" name="Text 17"/>
          <p:cNvSpPr/>
          <p:nvPr/>
        </p:nvSpPr>
        <p:spPr>
          <a:xfrm>
            <a:off x="9223781" y="1828800"/>
            <a:ext cx="2236394" cy="274320"/>
          </a:xfrm>
          <a:prstGeom prst="rect">
            <a:avLst/>
          </a:prstGeom>
          <a:noFill/>
          <a:ln/>
        </p:spPr>
        <p:txBody>
          <a:bodyPr wrap="square" lIns="0" tIns="0" rIns="0" bIns="0" rtlCol="0" anchor="ctr"/>
          <a:lstStyle/>
          <a:p>
            <a:pPr indent="0" marL="0">
              <a:buNone/>
            </a:pPr>
            <a:r>
              <a:rPr lang="en-US" sz="1100" b="1" spc="200" kern="0" dirty="0">
                <a:solidFill>
                  <a:srgbClr val="2E7D5B"/>
                </a:solidFill>
                <a:latin typeface="Calibri" pitchFamily="34" charset="0"/>
                <a:ea typeface="Calibri" pitchFamily="34" charset="-122"/>
                <a:cs typeface="Calibri" pitchFamily="34" charset="-120"/>
              </a:rPr>
              <a:t>PHASE 3</a:t>
            </a:r>
            <a:endParaRPr lang="en-US" sz="1100" dirty="0"/>
          </a:p>
        </p:txBody>
      </p:sp>
      <p:sp>
        <p:nvSpPr>
          <p:cNvPr id="20" name="Text 18"/>
          <p:cNvSpPr/>
          <p:nvPr/>
        </p:nvSpPr>
        <p:spPr>
          <a:xfrm>
            <a:off x="9223781"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Core-team absorption</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(trigger-based)</a:t>
            </a:r>
            <a:endParaRPr lang="en-US" sz="1350" dirty="0"/>
          </a:p>
        </p:txBody>
      </p:sp>
      <p:sp>
        <p:nvSpPr>
          <p:cNvPr id="21" name="Text 19"/>
          <p:cNvSpPr/>
          <p:nvPr/>
        </p:nvSpPr>
        <p:spPr>
          <a:xfrm>
            <a:off x="9223781"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Trigger: contractor reduction mandate — readiness is built in Phases 1–2, not when the memo lands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Every contractor duty has a documented runbook + a core-team owner who has already done it (rotation in Phase 2)</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Automate the residue: integration scripts, mapping validators, config lint</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full loop runs with core team only, one release proven</a:t>
            </a:r>
            <a:endParaRPr lang="en-US" sz="980" dirty="0"/>
          </a:p>
        </p:txBody>
      </p:sp>
      <p:sp>
        <p:nvSpPr>
          <p:cNvPr id="22" name="Text 20"/>
          <p:cNvSpPr/>
          <p:nvPr/>
        </p:nvSpPr>
        <p:spPr>
          <a:xfrm>
            <a:off x="548640" y="6035040"/>
            <a:ext cx="11094415" cy="41148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Honest expectation: </a:t>
            </a:r>
            <a:pPr algn="ctr" indent="0" marL="0">
              <a:buNone/>
            </a:pPr>
            <a:r>
              <a:rPr lang="en-US" sz="1250" dirty="0">
                <a:solidFill>
                  <a:srgbClr val="1B2440"/>
                </a:solidFill>
                <a:latin typeface="Calibri" pitchFamily="34" charset="0"/>
                <a:ea typeface="Calibri" pitchFamily="34" charset="-122"/>
                <a:cs typeface="Calibri" pitchFamily="34" charset="-120"/>
              </a:rPr>
              <a:t>the first loop will be slower than today — you are building the factory while running it. Speed compounds from MFE #3 onward. Say this out loud on day one, or month 3 will be read as failure.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MEASURING IT · THE COUNTER-NARRATIVE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scoreboard that wins the argument</a:t>
            </a:r>
            <a:endParaRPr lang="en-US" sz="3000" dirty="0"/>
          </a:p>
        </p:txBody>
      </p:sp>
      <p:sp>
        <p:nvSpPr>
          <p:cNvPr id="6" name="Shape 4"/>
          <p:cNvSpPr/>
          <p:nvPr/>
        </p:nvSpPr>
        <p:spPr>
          <a:xfrm>
            <a:off x="548640"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9280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2023567"/>
            <a:ext cx="241402" cy="241402"/>
          </a:xfrm>
          <a:prstGeom prst="rect">
            <a:avLst/>
          </a:prstGeom>
        </p:spPr>
      </p:pic>
      <p:sp>
        <p:nvSpPr>
          <p:cNvPr id="9" name="Text 6"/>
          <p:cNvSpPr/>
          <p:nvPr/>
        </p:nvSpPr>
        <p:spPr>
          <a:xfrm>
            <a:off x="1389888"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Lead time</a:t>
            </a:r>
            <a:endParaRPr lang="en-US" sz="1450" dirty="0"/>
          </a:p>
        </p:txBody>
      </p:sp>
      <p:sp>
        <p:nvSpPr>
          <p:cNvPr id="10" name="Text 7"/>
          <p:cNvSpPr/>
          <p:nvPr/>
        </p:nvSpPr>
        <p:spPr>
          <a:xfrm>
            <a:off x="777240"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Spec-frozen → running in Confi, per feature. The headline number stakeholders compare against “days”. Target: weeks, trending down every quarter.</a:t>
            </a:r>
            <a:endParaRPr lang="en-US" sz="1100" dirty="0"/>
          </a:p>
        </p:txBody>
      </p:sp>
      <p:sp>
        <p:nvSpPr>
          <p:cNvPr id="11" name="Shape 8"/>
          <p:cNvSpPr/>
          <p:nvPr/>
        </p:nvSpPr>
        <p:spPr>
          <a:xfrm>
            <a:off x="4338218"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39386" y="1892808"/>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70146" y="2023567"/>
            <a:ext cx="241402" cy="241402"/>
          </a:xfrm>
          <a:prstGeom prst="rect">
            <a:avLst/>
          </a:prstGeom>
        </p:spPr>
      </p:pic>
      <p:sp>
        <p:nvSpPr>
          <p:cNvPr id="14" name="Text 10"/>
          <p:cNvSpPr/>
          <p:nvPr/>
        </p:nvSpPr>
        <p:spPr>
          <a:xfrm>
            <a:off x="5179466"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Integration tax</a:t>
            </a:r>
            <a:endParaRPr lang="en-US" sz="1450" dirty="0"/>
          </a:p>
        </p:txBody>
      </p:sp>
      <p:sp>
        <p:nvSpPr>
          <p:cNvPr id="15" name="Text 11"/>
          <p:cNvSpPr/>
          <p:nvPr/>
        </p:nvSpPr>
        <p:spPr>
          <a:xfrm>
            <a:off x="4566818"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feature effort spent inside after the tag lands. The paradigm's core health metric. Target ≤ 15%; rising = spec/mock/pack drift.</a:t>
            </a:r>
            <a:endParaRPr lang="en-US" sz="1100" dirty="0"/>
          </a:p>
        </p:txBody>
      </p:sp>
      <p:sp>
        <p:nvSpPr>
          <p:cNvPr id="16" name="Shape 12"/>
          <p:cNvSpPr/>
          <p:nvPr/>
        </p:nvSpPr>
        <p:spPr>
          <a:xfrm>
            <a:off x="8127797"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28965" y="1892808"/>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59724" y="2023567"/>
            <a:ext cx="241402" cy="241402"/>
          </a:xfrm>
          <a:prstGeom prst="rect">
            <a:avLst/>
          </a:prstGeom>
        </p:spPr>
      </p:pic>
      <p:sp>
        <p:nvSpPr>
          <p:cNvPr id="19" name="Text 14"/>
          <p:cNvSpPr/>
          <p:nvPr/>
        </p:nvSpPr>
        <p:spPr>
          <a:xfrm>
            <a:off x="8969045"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Egress SLA &amp; yield</a:t>
            </a:r>
            <a:endParaRPr lang="en-US" sz="1450" dirty="0"/>
          </a:p>
        </p:txBody>
      </p:sp>
      <p:sp>
        <p:nvSpPr>
          <p:cNvPr id="20" name="Text 15"/>
          <p:cNvSpPr/>
          <p:nvPr/>
        </p:nvSpPr>
        <p:spPr>
          <a:xfrm>
            <a:off x="8356397"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Gate turnaround vs. matrix targets, and % of packages passing Gate 0 clean first try. Falling yield = checklist or tooling gap.</a:t>
            </a:r>
            <a:endParaRPr lang="en-US" sz="1100" dirty="0"/>
          </a:p>
        </p:txBody>
      </p:sp>
      <p:sp>
        <p:nvSpPr>
          <p:cNvPr id="21" name="Shape 16"/>
          <p:cNvSpPr/>
          <p:nvPr/>
        </p:nvSpPr>
        <p:spPr>
          <a:xfrm>
            <a:off x="548640"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08736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80567" y="4218127"/>
            <a:ext cx="241402" cy="241402"/>
          </a:xfrm>
          <a:prstGeom prst="rect">
            <a:avLst/>
          </a:prstGeom>
        </p:spPr>
      </p:pic>
      <p:sp>
        <p:nvSpPr>
          <p:cNvPr id="24" name="Text 18"/>
          <p:cNvSpPr/>
          <p:nvPr/>
        </p:nvSpPr>
        <p:spPr>
          <a:xfrm>
            <a:off x="1389888"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Pack coverage</a:t>
            </a:r>
            <a:endParaRPr lang="en-US" sz="1450" dirty="0"/>
          </a:p>
        </p:txBody>
      </p:sp>
      <p:sp>
        <p:nvSpPr>
          <p:cNvPr id="25" name="Text 19"/>
          <p:cNvSpPr/>
          <p:nvPr/>
        </p:nvSpPr>
        <p:spPr>
          <a:xfrm>
            <a:off x="777240"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business rules expressed as logic-pack data vs. escape-hatch code. Higher = less inside-only work = Phase 3 readiness.</a:t>
            </a:r>
            <a:endParaRPr lang="en-US" sz="1100" dirty="0"/>
          </a:p>
        </p:txBody>
      </p:sp>
      <p:sp>
        <p:nvSpPr>
          <p:cNvPr id="26" name="Shape 20"/>
          <p:cNvSpPr/>
          <p:nvPr/>
        </p:nvSpPr>
        <p:spPr>
          <a:xfrm>
            <a:off x="4338218"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4539386" y="4087368"/>
            <a:ext cx="502920" cy="502920"/>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70146" y="4218127"/>
            <a:ext cx="241402" cy="241402"/>
          </a:xfrm>
          <a:prstGeom prst="rect">
            <a:avLst/>
          </a:prstGeom>
        </p:spPr>
      </p:pic>
      <p:sp>
        <p:nvSpPr>
          <p:cNvPr id="29" name="Text 22"/>
          <p:cNvSpPr/>
          <p:nvPr/>
        </p:nvSpPr>
        <p:spPr>
          <a:xfrm>
            <a:off x="5179466"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Security incidents</a:t>
            </a:r>
            <a:endParaRPr lang="en-US" sz="1450" dirty="0"/>
          </a:p>
        </p:txBody>
      </p:sp>
      <p:sp>
        <p:nvSpPr>
          <p:cNvPr id="30" name="Text 23"/>
          <p:cNvSpPr/>
          <p:nvPr/>
        </p:nvSpPr>
        <p:spPr>
          <a:xfrm>
            <a:off x="4566818"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Confirmed leakage events past Gate 3. The only acceptable number is zero; one incident likely ends the program.</a:t>
            </a:r>
            <a:endParaRPr lang="en-US" sz="1100" dirty="0"/>
          </a:p>
        </p:txBody>
      </p:sp>
      <p:sp>
        <p:nvSpPr>
          <p:cNvPr id="31" name="Shape 24"/>
          <p:cNvSpPr/>
          <p:nvPr/>
        </p:nvSpPr>
        <p:spPr>
          <a:xfrm>
            <a:off x="8127797"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32" name="Shape 25"/>
          <p:cNvSpPr/>
          <p:nvPr/>
        </p:nvSpPr>
        <p:spPr>
          <a:xfrm>
            <a:off x="8328965" y="4087368"/>
            <a:ext cx="502920" cy="502920"/>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59724" y="4218127"/>
            <a:ext cx="241402" cy="241402"/>
          </a:xfrm>
          <a:prstGeom prst="rect">
            <a:avLst/>
          </a:prstGeom>
        </p:spPr>
      </p:pic>
      <p:sp>
        <p:nvSpPr>
          <p:cNvPr id="34" name="Text 26"/>
          <p:cNvSpPr/>
          <p:nvPr/>
        </p:nvSpPr>
        <p:spPr>
          <a:xfrm>
            <a:off x="8969045"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Bus-factor spread</a:t>
            </a:r>
            <a:endParaRPr lang="en-US" sz="1450" dirty="0"/>
          </a:p>
        </p:txBody>
      </p:sp>
      <p:sp>
        <p:nvSpPr>
          <p:cNvPr id="35" name="Text 27"/>
          <p:cNvSpPr/>
          <p:nvPr/>
        </p:nvSpPr>
        <p:spPr>
          <a:xfrm>
            <a:off x="8356397"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Per contractor duty: runbook exists + a core-team member has executed it this quarter. 100% = Phase 3 can trigger any day.</a:t>
            </a:r>
            <a:endParaRPr lang="en-US" sz="1100" dirty="0"/>
          </a:p>
        </p:txBody>
      </p:sp>
      <p:sp>
        <p:nvSpPr>
          <p:cNvPr id="36" name="Text 28"/>
          <p:cNvSpPr/>
          <p:nvPr/>
        </p:nvSpPr>
        <p:spPr>
          <a:xfrm>
            <a:off x="548640" y="598932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Publish the scoreboard monthly — to stakeholders, not just the team. Transparency is the counter-narrative.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16</a:t>
            </a:r>
            <a:endParaRPr lang="en-US" sz="900" dirty="0"/>
          </a:p>
        </p:txBody>
      </p:sp>
      <p:sp>
        <p:nvSpPr>
          <p:cNvPr id="4" name="Shape 2"/>
          <p:cNvSpPr/>
          <p:nvPr/>
        </p:nvSpPr>
        <p:spPr>
          <a:xfrm>
            <a:off x="-2286000" y="3474720"/>
            <a:ext cx="6400800" cy="6400800"/>
          </a:xfrm>
          <a:prstGeom prst="ellipse">
            <a:avLst/>
          </a:prstGeom>
          <a:solidFill>
            <a:srgbClr val="2A3A7A">
              <a:alpha val="40000"/>
            </a:srgbClr>
          </a:solidFill>
          <a:ln/>
        </p:spPr>
      </p:sp>
      <p:sp>
        <p:nvSpPr>
          <p:cNvPr id="5" name="Text 3"/>
          <p:cNvSpPr/>
          <p:nvPr/>
        </p:nvSpPr>
        <p:spPr>
          <a:xfrm>
            <a:off x="548640" y="822960"/>
            <a:ext cx="11094415" cy="36576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THE DECISION WE ARE ASKING FOR</a:t>
            </a:r>
            <a:endParaRPr lang="en-US" sz="1300" dirty="0"/>
          </a:p>
        </p:txBody>
      </p:sp>
      <p:sp>
        <p:nvSpPr>
          <p:cNvPr id="6" name="Text 4"/>
          <p:cNvSpPr/>
          <p:nvPr/>
        </p:nvSpPr>
        <p:spPr>
          <a:xfrm>
            <a:off x="548640" y="1188720"/>
            <a:ext cx="11094415"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Sanction the factory.</a:t>
            </a:r>
            <a:endParaRPr lang="en-US" sz="4400" dirty="0"/>
          </a:p>
        </p:txBody>
      </p:sp>
      <p:sp>
        <p:nvSpPr>
          <p:cNvPr id="7" name="Text 5"/>
          <p:cNvSpPr/>
          <p:nvPr/>
        </p:nvSpPr>
        <p:spPr>
          <a:xfrm>
            <a:off x="548640" y="2377440"/>
            <a:ext cx="10607040" cy="2377440"/>
          </a:xfrm>
          <a:prstGeom prst="rect">
            <a:avLst/>
          </a:prstGeom>
          <a:noFill/>
          <a:ln/>
        </p:spPr>
        <p:txBody>
          <a:bodyPr wrap="square" lIns="0" tIns="0" rIns="0" bIns="0" rtlCol="0" anchor="ctr"/>
          <a:lstStyle/>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Authorize a bounded Phase-0 pilot in writing: one feature, defined egress channel, defined gates</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Name the approvers: engineering supervisor for Tiers 1–2, a cyber/SW-assurance fast-track contact for Tier 3</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Fund the gate tooling: scanner integration, egress ledger, logic-pack contract &amp; validators</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Endorse the workforce message: contractors get a real transition story, told early and honestly</a:t>
            </a:r>
            <a:endParaRPr lang="en-US" sz="1600" dirty="0"/>
          </a:p>
        </p:txBody>
      </p:sp>
      <p:sp>
        <p:nvSpPr>
          <p:cNvPr id="8" name="Text 6"/>
          <p:cNvSpPr/>
          <p:nvPr/>
        </p:nvSpPr>
        <p:spPr>
          <a:xfrm>
            <a:off x="548640" y="5120640"/>
            <a:ext cx="10607040" cy="10058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 will not out-slow the disruption, and we must not out-cowboy it.
</a:t>
            </a:r>
            <a:pPr indent="0" marL="0">
              <a:buNone/>
            </a:pPr>
            <a:r>
              <a:rPr lang="en-US" sz="1700" dirty="0">
                <a:solidFill>
                  <a:srgbClr val="CADCFC"/>
                </a:solidFill>
                <a:latin typeface="Calibri" pitchFamily="34" charset="0"/>
                <a:ea typeface="Calibri" pitchFamily="34" charset="-122"/>
                <a:cs typeface="Calibri" pitchFamily="34" charset="-120"/>
              </a:rPr>
              <a:t>Internet speed, airgap discipline — the same loop, run in the open, with the gates that make it defensible.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Core Engineering</dc:creator>
  <cp:lastModifiedBy>Core Engineering</cp:lastModifiedBy>
  <cp:revision>1</cp:revision>
  <dcterms:created xsi:type="dcterms:W3CDTF">2026-07-18T13:44:13Z</dcterms:created>
  <dcterms:modified xsi:type="dcterms:W3CDTF">2026-07-18T13:44:13Z</dcterms:modified>
</cp:coreProperties>
</file>