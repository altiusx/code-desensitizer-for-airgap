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595360" y="-2011680"/>
            <a:ext cx="6400800" cy="6400800"/>
          </a:xfrm>
          <a:prstGeom prst="ellipse">
            <a:avLst/>
          </a:prstGeom>
          <a:solidFill>
            <a:srgbClr val="2A3A7A">
              <a:alpha val="45000"/>
            </a:srgbClr>
          </a:solidFill>
          <a:ln/>
        </p:spPr>
      </p:sp>
      <p:sp>
        <p:nvSpPr>
          <p:cNvPr id="3" name="Shape 1"/>
          <p:cNvSpPr/>
          <p:nvPr/>
        </p:nvSpPr>
        <p:spPr>
          <a:xfrm>
            <a:off x="9875520" y="3291840"/>
            <a:ext cx="5029200" cy="5029200"/>
          </a:xfrm>
          <a:prstGeom prst="ellipse">
            <a:avLst/>
          </a:prstGeom>
          <a:solidFill>
            <a:srgbClr val="2A3A7A">
              <a:alpha val="30000"/>
            </a:srgbClr>
          </a:solidFill>
          <a:ln/>
        </p:spPr>
      </p:sp>
      <p:sp>
        <p:nvSpPr>
          <p:cNvPr id="4" name="Shape 2"/>
          <p:cNvSpPr/>
          <p:nvPr/>
        </p:nvSpPr>
        <p:spPr>
          <a:xfrm>
            <a:off x="548640" y="1051560"/>
            <a:ext cx="777240" cy="777240"/>
          </a:xfrm>
          <a:prstGeom prst="ellipse">
            <a:avLst/>
          </a:prstGeom>
          <a:solidFill>
            <a:srgbClr val="2A3A7A"/>
          </a:solidFill>
          <a:ln/>
        </p:spPr>
      </p:sp>
      <p:pic>
        <p:nvPicPr>
          <p:cNvPr id="5" name="Image 0" descr="preencoded.png">    </p:cNvPr>
          <p:cNvPicPr>
            <a:picLocks noChangeAspect="1"/>
          </p:cNvPicPr>
          <p:nvPr/>
        </p:nvPicPr>
        <p:blipFill>
          <a:blip r:embed="rId1"/>
          <a:stretch>
            <a:fillRect/>
          </a:stretch>
        </p:blipFill>
        <p:spPr>
          <a:xfrm>
            <a:off x="750722" y="1253642"/>
            <a:ext cx="373075" cy="373075"/>
          </a:xfrm>
          <a:prstGeom prst="rect">
            <a:avLst/>
          </a:prstGeom>
        </p:spPr>
      </p:pic>
      <p:sp>
        <p:nvSpPr>
          <p:cNvPr id="6" name="Text 3"/>
          <p:cNvSpPr/>
          <p:nvPr/>
        </p:nvSpPr>
        <p:spPr>
          <a:xfrm>
            <a:off x="548640" y="2148840"/>
            <a:ext cx="9601200" cy="320040"/>
          </a:xfrm>
          <a:prstGeom prst="rect">
            <a:avLst/>
          </a:prstGeom>
          <a:noFill/>
          <a:ln/>
        </p:spPr>
        <p:txBody>
          <a:bodyPr wrap="square" lIns="0" tIns="0" rIns="0" bIns="0" rtlCol="0" anchor="ctr"/>
          <a:lstStyle/>
          <a:p>
            <a:pPr indent="0" marL="0">
              <a:buNone/>
            </a:pPr>
            <a:r>
              <a:rPr lang="en-US" sz="1300" b="1" spc="300" kern="0" dirty="0">
                <a:solidFill>
                  <a:srgbClr val="CADCFC"/>
                </a:solidFill>
                <a:latin typeface="Calibri" pitchFamily="34" charset="0"/>
                <a:ea typeface="Calibri" pitchFamily="34" charset="-122"/>
                <a:cs typeface="Calibri" pitchFamily="34" charset="-120"/>
              </a:rPr>
              <a:t>A DISCIPLINED DELIVERY PARADIGM FOR CLASSIFIED ENVIRONMENTS</a:t>
            </a:r>
            <a:endParaRPr lang="en-US" sz="1300" dirty="0"/>
          </a:p>
        </p:txBody>
      </p:sp>
      <p:sp>
        <p:nvSpPr>
          <p:cNvPr id="7" name="Text 4"/>
          <p:cNvSpPr/>
          <p:nvPr/>
        </p:nvSpPr>
        <p:spPr>
          <a:xfrm>
            <a:off x="548640" y="2468880"/>
            <a:ext cx="10515600" cy="2011680"/>
          </a:xfrm>
          <a:prstGeom prst="rect">
            <a:avLst/>
          </a:prstGeom>
          <a:noFill/>
          <a:ln/>
        </p:spPr>
        <p:txBody>
          <a:bodyPr wrap="square" lIns="0" tIns="0" rIns="0" bIns="0" rtlCol="0" anchor="ctr"/>
          <a:lstStyle/>
          <a:p>
            <a:pPr indent="0" marL="0">
              <a:lnSpc>
                <a:spcPct val="100000"/>
              </a:lnSpc>
              <a:buNone/>
            </a:pPr>
            <a:r>
              <a:rPr lang="en-US" sz="5400" b="1" dirty="0">
                <a:solidFill>
                  <a:srgbClr val="FFFFFF"/>
                </a:solidFill>
                <a:latin typeface="Cambria" pitchFamily="34" charset="0"/>
                <a:ea typeface="Cambria" pitchFamily="34" charset="-122"/>
                <a:cs typeface="Cambria" pitchFamily="34" charset="-120"/>
              </a:rPr>
              <a:t>Internet-First,</a:t>
            </a:r>
            <a:endParaRPr lang="en-US" sz="5400" dirty="0"/>
          </a:p>
          <a:p>
            <a:pPr indent="0" marL="0">
              <a:lnSpc>
                <a:spcPct val="100000"/>
              </a:lnSpc>
              <a:buNone/>
            </a:pPr>
            <a:r>
              <a:rPr lang="en-US" sz="5400" b="1" dirty="0">
                <a:solidFill>
                  <a:srgbClr val="FFFFFF"/>
                </a:solidFill>
                <a:latin typeface="Cambria" pitchFamily="34" charset="0"/>
                <a:ea typeface="Cambria" pitchFamily="34" charset="-122"/>
                <a:cs typeface="Cambria" pitchFamily="34" charset="-120"/>
              </a:rPr>
              <a:t>Airgap-Final</a:t>
            </a:r>
            <a:endParaRPr lang="en-US" sz="5400" dirty="0"/>
          </a:p>
        </p:txBody>
      </p:sp>
      <p:sp>
        <p:nvSpPr>
          <p:cNvPr id="8" name="Text 5"/>
          <p:cNvSpPr/>
          <p:nvPr/>
        </p:nvSpPr>
        <p:spPr>
          <a:xfrm>
            <a:off x="548640" y="4663440"/>
            <a:ext cx="8778240" cy="82296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Build at internet speed on desensitized parallels. Integrate behind the gate.</a:t>
            </a:r>
            <a:endParaRPr lang="en-US" sz="1600" dirty="0"/>
          </a:p>
          <a:p>
            <a:pPr indent="0" marL="0">
              <a:buNone/>
            </a:pPr>
            <a:r>
              <a:rPr lang="en-US" sz="1600" dirty="0">
                <a:solidFill>
                  <a:srgbClr val="CADCFC"/>
                </a:solidFill>
                <a:latin typeface="Calibri" pitchFamily="34" charset="0"/>
                <a:ea typeface="Calibri" pitchFamily="34" charset="-122"/>
                <a:cs typeface="Calibri" pitchFamily="34" charset="-120"/>
              </a:rPr>
              <a:t>Never move what matters: names, data, rules, and mapping.json stay inside.</a:t>
            </a:r>
            <a:endParaRPr lang="en-US" sz="1600" dirty="0"/>
          </a:p>
        </p:txBody>
      </p:sp>
      <p:sp>
        <p:nvSpPr>
          <p:cNvPr id="9" name="Text 6"/>
          <p:cNvSpPr/>
          <p:nvPr/>
        </p:nvSpPr>
        <p:spPr>
          <a:xfrm>
            <a:off x="548640" y="5943600"/>
            <a:ext cx="731520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Core Engineering Team  ·  Strategy Proposal  ·  July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algn="l" indent="0" marL="0">
              <a:buNone/>
            </a:pPr>
            <a:r>
              <a:rPr lang="en-US" sz="900" dirty="0">
                <a:solidFill>
                  <a:srgbClr val="5A6B8C"/>
                </a:solidFill>
                <a:latin typeface="Calibri" pitchFamily="34" charset="0"/>
                <a:ea typeface="Calibri" pitchFamily="34" charset="-122"/>
                <a:cs typeface="Calibri" pitchFamily="34" charset="-120"/>
              </a:rPr>
              <a:t>Internet-First, Airgap-Final</a:t>
            </a:r>
            <a:endParaRPr lang="en-US" sz="900" dirty="0"/>
          </a:p>
        </p:txBody>
      </p:sp>
      <p:sp>
        <p:nvSpPr>
          <p:cNvPr id="3" name="Text 1"/>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A6B8C"/>
                </a:solidFill>
                <a:latin typeface="Calibri" pitchFamily="34" charset="0"/>
                <a:ea typeface="Calibri" pitchFamily="34" charset="-122"/>
                <a:cs typeface="Calibri" pitchFamily="34" charset="-120"/>
              </a:rPr>
              <a:t>2</a:t>
            </a:r>
            <a:endParaRPr lang="en-US" sz="900" dirty="0"/>
          </a:p>
        </p:txBody>
      </p:sp>
      <p:sp>
        <p:nvSpPr>
          <p:cNvPr id="4" name="Text 2"/>
          <p:cNvSpPr/>
          <p:nvPr/>
        </p:nvSpPr>
        <p:spPr>
          <a:xfrm>
            <a:off x="548640" y="384048"/>
            <a:ext cx="11094415" cy="274320"/>
          </a:xfrm>
          <a:prstGeom prst="rect">
            <a:avLst/>
          </a:prstGeom>
          <a:noFill/>
          <a:ln/>
        </p:spPr>
        <p:txBody>
          <a:bodyPr wrap="square" lIns="0" tIns="0" rIns="0" bIns="0" rtlCol="0" anchor="ctr"/>
          <a:lstStyle/>
          <a:p>
            <a:pPr indent="0" marL="0">
              <a:buNone/>
            </a:pPr>
            <a:r>
              <a:rPr lang="en-US" sz="1200" b="1" spc="300" kern="0" dirty="0">
                <a:solidFill>
                  <a:srgbClr val="5A6B8C"/>
                </a:solidFill>
                <a:latin typeface="Calibri" pitchFamily="34" charset="0"/>
                <a:ea typeface="Calibri" pitchFamily="34" charset="-122"/>
                <a:cs typeface="Calibri" pitchFamily="34" charset="-120"/>
              </a:rPr>
              <a:t>THE BURNING PLATFORM</a:t>
            </a:r>
            <a:endParaRPr lang="en-US" sz="1200" dirty="0"/>
          </a:p>
        </p:txBody>
      </p:sp>
      <p:sp>
        <p:nvSpPr>
          <p:cNvPr id="5" name="Text 3"/>
          <p:cNvSpPr/>
          <p:nvPr/>
        </p:nvSpPr>
        <p:spPr>
          <a:xfrm>
            <a:off x="548640" y="658368"/>
            <a:ext cx="11094415" cy="621792"/>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Why we must change how we build</a:t>
            </a:r>
            <a:endParaRPr lang="en-US" sz="3000" dirty="0"/>
          </a:p>
        </p:txBody>
      </p:sp>
      <p:sp>
        <p:nvSpPr>
          <p:cNvPr id="6" name="Shape 4"/>
          <p:cNvSpPr/>
          <p:nvPr/>
        </p:nvSpPr>
        <p:spPr>
          <a:xfrm>
            <a:off x="548640" y="1600200"/>
            <a:ext cx="3520440" cy="1965960"/>
          </a:xfrm>
          <a:prstGeom prst="roundRect">
            <a:avLst>
              <a:gd name="adj" fmla="val 3721"/>
            </a:avLst>
          </a:prstGeom>
          <a:solidFill>
            <a:srgbClr val="EDF3FC"/>
          </a:solidFill>
          <a:ln/>
          <a:effectLst>
            <a:outerShdw sx="100000" sy="100000" kx="0" ky="0" algn="bl" rotWithShape="0" blurRad="76200" dist="12700" dir="5400000">
              <a:srgbClr val="9AA7C4">
                <a:alpha val="25000"/>
              </a:srgbClr>
            </a:outerShdw>
          </a:effectLst>
        </p:spPr>
      </p:sp>
      <p:sp>
        <p:nvSpPr>
          <p:cNvPr id="7" name="Shape 5"/>
          <p:cNvSpPr/>
          <p:nvPr/>
        </p:nvSpPr>
        <p:spPr>
          <a:xfrm>
            <a:off x="777240" y="1828800"/>
            <a:ext cx="502920" cy="502920"/>
          </a:xfrm>
          <a:prstGeom prst="ellipse">
            <a:avLst/>
          </a:prstGeom>
          <a:solidFill>
            <a:srgbClr val="1E2761"/>
          </a:solidFill>
          <a:ln/>
        </p:spPr>
      </p:sp>
      <p:pic>
        <p:nvPicPr>
          <p:cNvPr id="8" name="Image 0" descr="preencoded.png">    </p:cNvPr>
          <p:cNvPicPr>
            <a:picLocks noChangeAspect="1"/>
          </p:cNvPicPr>
          <p:nvPr/>
        </p:nvPicPr>
        <p:blipFill>
          <a:blip r:embed="rId1"/>
          <a:stretch>
            <a:fillRect/>
          </a:stretch>
        </p:blipFill>
        <p:spPr>
          <a:xfrm>
            <a:off x="907999" y="1959559"/>
            <a:ext cx="241402" cy="241402"/>
          </a:xfrm>
          <a:prstGeom prst="rect">
            <a:avLst/>
          </a:prstGeom>
        </p:spPr>
      </p:pic>
      <p:sp>
        <p:nvSpPr>
          <p:cNvPr id="9" name="Text 6"/>
          <p:cNvSpPr/>
          <p:nvPr/>
        </p:nvSpPr>
        <p:spPr>
          <a:xfrm>
            <a:off x="1417320" y="1764792"/>
            <a:ext cx="2514600" cy="685800"/>
          </a:xfrm>
          <a:prstGeom prst="rect">
            <a:avLst/>
          </a:prstGeom>
          <a:noFill/>
          <a:ln/>
        </p:spPr>
        <p:txBody>
          <a:bodyPr wrap="square" lIns="0" tIns="0" rIns="0" bIns="0" rtlCol="0" anchor="ctr"/>
          <a:lstStyle/>
          <a:p>
            <a:pPr indent="0" marL="0">
              <a:buNone/>
            </a:pPr>
            <a:r>
              <a:rPr lang="en-US" sz="4000" b="1" dirty="0">
                <a:solidFill>
                  <a:srgbClr val="1E2761"/>
                </a:solidFill>
                <a:latin typeface="Cambria" pitchFamily="34" charset="0"/>
                <a:ea typeface="Cambria" pitchFamily="34" charset="-122"/>
                <a:cs typeface="Cambria" pitchFamily="34" charset="-120"/>
              </a:rPr>
              <a:t>6–8 mo</a:t>
            </a:r>
            <a:endParaRPr lang="en-US" sz="4000" dirty="0"/>
          </a:p>
        </p:txBody>
      </p:sp>
      <p:sp>
        <p:nvSpPr>
          <p:cNvPr id="10" name="Text 7"/>
          <p:cNvSpPr/>
          <p:nvPr/>
        </p:nvSpPr>
        <p:spPr>
          <a:xfrm>
            <a:off x="777240" y="2560320"/>
            <a:ext cx="3063240" cy="914400"/>
          </a:xfrm>
          <a:prstGeom prst="rect">
            <a:avLst/>
          </a:prstGeom>
          <a:noFill/>
          <a:ln/>
        </p:spPr>
        <p:txBody>
          <a:bodyPr wrap="square" lIns="0" tIns="0" rIns="0" bIns="0" rtlCol="0" anchor="ctr"/>
          <a:lstStyle/>
          <a:p>
            <a:pPr indent="0" marL="0">
              <a:buNone/>
            </a:pPr>
            <a:r>
              <a:rPr lang="en-US" sz="1250" dirty="0">
                <a:solidFill>
                  <a:srgbClr val="1B2440"/>
                </a:solidFill>
                <a:latin typeface="Calibri" pitchFamily="34" charset="0"/>
                <a:ea typeface="Calibri" pitchFamily="34" charset="-122"/>
                <a:cs typeface="Calibri" pitchFamily="34" charset="-120"/>
              </a:rPr>
              <a:t>to deliver the backbone of ONE MFE —</a:t>
            </a:r>
            <a:endParaRPr lang="en-US" sz="1250" dirty="0"/>
          </a:p>
          <a:p>
            <a:pPr indent="0" marL="0">
              <a:buNone/>
            </a:pPr>
            <a:r>
              <a:rPr lang="en-US" sz="1250" dirty="0">
                <a:solidFill>
                  <a:srgbClr val="1B2440"/>
                </a:solidFill>
                <a:latin typeface="Calibri" pitchFamily="34" charset="0"/>
                <a:ea typeface="Calibri" pitchFamily="34" charset="-122"/>
                <a:cs typeface="Calibri" pitchFamily="34" charset="-120"/>
              </a:rPr>
              <a:t>and it was one of the easier ones</a:t>
            </a:r>
            <a:endParaRPr lang="en-US" sz="1250" dirty="0"/>
          </a:p>
        </p:txBody>
      </p:sp>
      <p:sp>
        <p:nvSpPr>
          <p:cNvPr id="11" name="Shape 8"/>
          <p:cNvSpPr/>
          <p:nvPr/>
        </p:nvSpPr>
        <p:spPr>
          <a:xfrm>
            <a:off x="4334256" y="1600200"/>
            <a:ext cx="3520440" cy="1965960"/>
          </a:xfrm>
          <a:prstGeom prst="roundRect">
            <a:avLst>
              <a:gd name="adj" fmla="val 3721"/>
            </a:avLst>
          </a:prstGeom>
          <a:solidFill>
            <a:srgbClr val="EDF3FC"/>
          </a:solidFill>
          <a:ln/>
          <a:effectLst>
            <a:outerShdw sx="100000" sy="100000" kx="0" ky="0" algn="bl" rotWithShape="0" blurRad="76200" dist="12700" dir="5400000">
              <a:srgbClr val="9AA7C4">
                <a:alpha val="25000"/>
              </a:srgbClr>
            </a:outerShdw>
          </a:effectLst>
        </p:spPr>
      </p:sp>
      <p:sp>
        <p:nvSpPr>
          <p:cNvPr id="12" name="Shape 9"/>
          <p:cNvSpPr/>
          <p:nvPr/>
        </p:nvSpPr>
        <p:spPr>
          <a:xfrm>
            <a:off x="4562856" y="1828800"/>
            <a:ext cx="502920" cy="502920"/>
          </a:xfrm>
          <a:prstGeom prst="ellipse">
            <a:avLst/>
          </a:prstGeom>
          <a:solidFill>
            <a:srgbClr val="1E2761"/>
          </a:solidFill>
          <a:ln/>
        </p:spPr>
      </p:sp>
      <p:pic>
        <p:nvPicPr>
          <p:cNvPr id="13" name="Image 1" descr="preencoded.png">    </p:cNvPr>
          <p:cNvPicPr>
            <a:picLocks noChangeAspect="1"/>
          </p:cNvPicPr>
          <p:nvPr/>
        </p:nvPicPr>
        <p:blipFill>
          <a:blip r:embed="rId2"/>
          <a:stretch>
            <a:fillRect/>
          </a:stretch>
        </p:blipFill>
        <p:spPr>
          <a:xfrm>
            <a:off x="4693615" y="1959559"/>
            <a:ext cx="241402" cy="241402"/>
          </a:xfrm>
          <a:prstGeom prst="rect">
            <a:avLst/>
          </a:prstGeom>
        </p:spPr>
      </p:pic>
      <p:sp>
        <p:nvSpPr>
          <p:cNvPr id="14" name="Text 10"/>
          <p:cNvSpPr/>
          <p:nvPr/>
        </p:nvSpPr>
        <p:spPr>
          <a:xfrm>
            <a:off x="5202936" y="1764792"/>
            <a:ext cx="2514600" cy="685800"/>
          </a:xfrm>
          <a:prstGeom prst="rect">
            <a:avLst/>
          </a:prstGeom>
          <a:noFill/>
          <a:ln/>
        </p:spPr>
        <p:txBody>
          <a:bodyPr wrap="square" lIns="0" tIns="0" rIns="0" bIns="0" rtlCol="0" anchor="ctr"/>
          <a:lstStyle/>
          <a:p>
            <a:pPr indent="0" marL="0">
              <a:buNone/>
            </a:pPr>
            <a:r>
              <a:rPr lang="en-US" sz="4000" b="1" dirty="0">
                <a:solidFill>
                  <a:srgbClr val="1E2761"/>
                </a:solidFill>
                <a:latin typeface="Cambria" pitchFamily="34" charset="0"/>
                <a:ea typeface="Cambria" pitchFamily="34" charset="-122"/>
                <a:cs typeface="Cambria" pitchFamily="34" charset="-120"/>
              </a:rPr>
              <a:t>“days”</a:t>
            </a:r>
            <a:endParaRPr lang="en-US" sz="4000" dirty="0"/>
          </a:p>
        </p:txBody>
      </p:sp>
      <p:sp>
        <p:nvSpPr>
          <p:cNvPr id="15" name="Text 11"/>
          <p:cNvSpPr/>
          <p:nvPr/>
        </p:nvSpPr>
        <p:spPr>
          <a:xfrm>
            <a:off x="4562856" y="2560320"/>
            <a:ext cx="3063240" cy="914400"/>
          </a:xfrm>
          <a:prstGeom prst="rect">
            <a:avLst/>
          </a:prstGeom>
          <a:noFill/>
          <a:ln/>
        </p:spPr>
        <p:txBody>
          <a:bodyPr wrap="square" lIns="0" tIns="0" rIns="0" bIns="0" rtlCol="0" anchor="ctr"/>
          <a:lstStyle/>
          <a:p>
            <a:pPr indent="0" marL="0">
              <a:buNone/>
            </a:pPr>
            <a:r>
              <a:rPr lang="en-US" sz="1250" dirty="0">
                <a:solidFill>
                  <a:srgbClr val="1B2440"/>
                </a:solidFill>
                <a:latin typeface="Calibri" pitchFamily="34" charset="0"/>
                <a:ea typeface="Calibri" pitchFamily="34" charset="-122"/>
                <a:cs typeface="Calibri" pitchFamily="34" charset="-120"/>
              </a:rPr>
              <a:t>what GenAI-adopter user teams now</a:t>
            </a:r>
            <a:endParaRPr lang="en-US" sz="1250" dirty="0"/>
          </a:p>
          <a:p>
            <a:pPr indent="0" marL="0">
              <a:buNone/>
            </a:pPr>
            <a:r>
              <a:rPr lang="en-US" sz="1250" dirty="0">
                <a:solidFill>
                  <a:srgbClr val="1B2440"/>
                </a:solidFill>
                <a:latin typeface="Calibri" pitchFamily="34" charset="0"/>
                <a:ea typeface="Calibri" pitchFamily="34" charset="-122"/>
                <a:cs typeface="Calibri" pitchFamily="34" charset="-120"/>
              </a:rPr>
              <a:t>promise stakeholders for the same features</a:t>
            </a:r>
            <a:endParaRPr lang="en-US" sz="1250" dirty="0"/>
          </a:p>
        </p:txBody>
      </p:sp>
      <p:sp>
        <p:nvSpPr>
          <p:cNvPr id="16" name="Shape 12"/>
          <p:cNvSpPr/>
          <p:nvPr/>
        </p:nvSpPr>
        <p:spPr>
          <a:xfrm>
            <a:off x="8119872" y="1600200"/>
            <a:ext cx="3520440" cy="1965960"/>
          </a:xfrm>
          <a:prstGeom prst="roundRect">
            <a:avLst>
              <a:gd name="adj" fmla="val 3721"/>
            </a:avLst>
          </a:prstGeom>
          <a:solidFill>
            <a:srgbClr val="EDF3FC"/>
          </a:solidFill>
          <a:ln/>
          <a:effectLst>
            <a:outerShdw sx="100000" sy="100000" kx="0" ky="0" algn="bl" rotWithShape="0" blurRad="76200" dist="12700" dir="5400000">
              <a:srgbClr val="9AA7C4">
                <a:alpha val="25000"/>
              </a:srgbClr>
            </a:outerShdw>
          </a:effectLst>
        </p:spPr>
      </p:sp>
      <p:sp>
        <p:nvSpPr>
          <p:cNvPr id="17" name="Shape 13"/>
          <p:cNvSpPr/>
          <p:nvPr/>
        </p:nvSpPr>
        <p:spPr>
          <a:xfrm>
            <a:off x="8348472" y="1828800"/>
            <a:ext cx="502920" cy="502920"/>
          </a:xfrm>
          <a:prstGeom prst="ellipse">
            <a:avLst/>
          </a:prstGeom>
          <a:solidFill>
            <a:srgbClr val="1E2761"/>
          </a:solidFill>
          <a:ln/>
        </p:spPr>
      </p:sp>
      <p:pic>
        <p:nvPicPr>
          <p:cNvPr id="18" name="Image 2" descr="preencoded.png">    </p:cNvPr>
          <p:cNvPicPr>
            <a:picLocks noChangeAspect="1"/>
          </p:cNvPicPr>
          <p:nvPr/>
        </p:nvPicPr>
        <p:blipFill>
          <a:blip r:embed="rId3"/>
          <a:stretch>
            <a:fillRect/>
          </a:stretch>
        </p:blipFill>
        <p:spPr>
          <a:xfrm>
            <a:off x="8479231" y="1959559"/>
            <a:ext cx="241402" cy="241402"/>
          </a:xfrm>
          <a:prstGeom prst="rect">
            <a:avLst/>
          </a:prstGeom>
        </p:spPr>
      </p:pic>
      <p:sp>
        <p:nvSpPr>
          <p:cNvPr id="19" name="Text 14"/>
          <p:cNvSpPr/>
          <p:nvPr/>
        </p:nvSpPr>
        <p:spPr>
          <a:xfrm>
            <a:off x="8988552" y="1764792"/>
            <a:ext cx="2514600" cy="685800"/>
          </a:xfrm>
          <a:prstGeom prst="rect">
            <a:avLst/>
          </a:prstGeom>
          <a:noFill/>
          <a:ln/>
        </p:spPr>
        <p:txBody>
          <a:bodyPr wrap="square" lIns="0" tIns="0" rIns="0" bIns="0" rtlCol="0" anchor="ctr"/>
          <a:lstStyle/>
          <a:p>
            <a:pPr indent="0" marL="0">
              <a:buNone/>
            </a:pPr>
            <a:r>
              <a:rPr lang="en-US" sz="4000" b="1" dirty="0">
                <a:solidFill>
                  <a:srgbClr val="1E2761"/>
                </a:solidFill>
                <a:latin typeface="Cambria" pitchFamily="34" charset="0"/>
                <a:ea typeface="Cambria" pitchFamily="34" charset="-122"/>
                <a:cs typeface="Cambria" pitchFamily="34" charset="-120"/>
              </a:rPr>
              <a:t>9 → 6</a:t>
            </a:r>
            <a:endParaRPr lang="en-US" sz="4000" dirty="0"/>
          </a:p>
        </p:txBody>
      </p:sp>
      <p:sp>
        <p:nvSpPr>
          <p:cNvPr id="20" name="Text 15"/>
          <p:cNvSpPr/>
          <p:nvPr/>
        </p:nvSpPr>
        <p:spPr>
          <a:xfrm>
            <a:off x="8348472" y="2560320"/>
            <a:ext cx="3063240" cy="914400"/>
          </a:xfrm>
          <a:prstGeom prst="rect">
            <a:avLst/>
          </a:prstGeom>
          <a:noFill/>
          <a:ln/>
        </p:spPr>
        <p:txBody>
          <a:bodyPr wrap="square" lIns="0" tIns="0" rIns="0" bIns="0" rtlCol="0" anchor="ctr"/>
          <a:lstStyle/>
          <a:p>
            <a:pPr indent="0" marL="0">
              <a:buNone/>
            </a:pPr>
            <a:r>
              <a:rPr lang="en-US" sz="1250" dirty="0">
                <a:solidFill>
                  <a:srgbClr val="1B2440"/>
                </a:solidFill>
                <a:latin typeface="Calibri" pitchFamily="34" charset="0"/>
                <a:ea typeface="Calibri" pitchFamily="34" charset="-122"/>
                <a:cs typeface="Calibri" pitchFamily="34" charset="-120"/>
              </a:rPr>
              <a:t>contractor-heavy team today; a mandated</a:t>
            </a:r>
            <a:endParaRPr lang="en-US" sz="1250" dirty="0"/>
          </a:p>
          <a:p>
            <a:pPr indent="0" marL="0">
              <a:buNone/>
            </a:pPr>
            <a:r>
              <a:rPr lang="en-US" sz="1250" dirty="0">
                <a:solidFill>
                  <a:srgbClr val="1B2440"/>
                </a:solidFill>
                <a:latin typeface="Calibri" pitchFamily="34" charset="0"/>
                <a:ea typeface="Calibri" pitchFamily="34" charset="-122"/>
                <a:cs typeface="Calibri" pitchFamily="34" charset="-120"/>
              </a:rPr>
              <a:t>headcount reduction is coming, date unknown</a:t>
            </a:r>
            <a:endParaRPr lang="en-US" sz="1250" dirty="0"/>
          </a:p>
        </p:txBody>
      </p:sp>
      <p:sp>
        <p:nvSpPr>
          <p:cNvPr id="21" name="Text 16"/>
          <p:cNvSpPr/>
          <p:nvPr/>
        </p:nvSpPr>
        <p:spPr>
          <a:xfrm>
            <a:off x="548640" y="3886200"/>
            <a:ext cx="11094415" cy="105156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The real threat is not the vibe-coders' speed — it is their story. </a:t>
            </a:r>
            <a:pPr indent="0" marL="0">
              <a:buNone/>
            </a:pPr>
            <a:r>
              <a:rPr lang="en-US" sz="1500" dirty="0">
                <a:solidFill>
                  <a:srgbClr val="1B2440"/>
                </a:solidFill>
                <a:latin typeface="Calibri" pitchFamily="34" charset="0"/>
                <a:ea typeface="Calibri" pitchFamily="34" charset="-122"/>
                <a:cs typeface="Calibri" pitchFamily="34" charset="-120"/>
              </a:rPr>
              <a:t>If stakeholders believe features take days, months-long cycles become politically indefensible, regardless of the engineering truth. Prototype speed is not production speed: their “adjust the naming later” approach has no tests, no security model, and no integration plan. But we can only win that argument by matching their velocity </a:t>
            </a:r>
            <a:pPr indent="0" marL="0">
              <a:buNone/>
            </a:pPr>
            <a:r>
              <a:rPr lang="en-US" sz="1500" i="1" dirty="0">
                <a:solidFill>
                  <a:srgbClr val="1B2440"/>
                </a:solidFill>
                <a:latin typeface="Calibri" pitchFamily="34" charset="0"/>
                <a:ea typeface="Calibri" pitchFamily="34" charset="-122"/>
                <a:cs typeface="Calibri" pitchFamily="34" charset="-120"/>
              </a:rPr>
              <a:t>with</a:t>
            </a:r>
            <a:pPr indent="0" marL="0">
              <a:buNone/>
            </a:pPr>
            <a:r>
              <a:rPr lang="en-US" sz="1500" dirty="0">
                <a:solidFill>
                  <a:srgbClr val="1B2440"/>
                </a:solidFill>
                <a:latin typeface="Calibri" pitchFamily="34" charset="0"/>
                <a:ea typeface="Calibri" pitchFamily="34" charset="-122"/>
                <a:cs typeface="Calibri" pitchFamily="34" charset="-120"/>
              </a:rPr>
              <a:t> discipline — not by defending slowness.</a:t>
            </a:r>
            <a:endParaRPr lang="en-US" sz="1500" dirty="0"/>
          </a:p>
        </p:txBody>
      </p:sp>
      <p:sp>
        <p:nvSpPr>
          <p:cNvPr id="22" name="Shape 17"/>
          <p:cNvSpPr/>
          <p:nvPr/>
        </p:nvSpPr>
        <p:spPr>
          <a:xfrm>
            <a:off x="548640" y="5120640"/>
            <a:ext cx="11094415" cy="1051560"/>
          </a:xfrm>
          <a:prstGeom prst="roundRect">
            <a:avLst>
              <a:gd name="adj" fmla="val 6957"/>
            </a:avLst>
          </a:prstGeom>
          <a:solidFill>
            <a:srgbClr val="EAF4EF"/>
          </a:solidFill>
          <a:ln/>
          <a:effectLst>
            <a:outerShdw sx="100000" sy="100000" kx="0" ky="0" algn="bl" rotWithShape="0" blurRad="76200" dist="12700" dir="5400000">
              <a:srgbClr val="9AA7C4">
                <a:alpha val="25000"/>
              </a:srgbClr>
            </a:outerShdw>
          </a:effectLst>
        </p:spPr>
      </p:sp>
      <p:sp>
        <p:nvSpPr>
          <p:cNvPr id="23" name="Shape 18"/>
          <p:cNvSpPr/>
          <p:nvPr/>
        </p:nvSpPr>
        <p:spPr>
          <a:xfrm>
            <a:off x="777240" y="5330952"/>
            <a:ext cx="594360" cy="594360"/>
          </a:xfrm>
          <a:prstGeom prst="ellipse">
            <a:avLst/>
          </a:prstGeom>
          <a:solidFill>
            <a:srgbClr val="2E7D5B"/>
          </a:solidFill>
          <a:ln/>
        </p:spPr>
      </p:sp>
      <p:pic>
        <p:nvPicPr>
          <p:cNvPr id="24" name="Image 3" descr="preencoded.png">    </p:cNvPr>
          <p:cNvPicPr>
            <a:picLocks noChangeAspect="1"/>
          </p:cNvPicPr>
          <p:nvPr/>
        </p:nvPicPr>
        <p:blipFill>
          <a:blip r:embed="rId4"/>
          <a:stretch>
            <a:fillRect/>
          </a:stretch>
        </p:blipFill>
        <p:spPr>
          <a:xfrm>
            <a:off x="931774" y="5485486"/>
            <a:ext cx="285293" cy="285293"/>
          </a:xfrm>
          <a:prstGeom prst="rect">
            <a:avLst/>
          </a:prstGeom>
        </p:spPr>
      </p:pic>
      <p:sp>
        <p:nvSpPr>
          <p:cNvPr id="25" name="Text 19"/>
          <p:cNvSpPr/>
          <p:nvPr/>
        </p:nvSpPr>
        <p:spPr>
          <a:xfrm>
            <a:off x="1554480" y="5257800"/>
            <a:ext cx="9859975" cy="822960"/>
          </a:xfrm>
          <a:prstGeom prst="rect">
            <a:avLst/>
          </a:prstGeom>
          <a:noFill/>
          <a:ln/>
        </p:spPr>
        <p:txBody>
          <a:bodyPr wrap="square" lIns="0" tIns="0" rIns="0" bIns="0" rtlCol="0" anchor="ctr"/>
          <a:lstStyle/>
          <a:p>
            <a:pPr indent="0" marL="0">
              <a:buNone/>
            </a:pPr>
            <a:r>
              <a:rPr lang="en-US" sz="1450" b="1" dirty="0">
                <a:solidFill>
                  <a:srgbClr val="2E7D5B"/>
                </a:solidFill>
                <a:latin typeface="Calibri" pitchFamily="34" charset="0"/>
                <a:ea typeface="Calibri" pitchFamily="34" charset="-122"/>
                <a:cs typeface="Calibri" pitchFamily="34" charset="-120"/>
              </a:rPr>
              <a:t>The bet:  </a:t>
            </a:r>
            <a:pPr indent="0" marL="0">
              <a:buNone/>
            </a:pPr>
            <a:r>
              <a:rPr lang="en-US" sz="1450" dirty="0">
                <a:solidFill>
                  <a:srgbClr val="1B2440"/>
                </a:solidFill>
                <a:latin typeface="Calibri" pitchFamily="34" charset="0"/>
                <a:ea typeface="Calibri" pitchFamily="34" charset="-122"/>
                <a:cs typeface="Calibri" pitchFamily="34" charset="-120"/>
              </a:rPr>
              <a:t>≈90% of our application logic is not classified — only terminology, data, and specific rule values are. So we build the 90% at internet speed under a fictional context, and bind the classified 10% inside the airgap.</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algn="l" indent="0" marL="0">
              <a:buNone/>
            </a:pPr>
            <a:r>
              <a:rPr lang="en-US" sz="900" dirty="0">
                <a:solidFill>
                  <a:srgbClr val="5A6B8C"/>
                </a:solidFill>
                <a:latin typeface="Calibri" pitchFamily="34" charset="0"/>
                <a:ea typeface="Calibri" pitchFamily="34" charset="-122"/>
                <a:cs typeface="Calibri" pitchFamily="34" charset="-120"/>
              </a:rPr>
              <a:t>Internet-First, Airgap-Final</a:t>
            </a:r>
            <a:endParaRPr lang="en-US" sz="900" dirty="0"/>
          </a:p>
        </p:txBody>
      </p:sp>
      <p:sp>
        <p:nvSpPr>
          <p:cNvPr id="3" name="Text 1"/>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A6B8C"/>
                </a:solidFill>
                <a:latin typeface="Calibri" pitchFamily="34" charset="0"/>
                <a:ea typeface="Calibri" pitchFamily="34" charset="-122"/>
                <a:cs typeface="Calibri" pitchFamily="34" charset="-120"/>
              </a:rPr>
              <a:t>3</a:t>
            </a:r>
            <a:endParaRPr lang="en-US" sz="900" dirty="0"/>
          </a:p>
        </p:txBody>
      </p:sp>
      <p:sp>
        <p:nvSpPr>
          <p:cNvPr id="4" name="Text 2"/>
          <p:cNvSpPr/>
          <p:nvPr/>
        </p:nvSpPr>
        <p:spPr>
          <a:xfrm>
            <a:off x="548640" y="384048"/>
            <a:ext cx="11094415" cy="274320"/>
          </a:xfrm>
          <a:prstGeom prst="rect">
            <a:avLst/>
          </a:prstGeom>
          <a:noFill/>
          <a:ln/>
        </p:spPr>
        <p:txBody>
          <a:bodyPr wrap="square" lIns="0" tIns="0" rIns="0" bIns="0" rtlCol="0" anchor="ctr"/>
          <a:lstStyle/>
          <a:p>
            <a:pPr indent="0" marL="0">
              <a:buNone/>
            </a:pPr>
            <a:r>
              <a:rPr lang="en-US" sz="1200" b="1" spc="300" kern="0" dirty="0">
                <a:solidFill>
                  <a:srgbClr val="5A6B8C"/>
                </a:solidFill>
                <a:latin typeface="Calibri" pitchFamily="34" charset="0"/>
                <a:ea typeface="Calibri" pitchFamily="34" charset="-122"/>
                <a:cs typeface="Calibri" pitchFamily="34" charset="-120"/>
              </a:rPr>
              <a:t>THE OPERATING MODEL</a:t>
            </a:r>
            <a:endParaRPr lang="en-US" sz="1200" dirty="0"/>
          </a:p>
        </p:txBody>
      </p:sp>
      <p:sp>
        <p:nvSpPr>
          <p:cNvPr id="5" name="Text 3"/>
          <p:cNvSpPr/>
          <p:nvPr/>
        </p:nvSpPr>
        <p:spPr>
          <a:xfrm>
            <a:off x="548640" y="658368"/>
            <a:ext cx="11094415" cy="621792"/>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One loop, two worlds, a gate between them</a:t>
            </a:r>
            <a:endParaRPr lang="en-US" sz="3000" dirty="0"/>
          </a:p>
        </p:txBody>
      </p:sp>
      <p:sp>
        <p:nvSpPr>
          <p:cNvPr id="6" name="Shape 4"/>
          <p:cNvSpPr/>
          <p:nvPr/>
        </p:nvSpPr>
        <p:spPr>
          <a:xfrm>
            <a:off x="548640" y="1828800"/>
            <a:ext cx="1755648" cy="2377440"/>
          </a:xfrm>
          <a:prstGeom prst="roundRect">
            <a:avLst>
              <a:gd name="adj" fmla="val 4167"/>
            </a:avLst>
          </a:prstGeom>
          <a:solidFill>
            <a:srgbClr val="EDF3FC"/>
          </a:solidFill>
          <a:ln/>
          <a:effectLst>
            <a:outerShdw sx="100000" sy="100000" kx="0" ky="0" algn="bl" rotWithShape="0" blurRad="76200" dist="12700" dir="5400000">
              <a:srgbClr val="9AA7C4">
                <a:alpha val="25000"/>
              </a:srgbClr>
            </a:outerShdw>
          </a:effectLst>
        </p:spPr>
      </p:sp>
      <p:sp>
        <p:nvSpPr>
          <p:cNvPr id="7" name="Shape 5"/>
          <p:cNvSpPr/>
          <p:nvPr/>
        </p:nvSpPr>
        <p:spPr>
          <a:xfrm>
            <a:off x="1152144" y="2029968"/>
            <a:ext cx="548640" cy="548640"/>
          </a:xfrm>
          <a:prstGeom prst="ellipse">
            <a:avLst/>
          </a:prstGeom>
          <a:solidFill>
            <a:srgbClr val="1E2761"/>
          </a:solidFill>
          <a:ln/>
        </p:spPr>
      </p:sp>
      <p:pic>
        <p:nvPicPr>
          <p:cNvPr id="8" name="Image 0" descr="preencoded.png">    </p:cNvPr>
          <p:cNvPicPr>
            <a:picLocks noChangeAspect="1"/>
          </p:cNvPicPr>
          <p:nvPr/>
        </p:nvPicPr>
        <p:blipFill>
          <a:blip r:embed="rId1"/>
          <a:stretch>
            <a:fillRect/>
          </a:stretch>
        </p:blipFill>
        <p:spPr>
          <a:xfrm>
            <a:off x="1294790" y="2172614"/>
            <a:ext cx="263347" cy="263347"/>
          </a:xfrm>
          <a:prstGeom prst="rect">
            <a:avLst/>
          </a:prstGeom>
        </p:spPr>
      </p:pic>
      <p:sp>
        <p:nvSpPr>
          <p:cNvPr id="9" name="Text 6"/>
          <p:cNvSpPr/>
          <p:nvPr/>
        </p:nvSpPr>
        <p:spPr>
          <a:xfrm>
            <a:off x="621792" y="2670048"/>
            <a:ext cx="1609344" cy="566928"/>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Spec inside</a:t>
            </a:r>
            <a:endParaRPr lang="en-US" sz="1250" dirty="0"/>
          </a:p>
        </p:txBody>
      </p:sp>
      <p:sp>
        <p:nvSpPr>
          <p:cNvPr id="10" name="Text 7"/>
          <p:cNvSpPr/>
          <p:nvPr/>
        </p:nvSpPr>
        <p:spPr>
          <a:xfrm>
            <a:off x="621792" y="3246120"/>
            <a:ext cx="1609344" cy="914400"/>
          </a:xfrm>
          <a:prstGeom prst="rect">
            <a:avLst/>
          </a:prstGeom>
          <a:noFill/>
          <a:ln/>
        </p:spPr>
        <p:txBody>
          <a:bodyPr wrap="square" lIns="0" tIns="0" rIns="0" bIns="0" rtlCol="0" anchor="ctr"/>
          <a:lstStyle/>
          <a:p>
            <a:pPr algn="ctr" indent="0" marL="0">
              <a:buNone/>
            </a:pPr>
            <a:r>
              <a:rPr lang="en-US" sz="950" dirty="0">
                <a:solidFill>
                  <a:srgbClr val="1B2440"/>
                </a:solidFill>
                <a:latin typeface="Calibri" pitchFamily="34" charset="0"/>
                <a:ea typeface="Calibri" pitchFamily="34" charset="-122"/>
                <a:cs typeface="Calibri" pitchFamily="34" charset="-120"/>
              </a:rPr>
              <a:t>Routes, contracts,</a:t>
            </a:r>
            <a:endParaRPr lang="en-US" sz="950" dirty="0"/>
          </a:p>
          <a:p>
            <a:pPr algn="ctr" indent="0" marL="0">
              <a:buNone/>
            </a:pPr>
            <a:r>
              <a:rPr lang="en-US" sz="950" dirty="0">
                <a:solidFill>
                  <a:srgbClr val="1B2440"/>
                </a:solidFill>
                <a:latin typeface="Calibri" pitchFamily="34" charset="0"/>
                <a:ea typeface="Calibri" pitchFamily="34" charset="-122"/>
                <a:cs typeface="Calibri" pitchFamily="34" charset="-120"/>
              </a:rPr>
              <a:t>rule keys, fixtures</a:t>
            </a:r>
            <a:endParaRPr lang="en-US" sz="950" dirty="0"/>
          </a:p>
          <a:p>
            <a:pPr algn="ctr" indent="0" marL="0">
              <a:buNone/>
            </a:pPr>
            <a:r>
              <a:rPr lang="en-US" sz="950" dirty="0">
                <a:solidFill>
                  <a:srgbClr val="1B2440"/>
                </a:solidFill>
                <a:latin typeface="Calibri" pitchFamily="34" charset="0"/>
                <a:ea typeface="Calibri" pitchFamily="34" charset="-122"/>
                <a:cs typeface="Calibri" pitchFamily="34" charset="-120"/>
              </a:rPr>
              <a:t>authored in Confi</a:t>
            </a:r>
            <a:endParaRPr lang="en-US" sz="950" dirty="0"/>
          </a:p>
        </p:txBody>
      </p:sp>
      <p:sp>
        <p:nvSpPr>
          <p:cNvPr id="11" name="Text 8"/>
          <p:cNvSpPr/>
          <p:nvPr/>
        </p:nvSpPr>
        <p:spPr>
          <a:xfrm>
            <a:off x="2249424" y="2852928"/>
            <a:ext cx="256032" cy="320040"/>
          </a:xfrm>
          <a:prstGeom prst="rect">
            <a:avLst/>
          </a:prstGeom>
          <a:noFill/>
          <a:ln/>
        </p:spPr>
        <p:txBody>
          <a:bodyPr wrap="square" lIns="0" tIns="0" rIns="0" bIns="0" rtlCol="0" anchor="ctr"/>
          <a:lstStyle/>
          <a:p>
            <a:pPr algn="ctr" indent="0" marL="0">
              <a:buNone/>
            </a:pPr>
            <a:r>
              <a:rPr lang="en-US" sz="1600" dirty="0">
                <a:solidFill>
                  <a:srgbClr val="5A6B8C"/>
                </a:solidFill>
              </a:rPr>
              <a:t>▸</a:t>
            </a:r>
            <a:endParaRPr lang="en-US" sz="1600" dirty="0"/>
          </a:p>
        </p:txBody>
      </p:sp>
      <p:sp>
        <p:nvSpPr>
          <p:cNvPr id="12" name="Shape 9"/>
          <p:cNvSpPr/>
          <p:nvPr/>
        </p:nvSpPr>
        <p:spPr>
          <a:xfrm>
            <a:off x="2423160" y="1828800"/>
            <a:ext cx="1755648" cy="2377440"/>
          </a:xfrm>
          <a:prstGeom prst="roundRect">
            <a:avLst>
              <a:gd name="adj" fmla="val 4167"/>
            </a:avLst>
          </a:prstGeom>
          <a:solidFill>
            <a:srgbClr val="EDF3FC"/>
          </a:solidFill>
          <a:ln/>
          <a:effectLst>
            <a:outerShdw sx="100000" sy="100000" kx="0" ky="0" algn="bl" rotWithShape="0" blurRad="76200" dist="12700" dir="5400000">
              <a:srgbClr val="9AA7C4">
                <a:alpha val="25000"/>
              </a:srgbClr>
            </a:outerShdw>
          </a:effectLst>
        </p:spPr>
      </p:sp>
      <p:sp>
        <p:nvSpPr>
          <p:cNvPr id="13" name="Shape 10"/>
          <p:cNvSpPr/>
          <p:nvPr/>
        </p:nvSpPr>
        <p:spPr>
          <a:xfrm>
            <a:off x="3026664" y="2029968"/>
            <a:ext cx="548640" cy="548640"/>
          </a:xfrm>
          <a:prstGeom prst="ellipse">
            <a:avLst/>
          </a:prstGeom>
          <a:solidFill>
            <a:srgbClr val="1E2761"/>
          </a:solidFill>
          <a:ln/>
        </p:spPr>
      </p:sp>
      <p:pic>
        <p:nvPicPr>
          <p:cNvPr id="14" name="Image 1" descr="preencoded.png">    </p:cNvPr>
          <p:cNvPicPr>
            <a:picLocks noChangeAspect="1"/>
          </p:cNvPicPr>
          <p:nvPr/>
        </p:nvPicPr>
        <p:blipFill>
          <a:blip r:embed="rId2"/>
          <a:stretch>
            <a:fillRect/>
          </a:stretch>
        </p:blipFill>
        <p:spPr>
          <a:xfrm>
            <a:off x="3169310" y="2172614"/>
            <a:ext cx="263347" cy="263347"/>
          </a:xfrm>
          <a:prstGeom prst="rect">
            <a:avLst/>
          </a:prstGeom>
        </p:spPr>
      </p:pic>
      <p:sp>
        <p:nvSpPr>
          <p:cNvPr id="15" name="Text 11"/>
          <p:cNvSpPr/>
          <p:nvPr/>
        </p:nvSpPr>
        <p:spPr>
          <a:xfrm>
            <a:off x="2496312" y="2670048"/>
            <a:ext cx="1609344" cy="566928"/>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Desensitize</a:t>
            </a:r>
            <a:endParaRPr lang="en-US" sz="1250" dirty="0"/>
          </a:p>
          <a:p>
            <a:pPr algn="ctr" indent="0" marL="0">
              <a:buNone/>
            </a:pPr>
            <a:r>
              <a:rPr lang="en-US" sz="1250" b="1" dirty="0">
                <a:solidFill>
                  <a:srgbClr val="1E2761"/>
                </a:solidFill>
                <a:latin typeface="Calibri" pitchFamily="34" charset="0"/>
                <a:ea typeface="Calibri" pitchFamily="34" charset="-122"/>
                <a:cs typeface="Calibri" pitchFamily="34" charset="-120"/>
              </a:rPr>
              <a:t>+ egress gate</a:t>
            </a:r>
            <a:endParaRPr lang="en-US" sz="1250" dirty="0"/>
          </a:p>
        </p:txBody>
      </p:sp>
      <p:sp>
        <p:nvSpPr>
          <p:cNvPr id="16" name="Text 12"/>
          <p:cNvSpPr/>
          <p:nvPr/>
        </p:nvSpPr>
        <p:spPr>
          <a:xfrm>
            <a:off x="2496312" y="3246120"/>
            <a:ext cx="1609344" cy="914400"/>
          </a:xfrm>
          <a:prstGeom prst="rect">
            <a:avLst/>
          </a:prstGeom>
          <a:noFill/>
          <a:ln/>
        </p:spPr>
        <p:txBody>
          <a:bodyPr wrap="square" lIns="0" tIns="0" rIns="0" bIns="0" rtlCol="0" anchor="ctr"/>
          <a:lstStyle/>
          <a:p>
            <a:pPr algn="ctr" indent="0" marL="0">
              <a:buNone/>
            </a:pPr>
            <a:r>
              <a:rPr lang="en-US" sz="950" dirty="0">
                <a:solidFill>
                  <a:srgbClr val="1B2440"/>
                </a:solidFill>
                <a:latin typeface="Calibri" pitchFamily="34" charset="0"/>
                <a:ea typeface="Calibri" pitchFamily="34" charset="-122"/>
                <a:cs typeface="Calibri" pitchFamily="34" charset="-120"/>
              </a:rPr>
              <a:t>code_extractor +</a:t>
            </a:r>
            <a:endParaRPr lang="en-US" sz="950" dirty="0"/>
          </a:p>
          <a:p>
            <a:pPr algn="ctr" indent="0" marL="0">
              <a:buNone/>
            </a:pPr>
            <a:r>
              <a:rPr lang="en-US" sz="950" dirty="0">
                <a:solidFill>
                  <a:srgbClr val="1B2440"/>
                </a:solidFill>
                <a:latin typeface="Calibri" pitchFamily="34" charset="0"/>
                <a:ea typeface="Calibri" pitchFamily="34" charset="-122"/>
                <a:cs typeface="Calibri" pitchFamily="34" charset="-120"/>
              </a:rPr>
              <a:t>scans + 2-person</a:t>
            </a:r>
            <a:endParaRPr lang="en-US" sz="950" dirty="0"/>
          </a:p>
          <a:p>
            <a:pPr algn="ctr" indent="0" marL="0">
              <a:buNone/>
            </a:pPr>
            <a:r>
              <a:rPr lang="en-US" sz="950" dirty="0">
                <a:solidFill>
                  <a:srgbClr val="1B2440"/>
                </a:solidFill>
                <a:latin typeface="Calibri" pitchFamily="34" charset="0"/>
                <a:ea typeface="Calibri" pitchFamily="34" charset="-122"/>
                <a:cs typeface="Calibri" pitchFamily="34" charset="-120"/>
              </a:rPr>
              <a:t>review + approval</a:t>
            </a:r>
            <a:endParaRPr lang="en-US" sz="950" dirty="0"/>
          </a:p>
        </p:txBody>
      </p:sp>
      <p:sp>
        <p:nvSpPr>
          <p:cNvPr id="17" name="Text 13"/>
          <p:cNvSpPr/>
          <p:nvPr/>
        </p:nvSpPr>
        <p:spPr>
          <a:xfrm>
            <a:off x="4123944" y="2852928"/>
            <a:ext cx="256032" cy="320040"/>
          </a:xfrm>
          <a:prstGeom prst="rect">
            <a:avLst/>
          </a:prstGeom>
          <a:noFill/>
          <a:ln/>
        </p:spPr>
        <p:txBody>
          <a:bodyPr wrap="square" lIns="0" tIns="0" rIns="0" bIns="0" rtlCol="0" anchor="ctr"/>
          <a:lstStyle/>
          <a:p>
            <a:pPr algn="ctr" indent="0" marL="0">
              <a:buNone/>
            </a:pPr>
            <a:r>
              <a:rPr lang="en-US" sz="1600" dirty="0">
                <a:solidFill>
                  <a:srgbClr val="5A6B8C"/>
                </a:solidFill>
              </a:rPr>
              <a:t>▸</a:t>
            </a:r>
            <a:endParaRPr lang="en-US" sz="1600" dirty="0"/>
          </a:p>
        </p:txBody>
      </p:sp>
      <p:sp>
        <p:nvSpPr>
          <p:cNvPr id="18" name="Shape 14"/>
          <p:cNvSpPr/>
          <p:nvPr/>
        </p:nvSpPr>
        <p:spPr>
          <a:xfrm>
            <a:off x="4297680" y="1828800"/>
            <a:ext cx="1755648" cy="2377440"/>
          </a:xfrm>
          <a:prstGeom prst="roundRect">
            <a:avLst>
              <a:gd name="adj" fmla="val 4167"/>
            </a:avLst>
          </a:prstGeom>
          <a:solidFill>
            <a:srgbClr val="EAF4EF"/>
          </a:solidFill>
          <a:ln/>
          <a:effectLst>
            <a:outerShdw sx="100000" sy="100000" kx="0" ky="0" algn="bl" rotWithShape="0" blurRad="76200" dist="12700" dir="5400000">
              <a:srgbClr val="9AA7C4">
                <a:alpha val="25000"/>
              </a:srgbClr>
            </a:outerShdw>
          </a:effectLst>
        </p:spPr>
      </p:sp>
      <p:sp>
        <p:nvSpPr>
          <p:cNvPr id="19" name="Shape 15"/>
          <p:cNvSpPr/>
          <p:nvPr/>
        </p:nvSpPr>
        <p:spPr>
          <a:xfrm>
            <a:off x="4901184" y="2029968"/>
            <a:ext cx="548640" cy="548640"/>
          </a:xfrm>
          <a:prstGeom prst="ellipse">
            <a:avLst/>
          </a:prstGeom>
          <a:solidFill>
            <a:srgbClr val="2E7D5B"/>
          </a:solidFill>
          <a:ln/>
        </p:spPr>
      </p:sp>
      <p:pic>
        <p:nvPicPr>
          <p:cNvPr id="20" name="Image 2" descr="preencoded.png">    </p:cNvPr>
          <p:cNvPicPr>
            <a:picLocks noChangeAspect="1"/>
          </p:cNvPicPr>
          <p:nvPr/>
        </p:nvPicPr>
        <p:blipFill>
          <a:blip r:embed="rId3"/>
          <a:stretch>
            <a:fillRect/>
          </a:stretch>
        </p:blipFill>
        <p:spPr>
          <a:xfrm>
            <a:off x="5043830" y="2172614"/>
            <a:ext cx="263347" cy="263347"/>
          </a:xfrm>
          <a:prstGeom prst="rect">
            <a:avLst/>
          </a:prstGeom>
        </p:spPr>
      </p:pic>
      <p:sp>
        <p:nvSpPr>
          <p:cNvPr id="21" name="Text 16"/>
          <p:cNvSpPr/>
          <p:nvPr/>
        </p:nvSpPr>
        <p:spPr>
          <a:xfrm>
            <a:off x="4370832" y="2670048"/>
            <a:ext cx="1609344" cy="566928"/>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Build outside</a:t>
            </a:r>
            <a:endParaRPr lang="en-US" sz="1250" dirty="0"/>
          </a:p>
        </p:txBody>
      </p:sp>
      <p:sp>
        <p:nvSpPr>
          <p:cNvPr id="22" name="Text 17"/>
          <p:cNvSpPr/>
          <p:nvPr/>
        </p:nvSpPr>
        <p:spPr>
          <a:xfrm>
            <a:off x="4370832" y="3246120"/>
            <a:ext cx="1609344" cy="914400"/>
          </a:xfrm>
          <a:prstGeom prst="rect">
            <a:avLst/>
          </a:prstGeom>
          <a:noFill/>
          <a:ln/>
        </p:spPr>
        <p:txBody>
          <a:bodyPr wrap="square" lIns="0" tIns="0" rIns="0" bIns="0" rtlCol="0" anchor="ctr"/>
          <a:lstStyle/>
          <a:p>
            <a:pPr algn="ctr" indent="0" marL="0">
              <a:buNone/>
            </a:pPr>
            <a:r>
              <a:rPr lang="en-US" sz="950" dirty="0">
                <a:solidFill>
                  <a:srgbClr val="1B2440"/>
                </a:solidFill>
                <a:latin typeface="Calibri" pitchFamily="34" charset="0"/>
                <a:ea typeface="Calibri" pitchFamily="34" charset="-122"/>
                <a:cs typeface="Calibri" pitchFamily="34" charset="-120"/>
              </a:rPr>
              <a:t>React MFEs as</a:t>
            </a:r>
            <a:endParaRPr lang="en-US" sz="950" dirty="0"/>
          </a:p>
          <a:p>
            <a:pPr algn="ctr" indent="0" marL="0">
              <a:buNone/>
            </a:pPr>
            <a:r>
              <a:rPr lang="en-US" sz="950" dirty="0">
                <a:solidFill>
                  <a:srgbClr val="1B2440"/>
                </a:solidFill>
                <a:latin typeface="Calibri" pitchFamily="34" charset="0"/>
                <a:ea typeface="Calibri" pitchFamily="34" charset="-122"/>
                <a:cs typeface="Calibri" pitchFamily="34" charset="-120"/>
              </a:rPr>
              <a:t>passive shells at</a:t>
            </a:r>
            <a:endParaRPr lang="en-US" sz="950" dirty="0"/>
          </a:p>
          <a:p>
            <a:pPr algn="ctr" indent="0" marL="0">
              <a:buNone/>
            </a:pPr>
            <a:r>
              <a:rPr lang="en-US" sz="950" dirty="0">
                <a:solidFill>
                  <a:srgbClr val="1B2440"/>
                </a:solidFill>
                <a:latin typeface="Calibri" pitchFamily="34" charset="0"/>
                <a:ea typeface="Calibri" pitchFamily="34" charset="-122"/>
                <a:cs typeface="Calibri" pitchFamily="34" charset="-120"/>
              </a:rPr>
              <a:t>“Looking at Trees”</a:t>
            </a:r>
            <a:endParaRPr lang="en-US" sz="950" dirty="0"/>
          </a:p>
        </p:txBody>
      </p:sp>
      <p:sp>
        <p:nvSpPr>
          <p:cNvPr id="23" name="Text 18"/>
          <p:cNvSpPr/>
          <p:nvPr/>
        </p:nvSpPr>
        <p:spPr>
          <a:xfrm>
            <a:off x="5998464" y="2852928"/>
            <a:ext cx="256032" cy="320040"/>
          </a:xfrm>
          <a:prstGeom prst="rect">
            <a:avLst/>
          </a:prstGeom>
          <a:noFill/>
          <a:ln/>
        </p:spPr>
        <p:txBody>
          <a:bodyPr wrap="square" lIns="0" tIns="0" rIns="0" bIns="0" rtlCol="0" anchor="ctr"/>
          <a:lstStyle/>
          <a:p>
            <a:pPr algn="ctr" indent="0" marL="0">
              <a:buNone/>
            </a:pPr>
            <a:r>
              <a:rPr lang="en-US" sz="1600" dirty="0">
                <a:solidFill>
                  <a:srgbClr val="5A6B8C"/>
                </a:solidFill>
              </a:rPr>
              <a:t>▸</a:t>
            </a:r>
            <a:endParaRPr lang="en-US" sz="1600" dirty="0"/>
          </a:p>
        </p:txBody>
      </p:sp>
      <p:sp>
        <p:nvSpPr>
          <p:cNvPr id="24" name="Shape 19"/>
          <p:cNvSpPr/>
          <p:nvPr/>
        </p:nvSpPr>
        <p:spPr>
          <a:xfrm>
            <a:off x="6172200" y="1828800"/>
            <a:ext cx="1755648" cy="2377440"/>
          </a:xfrm>
          <a:prstGeom prst="roundRect">
            <a:avLst>
              <a:gd name="adj" fmla="val 4167"/>
            </a:avLst>
          </a:prstGeom>
          <a:solidFill>
            <a:srgbClr val="EAF4EF"/>
          </a:solidFill>
          <a:ln/>
          <a:effectLst>
            <a:outerShdw sx="100000" sy="100000" kx="0" ky="0" algn="bl" rotWithShape="0" blurRad="76200" dist="12700" dir="5400000">
              <a:srgbClr val="9AA7C4">
                <a:alpha val="25000"/>
              </a:srgbClr>
            </a:outerShdw>
          </a:effectLst>
        </p:spPr>
      </p:sp>
      <p:sp>
        <p:nvSpPr>
          <p:cNvPr id="25" name="Shape 20"/>
          <p:cNvSpPr/>
          <p:nvPr/>
        </p:nvSpPr>
        <p:spPr>
          <a:xfrm>
            <a:off x="6775704" y="2029968"/>
            <a:ext cx="548640" cy="548640"/>
          </a:xfrm>
          <a:prstGeom prst="ellipse">
            <a:avLst/>
          </a:prstGeom>
          <a:solidFill>
            <a:srgbClr val="2E7D5B"/>
          </a:solidFill>
          <a:ln/>
        </p:spPr>
      </p:sp>
      <p:pic>
        <p:nvPicPr>
          <p:cNvPr id="26" name="Image 3" descr="preencoded.png">    </p:cNvPr>
          <p:cNvPicPr>
            <a:picLocks noChangeAspect="1"/>
          </p:cNvPicPr>
          <p:nvPr/>
        </p:nvPicPr>
        <p:blipFill>
          <a:blip r:embed="rId4"/>
          <a:stretch>
            <a:fillRect/>
          </a:stretch>
        </p:blipFill>
        <p:spPr>
          <a:xfrm>
            <a:off x="6918350" y="2172614"/>
            <a:ext cx="263347" cy="263347"/>
          </a:xfrm>
          <a:prstGeom prst="rect">
            <a:avLst/>
          </a:prstGeom>
        </p:spPr>
      </p:pic>
      <p:sp>
        <p:nvSpPr>
          <p:cNvPr id="27" name="Text 21"/>
          <p:cNvSpPr/>
          <p:nvPr/>
        </p:nvSpPr>
        <p:spPr>
          <a:xfrm>
            <a:off x="6245352" y="2670048"/>
            <a:ext cx="1609344" cy="566928"/>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Prove outside</a:t>
            </a:r>
            <a:endParaRPr lang="en-US" sz="1250" dirty="0"/>
          </a:p>
        </p:txBody>
      </p:sp>
      <p:sp>
        <p:nvSpPr>
          <p:cNvPr id="28" name="Text 22"/>
          <p:cNvSpPr/>
          <p:nvPr/>
        </p:nvSpPr>
        <p:spPr>
          <a:xfrm>
            <a:off x="6245352" y="3246120"/>
            <a:ext cx="1609344" cy="914400"/>
          </a:xfrm>
          <a:prstGeom prst="rect">
            <a:avLst/>
          </a:prstGeom>
          <a:noFill/>
          <a:ln/>
        </p:spPr>
        <p:txBody>
          <a:bodyPr wrap="square" lIns="0" tIns="0" rIns="0" bIns="0" rtlCol="0" anchor="ctr"/>
          <a:lstStyle/>
          <a:p>
            <a:pPr algn="ctr" indent="0" marL="0">
              <a:buNone/>
            </a:pPr>
            <a:r>
              <a:rPr lang="en-US" sz="950" dirty="0">
                <a:solidFill>
                  <a:srgbClr val="1B2440"/>
                </a:solidFill>
                <a:latin typeface="Calibri" pitchFamily="34" charset="0"/>
                <a:ea typeface="Calibri" pitchFamily="34" charset="-122"/>
                <a:cs typeface="Calibri" pitchFamily="34" charset="-120"/>
              </a:rPr>
              <a:t>MSW mocks, Playwright,</a:t>
            </a:r>
            <a:endParaRPr lang="en-US" sz="950" dirty="0"/>
          </a:p>
          <a:p>
            <a:pPr algn="ctr" indent="0" marL="0">
              <a:buNone/>
            </a:pPr>
            <a:r>
              <a:rPr lang="en-US" sz="950" dirty="0">
                <a:solidFill>
                  <a:srgbClr val="1B2440"/>
                </a:solidFill>
                <a:latin typeface="Calibri" pitchFamily="34" charset="0"/>
                <a:ea typeface="Calibri" pitchFamily="34" charset="-122"/>
                <a:cs typeface="Calibri" pitchFamily="34" charset="-120"/>
              </a:rPr>
              <a:t>SAST, lint, dep-delta</a:t>
            </a:r>
            <a:endParaRPr lang="en-US" sz="950" dirty="0"/>
          </a:p>
          <a:p>
            <a:pPr algn="ctr" indent="0" marL="0">
              <a:buNone/>
            </a:pPr>
            <a:r>
              <a:rPr lang="en-US" sz="950" dirty="0">
                <a:solidFill>
                  <a:srgbClr val="1B2440"/>
                </a:solidFill>
                <a:latin typeface="Calibri" pitchFamily="34" charset="0"/>
                <a:ea typeface="Calibri" pitchFamily="34" charset="-122"/>
                <a:cs typeface="Calibri" pitchFamily="34" charset="-120"/>
              </a:rPr>
              <a:t>report — CI parity</a:t>
            </a:r>
            <a:endParaRPr lang="en-US" sz="950" dirty="0"/>
          </a:p>
        </p:txBody>
      </p:sp>
      <p:sp>
        <p:nvSpPr>
          <p:cNvPr id="29" name="Text 23"/>
          <p:cNvSpPr/>
          <p:nvPr/>
        </p:nvSpPr>
        <p:spPr>
          <a:xfrm>
            <a:off x="7872984" y="2852928"/>
            <a:ext cx="256032" cy="320040"/>
          </a:xfrm>
          <a:prstGeom prst="rect">
            <a:avLst/>
          </a:prstGeom>
          <a:noFill/>
          <a:ln/>
        </p:spPr>
        <p:txBody>
          <a:bodyPr wrap="square" lIns="0" tIns="0" rIns="0" bIns="0" rtlCol="0" anchor="ctr"/>
          <a:lstStyle/>
          <a:p>
            <a:pPr algn="ctr" indent="0" marL="0">
              <a:buNone/>
            </a:pPr>
            <a:r>
              <a:rPr lang="en-US" sz="1600" dirty="0">
                <a:solidFill>
                  <a:srgbClr val="5A6B8C"/>
                </a:solidFill>
              </a:rPr>
              <a:t>▸</a:t>
            </a:r>
            <a:endParaRPr lang="en-US" sz="1600" dirty="0"/>
          </a:p>
        </p:txBody>
      </p:sp>
      <p:sp>
        <p:nvSpPr>
          <p:cNvPr id="30" name="Shape 24"/>
          <p:cNvSpPr/>
          <p:nvPr/>
        </p:nvSpPr>
        <p:spPr>
          <a:xfrm>
            <a:off x="8046720" y="1828800"/>
            <a:ext cx="1755648" cy="2377440"/>
          </a:xfrm>
          <a:prstGeom prst="roundRect">
            <a:avLst>
              <a:gd name="adj" fmla="val 4167"/>
            </a:avLst>
          </a:prstGeom>
          <a:solidFill>
            <a:srgbClr val="EDF3FC"/>
          </a:solidFill>
          <a:ln/>
          <a:effectLst>
            <a:outerShdw sx="100000" sy="100000" kx="0" ky="0" algn="bl" rotWithShape="0" blurRad="76200" dist="12700" dir="5400000">
              <a:srgbClr val="9AA7C4">
                <a:alpha val="25000"/>
              </a:srgbClr>
            </a:outerShdw>
          </a:effectLst>
        </p:spPr>
      </p:sp>
      <p:sp>
        <p:nvSpPr>
          <p:cNvPr id="31" name="Shape 25"/>
          <p:cNvSpPr/>
          <p:nvPr/>
        </p:nvSpPr>
        <p:spPr>
          <a:xfrm>
            <a:off x="8650224" y="2029968"/>
            <a:ext cx="548640" cy="548640"/>
          </a:xfrm>
          <a:prstGeom prst="ellipse">
            <a:avLst/>
          </a:prstGeom>
          <a:solidFill>
            <a:srgbClr val="1E2761"/>
          </a:solidFill>
          <a:ln/>
        </p:spPr>
      </p:sp>
      <p:pic>
        <p:nvPicPr>
          <p:cNvPr id="32" name="Image 4" descr="preencoded.png">    </p:cNvPr>
          <p:cNvPicPr>
            <a:picLocks noChangeAspect="1"/>
          </p:cNvPicPr>
          <p:nvPr/>
        </p:nvPicPr>
        <p:blipFill>
          <a:blip r:embed="rId5"/>
          <a:stretch>
            <a:fillRect/>
          </a:stretch>
        </p:blipFill>
        <p:spPr>
          <a:xfrm>
            <a:off x="8792870" y="2172614"/>
            <a:ext cx="263347" cy="263347"/>
          </a:xfrm>
          <a:prstGeom prst="rect">
            <a:avLst/>
          </a:prstGeom>
        </p:spPr>
      </p:pic>
      <p:sp>
        <p:nvSpPr>
          <p:cNvPr id="33" name="Text 26"/>
          <p:cNvSpPr/>
          <p:nvPr/>
        </p:nvSpPr>
        <p:spPr>
          <a:xfrm>
            <a:off x="8119872" y="2670048"/>
            <a:ext cx="1609344" cy="566928"/>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Integrate inside</a:t>
            </a:r>
            <a:endParaRPr lang="en-US" sz="1250" dirty="0"/>
          </a:p>
        </p:txBody>
      </p:sp>
      <p:sp>
        <p:nvSpPr>
          <p:cNvPr id="34" name="Text 27"/>
          <p:cNvSpPr/>
          <p:nvPr/>
        </p:nvSpPr>
        <p:spPr>
          <a:xfrm>
            <a:off x="8119872" y="3246120"/>
            <a:ext cx="1609344" cy="914400"/>
          </a:xfrm>
          <a:prstGeom prst="rect">
            <a:avLst/>
          </a:prstGeom>
          <a:noFill/>
          <a:ln/>
        </p:spPr>
        <p:txBody>
          <a:bodyPr wrap="square" lIns="0" tIns="0" rIns="0" bIns="0" rtlCol="0" anchor="ctr"/>
          <a:lstStyle/>
          <a:p>
            <a:pPr algn="ctr" indent="0" marL="0">
              <a:buNone/>
            </a:pPr>
            <a:r>
              <a:rPr lang="en-US" sz="950" dirty="0">
                <a:solidFill>
                  <a:srgbClr val="1B2440"/>
                </a:solidFill>
                <a:latin typeface="Calibri" pitchFamily="34" charset="0"/>
                <a:ea typeface="Calibri" pitchFamily="34" charset="-122"/>
                <a:cs typeface="Calibri" pitchFamily="34" charset="-120"/>
              </a:rPr>
              <a:t>Tagged release in,</a:t>
            </a:r>
            <a:endParaRPr lang="en-US" sz="950" dirty="0"/>
          </a:p>
          <a:p>
            <a:pPr algn="ctr" indent="0" marL="0">
              <a:buNone/>
            </a:pPr>
            <a:r>
              <a:rPr lang="en-US" sz="950" dirty="0">
                <a:solidFill>
                  <a:srgbClr val="1B2440"/>
                </a:solidFill>
                <a:latin typeface="Calibri" pitchFamily="34" charset="0"/>
                <a:ea typeface="Calibri" pitchFamily="34" charset="-122"/>
                <a:cs typeface="Calibri" pitchFamily="34" charset="-120"/>
              </a:rPr>
              <a:t>reverse mapping,</a:t>
            </a:r>
            <a:endParaRPr lang="en-US" sz="950" dirty="0"/>
          </a:p>
          <a:p>
            <a:pPr algn="ctr" indent="0" marL="0">
              <a:buNone/>
            </a:pPr>
            <a:r>
              <a:rPr lang="en-US" sz="950" dirty="0">
                <a:solidFill>
                  <a:srgbClr val="1B2440"/>
                </a:solidFill>
                <a:latin typeface="Calibri" pitchFamily="34" charset="0"/>
                <a:ea typeface="Calibri" pitchFamily="34" charset="-122"/>
                <a:cs typeface="Calibri" pitchFamily="34" charset="-120"/>
              </a:rPr>
              <a:t>bind real config</a:t>
            </a:r>
            <a:endParaRPr lang="en-US" sz="950" dirty="0"/>
          </a:p>
        </p:txBody>
      </p:sp>
      <p:sp>
        <p:nvSpPr>
          <p:cNvPr id="35" name="Text 28"/>
          <p:cNvSpPr/>
          <p:nvPr/>
        </p:nvSpPr>
        <p:spPr>
          <a:xfrm>
            <a:off x="9747504" y="2852928"/>
            <a:ext cx="256032" cy="320040"/>
          </a:xfrm>
          <a:prstGeom prst="rect">
            <a:avLst/>
          </a:prstGeom>
          <a:noFill/>
          <a:ln/>
        </p:spPr>
        <p:txBody>
          <a:bodyPr wrap="square" lIns="0" tIns="0" rIns="0" bIns="0" rtlCol="0" anchor="ctr"/>
          <a:lstStyle/>
          <a:p>
            <a:pPr algn="ctr" indent="0" marL="0">
              <a:buNone/>
            </a:pPr>
            <a:r>
              <a:rPr lang="en-US" sz="1600" dirty="0">
                <a:solidFill>
                  <a:srgbClr val="5A6B8C"/>
                </a:solidFill>
              </a:rPr>
              <a:t>▸</a:t>
            </a:r>
            <a:endParaRPr lang="en-US" sz="1600" dirty="0"/>
          </a:p>
        </p:txBody>
      </p:sp>
      <p:sp>
        <p:nvSpPr>
          <p:cNvPr id="36" name="Shape 29"/>
          <p:cNvSpPr/>
          <p:nvPr/>
        </p:nvSpPr>
        <p:spPr>
          <a:xfrm>
            <a:off x="9921240" y="1828800"/>
            <a:ext cx="1755648" cy="2377440"/>
          </a:xfrm>
          <a:prstGeom prst="roundRect">
            <a:avLst>
              <a:gd name="adj" fmla="val 4167"/>
            </a:avLst>
          </a:prstGeom>
          <a:solidFill>
            <a:srgbClr val="EDF3FC"/>
          </a:solidFill>
          <a:ln/>
          <a:effectLst>
            <a:outerShdw sx="100000" sy="100000" kx="0" ky="0" algn="bl" rotWithShape="0" blurRad="76200" dist="12700" dir="5400000">
              <a:srgbClr val="9AA7C4">
                <a:alpha val="25000"/>
              </a:srgbClr>
            </a:outerShdw>
          </a:effectLst>
        </p:spPr>
      </p:sp>
      <p:sp>
        <p:nvSpPr>
          <p:cNvPr id="37" name="Shape 30"/>
          <p:cNvSpPr/>
          <p:nvPr/>
        </p:nvSpPr>
        <p:spPr>
          <a:xfrm>
            <a:off x="10524744" y="2029968"/>
            <a:ext cx="548640" cy="548640"/>
          </a:xfrm>
          <a:prstGeom prst="ellipse">
            <a:avLst/>
          </a:prstGeom>
          <a:solidFill>
            <a:srgbClr val="1E2761"/>
          </a:solidFill>
          <a:ln/>
        </p:spPr>
      </p:sp>
      <p:pic>
        <p:nvPicPr>
          <p:cNvPr id="38" name="Image 5" descr="preencoded.png">    </p:cNvPr>
          <p:cNvPicPr>
            <a:picLocks noChangeAspect="1"/>
          </p:cNvPicPr>
          <p:nvPr/>
        </p:nvPicPr>
        <p:blipFill>
          <a:blip r:embed="rId6"/>
          <a:stretch>
            <a:fillRect/>
          </a:stretch>
        </p:blipFill>
        <p:spPr>
          <a:xfrm>
            <a:off x="10667390" y="2172614"/>
            <a:ext cx="263347" cy="263347"/>
          </a:xfrm>
          <a:prstGeom prst="rect">
            <a:avLst/>
          </a:prstGeom>
        </p:spPr>
      </p:pic>
      <p:sp>
        <p:nvSpPr>
          <p:cNvPr id="39" name="Text 31"/>
          <p:cNvSpPr/>
          <p:nvPr/>
        </p:nvSpPr>
        <p:spPr>
          <a:xfrm>
            <a:off x="9994392" y="2670048"/>
            <a:ext cx="1609344" cy="566928"/>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Run in Confi</a:t>
            </a:r>
            <a:endParaRPr lang="en-US" sz="1250" dirty="0"/>
          </a:p>
        </p:txBody>
      </p:sp>
      <p:sp>
        <p:nvSpPr>
          <p:cNvPr id="40" name="Text 32"/>
          <p:cNvSpPr/>
          <p:nvPr/>
        </p:nvSpPr>
        <p:spPr>
          <a:xfrm>
            <a:off x="9994392" y="3246120"/>
            <a:ext cx="1609344" cy="914400"/>
          </a:xfrm>
          <a:prstGeom prst="rect">
            <a:avLst/>
          </a:prstGeom>
          <a:noFill/>
          <a:ln/>
        </p:spPr>
        <p:txBody>
          <a:bodyPr wrap="square" lIns="0" tIns="0" rIns="0" bIns="0" rtlCol="0" anchor="ctr"/>
          <a:lstStyle/>
          <a:p>
            <a:pPr algn="ctr" indent="0" marL="0">
              <a:buNone/>
            </a:pPr>
            <a:r>
              <a:rPr lang="en-US" sz="950" dirty="0">
                <a:solidFill>
                  <a:srgbClr val="1B2440"/>
                </a:solidFill>
                <a:latin typeface="Calibri" pitchFamily="34" charset="0"/>
                <a:ea typeface="Calibri" pitchFamily="34" charset="-122"/>
                <a:cs typeface="Calibri" pitchFamily="34" charset="-120"/>
              </a:rPr>
              <a:t>Logic packs resolve,</a:t>
            </a:r>
            <a:endParaRPr lang="en-US" sz="950" dirty="0"/>
          </a:p>
          <a:p>
            <a:pPr algn="ctr" indent="0" marL="0">
              <a:buNone/>
            </a:pPr>
            <a:r>
              <a:rPr lang="en-US" sz="950" dirty="0">
                <a:solidFill>
                  <a:srgbClr val="1B2440"/>
                </a:solidFill>
                <a:latin typeface="Calibri" pitchFamily="34" charset="0"/>
                <a:ea typeface="Calibri" pitchFamily="34" charset="-122"/>
                <a:cs typeface="Calibri" pitchFamily="34" charset="-120"/>
              </a:rPr>
              <a:t>real backend wired</a:t>
            </a:r>
            <a:endParaRPr lang="en-US" sz="950" dirty="0"/>
          </a:p>
          <a:p>
            <a:pPr algn="ctr" indent="0" marL="0">
              <a:buNone/>
            </a:pPr>
            <a:r>
              <a:rPr lang="en-US" sz="950" dirty="0">
                <a:solidFill>
                  <a:srgbClr val="1B2440"/>
                </a:solidFill>
                <a:latin typeface="Calibri" pitchFamily="34" charset="0"/>
                <a:ea typeface="Calibri" pitchFamily="34" charset="-122"/>
                <a:cs typeface="Calibri" pitchFamily="34" charset="-120"/>
              </a:rPr>
              <a:t>by configuration</a:t>
            </a:r>
            <a:endParaRPr lang="en-US" sz="950" dirty="0"/>
          </a:p>
        </p:txBody>
      </p:sp>
      <p:sp>
        <p:nvSpPr>
          <p:cNvPr id="41" name="Text 33"/>
          <p:cNvSpPr/>
          <p:nvPr/>
        </p:nvSpPr>
        <p:spPr>
          <a:xfrm>
            <a:off x="548640" y="4434840"/>
            <a:ext cx="11094415" cy="365760"/>
          </a:xfrm>
          <a:prstGeom prst="rect">
            <a:avLst/>
          </a:prstGeom>
          <a:noFill/>
          <a:ln/>
        </p:spPr>
        <p:txBody>
          <a:bodyPr wrap="square" lIns="0" tIns="0" rIns="0" bIns="0" rtlCol="0" anchor="ctr"/>
          <a:lstStyle/>
          <a:p>
            <a:pPr algn="ctr" indent="0" marL="0">
              <a:buNone/>
            </a:pPr>
            <a:r>
              <a:rPr lang="en-US" sz="1300" b="1" dirty="0">
                <a:solidFill>
                  <a:srgbClr val="1E2761"/>
                </a:solidFill>
                <a:latin typeface="Calibri" pitchFamily="34" charset="0"/>
                <a:ea typeface="Calibri" pitchFamily="34" charset="-122"/>
                <a:cs typeface="Calibri" pitchFamily="34" charset="-120"/>
              </a:rPr>
              <a:t>AIRGAP </a:t>
            </a:r>
            <a:pPr algn="ctr" indent="0" marL="0">
              <a:buNone/>
            </a:pPr>
            <a:r>
              <a:rPr lang="en-US" sz="1300" dirty="0">
                <a:solidFill>
                  <a:srgbClr val="5A6B8C"/>
                </a:solidFill>
                <a:latin typeface="Calibri" pitchFamily="34" charset="0"/>
                <a:ea typeface="Calibri" pitchFamily="34" charset="-122"/>
                <a:cs typeface="Calibri" pitchFamily="34" charset="-120"/>
              </a:rPr>
              <a:t>steps 1–2 and 5–6  ·  </a:t>
            </a:r>
            <a:pPr algn="ctr" indent="0" marL="0">
              <a:buNone/>
            </a:pPr>
            <a:r>
              <a:rPr lang="en-US" sz="1300" b="1" dirty="0">
                <a:solidFill>
                  <a:srgbClr val="2E7D5B"/>
                </a:solidFill>
                <a:latin typeface="Calibri" pitchFamily="34" charset="0"/>
                <a:ea typeface="Calibri" pitchFamily="34" charset="-122"/>
                <a:cs typeface="Calibri" pitchFamily="34" charset="-120"/>
              </a:rPr>
              <a:t>INTERNET </a:t>
            </a:r>
            <a:pPr algn="ctr" indent="0" marL="0">
              <a:buNone/>
            </a:pPr>
            <a:r>
              <a:rPr lang="en-US" sz="1300" dirty="0">
                <a:solidFill>
                  <a:srgbClr val="5A6B8C"/>
                </a:solidFill>
                <a:latin typeface="Calibri" pitchFamily="34" charset="0"/>
                <a:ea typeface="Calibri" pitchFamily="34" charset="-122"/>
                <a:cs typeface="Calibri" pitchFamily="34" charset="-120"/>
              </a:rPr>
              <a:t>steps 3–4 only  ·  the gate is crossed by </a:t>
            </a:r>
            <a:pPr algn="ctr" indent="0" marL="0">
              <a:buNone/>
            </a:pPr>
            <a:r>
              <a:rPr lang="en-US" sz="1300" b="1" dirty="0">
                <a:solidFill>
                  <a:srgbClr val="1E2761"/>
                </a:solidFill>
                <a:latin typeface="Calibri" pitchFamily="34" charset="0"/>
                <a:ea typeface="Calibri" pitchFamily="34" charset="-122"/>
                <a:cs typeface="Calibri" pitchFamily="34" charset="-120"/>
              </a:rPr>
              <a:t>spec packages out</a:t>
            </a:r>
            <a:pPr algn="ctr" indent="0" marL="0">
              <a:buNone/>
            </a:pPr>
            <a:r>
              <a:rPr lang="en-US" sz="1300" dirty="0">
                <a:solidFill>
                  <a:srgbClr val="5A6B8C"/>
                </a:solidFill>
                <a:latin typeface="Calibri" pitchFamily="34" charset="0"/>
                <a:ea typeface="Calibri" pitchFamily="34" charset="-122"/>
                <a:cs typeface="Calibri" pitchFamily="34" charset="-120"/>
              </a:rPr>
              <a:t> and </a:t>
            </a:r>
            <a:pPr algn="ctr" indent="0" marL="0">
              <a:buNone/>
            </a:pPr>
            <a:r>
              <a:rPr lang="en-US" sz="1300" b="1" dirty="0">
                <a:solidFill>
                  <a:srgbClr val="1E2761"/>
                </a:solidFill>
                <a:latin typeface="Calibri" pitchFamily="34" charset="0"/>
                <a:ea typeface="Calibri" pitchFamily="34" charset="-122"/>
                <a:cs typeface="Calibri" pitchFamily="34" charset="-120"/>
              </a:rPr>
              <a:t>tagged releases in</a:t>
            </a:r>
            <a:pPr algn="ctr" indent="0" marL="0">
              <a:buNone/>
            </a:pPr>
            <a:r>
              <a:rPr lang="en-US" sz="1300" dirty="0">
                <a:solidFill>
                  <a:srgbClr val="5A6B8C"/>
                </a:solidFill>
                <a:latin typeface="Calibri" pitchFamily="34" charset="0"/>
                <a:ea typeface="Calibri" pitchFamily="34" charset="-122"/>
                <a:cs typeface="Calibri" pitchFamily="34" charset="-120"/>
              </a:rPr>
              <a:t> — never by live repos in either direction</a:t>
            </a:r>
            <a:endParaRPr lang="en-US" sz="1300" dirty="0"/>
          </a:p>
        </p:txBody>
      </p:sp>
      <p:sp>
        <p:nvSpPr>
          <p:cNvPr id="42" name="Shape 34"/>
          <p:cNvSpPr/>
          <p:nvPr/>
        </p:nvSpPr>
        <p:spPr>
          <a:xfrm>
            <a:off x="548640" y="5029200"/>
            <a:ext cx="11094415" cy="1143000"/>
          </a:xfrm>
          <a:prstGeom prst="roundRect">
            <a:avLst>
              <a:gd name="adj" fmla="val 6400"/>
            </a:avLst>
          </a:prstGeom>
          <a:solidFill>
            <a:srgbClr val="EDF3FC"/>
          </a:solidFill>
          <a:ln/>
          <a:effectLst>
            <a:outerShdw sx="100000" sy="100000" kx="0" ky="0" algn="bl" rotWithShape="0" blurRad="76200" dist="12700" dir="5400000">
              <a:srgbClr val="9AA7C4">
                <a:alpha val="25000"/>
              </a:srgbClr>
            </a:outerShdw>
          </a:effectLst>
        </p:spPr>
      </p:sp>
      <p:sp>
        <p:nvSpPr>
          <p:cNvPr id="43" name="Shape 35"/>
          <p:cNvSpPr/>
          <p:nvPr/>
        </p:nvSpPr>
        <p:spPr>
          <a:xfrm>
            <a:off x="777240" y="5285232"/>
            <a:ext cx="594360" cy="594360"/>
          </a:xfrm>
          <a:prstGeom prst="ellipse">
            <a:avLst/>
          </a:prstGeom>
          <a:solidFill>
            <a:srgbClr val="1E2761"/>
          </a:solidFill>
          <a:ln/>
        </p:spPr>
      </p:sp>
      <p:pic>
        <p:nvPicPr>
          <p:cNvPr id="44" name="Image 6" descr="preencoded.png">    </p:cNvPr>
          <p:cNvPicPr>
            <a:picLocks noChangeAspect="1"/>
          </p:cNvPicPr>
          <p:nvPr/>
        </p:nvPicPr>
        <p:blipFill>
          <a:blip r:embed="rId7"/>
          <a:stretch>
            <a:fillRect/>
          </a:stretch>
        </p:blipFill>
        <p:spPr>
          <a:xfrm>
            <a:off x="931774" y="5439766"/>
            <a:ext cx="285293" cy="285293"/>
          </a:xfrm>
          <a:prstGeom prst="rect">
            <a:avLst/>
          </a:prstGeom>
        </p:spPr>
      </p:pic>
      <p:sp>
        <p:nvSpPr>
          <p:cNvPr id="45" name="Text 36"/>
          <p:cNvSpPr/>
          <p:nvPr/>
        </p:nvSpPr>
        <p:spPr>
          <a:xfrm>
            <a:off x="1554480" y="5193792"/>
            <a:ext cx="9859975" cy="86868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The paradigm shift:  </a:t>
            </a:r>
            <a:pPr indent="0" marL="0">
              <a:buNone/>
            </a:pPr>
            <a:r>
              <a:rPr lang="en-US" sz="1400" dirty="0">
                <a:solidFill>
                  <a:srgbClr val="1B2440"/>
                </a:solidFill>
                <a:latin typeface="Calibri" pitchFamily="34" charset="0"/>
                <a:ea typeface="Calibri" pitchFamily="34" charset="-122"/>
                <a:cs typeface="Calibri" pitchFamily="34" charset="-120"/>
              </a:rPr>
              <a:t>the internet repo is the </a:t>
            </a:r>
            <a:pPr indent="0" marL="0">
              <a:buNone/>
            </a:pPr>
            <a:r>
              <a:rPr lang="en-US" sz="1400" b="1" i="1" dirty="0">
                <a:solidFill>
                  <a:srgbClr val="1B2440"/>
                </a:solidFill>
                <a:latin typeface="Calibri" pitchFamily="34" charset="0"/>
                <a:ea typeface="Calibri" pitchFamily="34" charset="-122"/>
                <a:cs typeface="Calibri" pitchFamily="34" charset="-120"/>
              </a:rPr>
              <a:t>factory</a:t>
            </a:r>
            <a:pPr indent="0" marL="0">
              <a:buNone/>
            </a:pPr>
            <a:r>
              <a:rPr lang="en-US" sz="1400" dirty="0">
                <a:solidFill>
                  <a:srgbClr val="1B2440"/>
                </a:solidFill>
                <a:latin typeface="Calibri" pitchFamily="34" charset="0"/>
                <a:ea typeface="Calibri" pitchFamily="34" charset="-122"/>
                <a:cs typeface="Calibri" pitchFamily="34" charset="-120"/>
              </a:rPr>
              <a:t>; the Confi repo is the </a:t>
            </a:r>
            <a:pPr indent="0" marL="0">
              <a:buNone/>
            </a:pPr>
            <a:r>
              <a:rPr lang="en-US" sz="1400" b="1" i="1" dirty="0">
                <a:solidFill>
                  <a:srgbClr val="1B2440"/>
                </a:solidFill>
                <a:latin typeface="Calibri" pitchFamily="34" charset="0"/>
                <a:ea typeface="Calibri" pitchFamily="34" charset="-122"/>
                <a:cs typeface="Calibri" pitchFamily="34" charset="-120"/>
              </a:rPr>
              <a:t>product</a:t>
            </a:r>
            <a:pPr indent="0" marL="0">
              <a:buNone/>
            </a:pPr>
            <a:r>
              <a:rPr lang="en-US" sz="1400" dirty="0">
                <a:solidFill>
                  <a:srgbClr val="1B2440"/>
                </a:solidFill>
                <a:latin typeface="Calibri" pitchFamily="34" charset="0"/>
                <a:ea typeface="Calibri" pitchFamily="34" charset="-122"/>
                <a:cs typeface="Calibri" pitchFamily="34" charset="-120"/>
              </a:rPr>
              <a:t>. All feature engineering happens outside against mocks; inside becomes an integration, binding, and verification activity — wiring, not debugging.</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algn="l" indent="0" marL="0">
              <a:buNone/>
            </a:pPr>
            <a:r>
              <a:rPr lang="en-US" sz="900" dirty="0">
                <a:solidFill>
                  <a:srgbClr val="5A6B8C"/>
                </a:solidFill>
                <a:latin typeface="Calibri" pitchFamily="34" charset="0"/>
                <a:ea typeface="Calibri" pitchFamily="34" charset="-122"/>
                <a:cs typeface="Calibri" pitchFamily="34" charset="-120"/>
              </a:rPr>
              <a:t>Internet-First, Airgap-Final</a:t>
            </a:r>
            <a:endParaRPr lang="en-US" sz="900" dirty="0"/>
          </a:p>
        </p:txBody>
      </p:sp>
      <p:sp>
        <p:nvSpPr>
          <p:cNvPr id="3" name="Text 1"/>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A6B8C"/>
                </a:solidFill>
                <a:latin typeface="Calibri" pitchFamily="34" charset="0"/>
                <a:ea typeface="Calibri" pitchFamily="34" charset="-122"/>
                <a:cs typeface="Calibri" pitchFamily="34" charset="-120"/>
              </a:rPr>
              <a:t>4</a:t>
            </a:r>
            <a:endParaRPr lang="en-US" sz="900" dirty="0"/>
          </a:p>
        </p:txBody>
      </p:sp>
      <p:sp>
        <p:nvSpPr>
          <p:cNvPr id="4" name="Text 2"/>
          <p:cNvSpPr/>
          <p:nvPr/>
        </p:nvSpPr>
        <p:spPr>
          <a:xfrm>
            <a:off x="548640" y="384048"/>
            <a:ext cx="11094415" cy="274320"/>
          </a:xfrm>
          <a:prstGeom prst="rect">
            <a:avLst/>
          </a:prstGeom>
          <a:noFill/>
          <a:ln/>
        </p:spPr>
        <p:txBody>
          <a:bodyPr wrap="square" lIns="0" tIns="0" rIns="0" bIns="0" rtlCol="0" anchor="ctr"/>
          <a:lstStyle/>
          <a:p>
            <a:pPr indent="0" marL="0">
              <a:buNone/>
            </a:pPr>
            <a:r>
              <a:rPr lang="en-US" sz="1200" b="1" spc="300" kern="0" dirty="0">
                <a:solidFill>
                  <a:srgbClr val="5A6B8C"/>
                </a:solidFill>
                <a:latin typeface="Calibri" pitchFamily="34" charset="0"/>
                <a:ea typeface="Calibri" pitchFamily="34" charset="-122"/>
                <a:cs typeface="Calibri" pitchFamily="34" charset="-120"/>
              </a:rPr>
              <a:t>THE THREAT MODEL</a:t>
            </a:r>
            <a:endParaRPr lang="en-US" sz="1200" dirty="0"/>
          </a:p>
        </p:txBody>
      </p:sp>
      <p:sp>
        <p:nvSpPr>
          <p:cNvPr id="5" name="Text 3"/>
          <p:cNvSpPr/>
          <p:nvPr/>
        </p:nvSpPr>
        <p:spPr>
          <a:xfrm>
            <a:off x="548640" y="658368"/>
            <a:ext cx="11094415" cy="621792"/>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What crosses the gate — and what never does</a:t>
            </a:r>
            <a:endParaRPr lang="en-US" sz="3000" dirty="0"/>
          </a:p>
        </p:txBody>
      </p:sp>
      <p:sp>
        <p:nvSpPr>
          <p:cNvPr id="6" name="Shape 4"/>
          <p:cNvSpPr/>
          <p:nvPr/>
        </p:nvSpPr>
        <p:spPr>
          <a:xfrm>
            <a:off x="548640" y="1645920"/>
            <a:ext cx="5364328" cy="4434840"/>
          </a:xfrm>
          <a:prstGeom prst="roundRect">
            <a:avLst>
              <a:gd name="adj" fmla="val 1649"/>
            </a:avLst>
          </a:prstGeom>
          <a:solidFill>
            <a:srgbClr val="EAF4EF"/>
          </a:solidFill>
          <a:ln/>
          <a:effectLst>
            <a:outerShdw sx="100000" sy="100000" kx="0" ky="0" algn="bl" rotWithShape="0" blurRad="76200" dist="12700" dir="5400000">
              <a:srgbClr val="9AA7C4">
                <a:alpha val="25000"/>
              </a:srgbClr>
            </a:outerShdw>
          </a:effectLst>
        </p:spPr>
      </p:sp>
      <p:sp>
        <p:nvSpPr>
          <p:cNvPr id="7" name="Shape 5"/>
          <p:cNvSpPr/>
          <p:nvPr/>
        </p:nvSpPr>
        <p:spPr>
          <a:xfrm>
            <a:off x="822960" y="1874520"/>
            <a:ext cx="548640" cy="548640"/>
          </a:xfrm>
          <a:prstGeom prst="ellipse">
            <a:avLst/>
          </a:prstGeom>
          <a:solidFill>
            <a:srgbClr val="2E7D5B"/>
          </a:solidFill>
          <a:ln/>
        </p:spPr>
      </p:sp>
      <p:pic>
        <p:nvPicPr>
          <p:cNvPr id="8" name="Image 0" descr="preencoded.png">    </p:cNvPr>
          <p:cNvPicPr>
            <a:picLocks noChangeAspect="1"/>
          </p:cNvPicPr>
          <p:nvPr/>
        </p:nvPicPr>
        <p:blipFill>
          <a:blip r:embed="rId1"/>
          <a:stretch>
            <a:fillRect/>
          </a:stretch>
        </p:blipFill>
        <p:spPr>
          <a:xfrm>
            <a:off x="965606" y="2017166"/>
            <a:ext cx="263347" cy="263347"/>
          </a:xfrm>
          <a:prstGeom prst="rect">
            <a:avLst/>
          </a:prstGeom>
        </p:spPr>
      </p:pic>
      <p:sp>
        <p:nvSpPr>
          <p:cNvPr id="9" name="Text 6"/>
          <p:cNvSpPr/>
          <p:nvPr/>
        </p:nvSpPr>
        <p:spPr>
          <a:xfrm>
            <a:off x="1508760" y="1938528"/>
            <a:ext cx="4175608" cy="457200"/>
          </a:xfrm>
          <a:prstGeom prst="rect">
            <a:avLst/>
          </a:prstGeom>
          <a:noFill/>
          <a:ln/>
        </p:spPr>
        <p:txBody>
          <a:bodyPr wrap="square" lIns="0" tIns="0" rIns="0" bIns="0" rtlCol="0" anchor="ctr"/>
          <a:lstStyle/>
          <a:p>
            <a:pPr indent="0" marL="0">
              <a:buNone/>
            </a:pPr>
            <a:r>
              <a:rPr lang="en-US" sz="1500" b="1" dirty="0">
                <a:solidFill>
                  <a:srgbClr val="2E7D5B"/>
                </a:solidFill>
                <a:latin typeface="Calibri" pitchFamily="34" charset="0"/>
                <a:ea typeface="Calibri" pitchFamily="34" charset="-122"/>
                <a:cs typeface="Calibri" pitchFamily="34" charset="-120"/>
              </a:rPr>
              <a:t>OUTBOUND: the Spec Package (lean, abstract)</a:t>
            </a:r>
            <a:endParaRPr lang="en-US" sz="1500" dirty="0"/>
          </a:p>
        </p:txBody>
      </p:sp>
      <p:sp>
        <p:nvSpPr>
          <p:cNvPr id="10" name="Text 7"/>
          <p:cNvSpPr/>
          <p:nvPr/>
        </p:nvSpPr>
        <p:spPr>
          <a:xfrm>
            <a:off x="868680" y="2606040"/>
            <a:ext cx="4724248" cy="2377440"/>
          </a:xfrm>
          <a:prstGeom prst="rect">
            <a:avLst/>
          </a:prstGeom>
          <a:noFill/>
          <a:ln/>
        </p:spPr>
        <p:txBody>
          <a:bodyPr wrap="square" lIns="0" tIns="0" rIns="0" bIns="0" rtlCol="0" anchor="ctr"/>
          <a:lstStyle/>
          <a:p>
            <a:pPr marL="342900" indent="-342900">
              <a:spcAft>
                <a:spcPts val="800"/>
              </a:spcAft>
              <a:buSzPct val="100000"/>
              <a:buChar char="•"/>
            </a:pPr>
            <a:r>
              <a:rPr lang="en-US" sz="1300" dirty="0">
                <a:solidFill>
                  <a:srgbClr val="1B2440"/>
                </a:solidFill>
                <a:latin typeface="Calibri" pitchFamily="34" charset="0"/>
                <a:ea typeface="Calibri" pitchFamily="34" charset="-122"/>
                <a:cs typeface="Calibri" pitchFamily="34" charset="-120"/>
              </a:rPr>
              <a:t>Routes &amp; navigation structure (desensitized names)</a:t>
            </a:r>
            <a:endParaRPr lang="en-US" sz="1300" dirty="0"/>
          </a:p>
          <a:p>
            <a:pPr marL="342900" indent="-342900">
              <a:spcAft>
                <a:spcPts val="800"/>
              </a:spcAft>
              <a:buSzPct val="100000"/>
              <a:buChar char="•"/>
            </a:pPr>
            <a:r>
              <a:rPr lang="en-US" sz="1300" dirty="0">
                <a:solidFill>
                  <a:srgbClr val="1B2440"/>
                </a:solidFill>
                <a:latin typeface="Calibri" pitchFamily="34" charset="0"/>
                <a:ea typeface="Calibri" pitchFamily="34" charset="-122"/>
                <a:cs typeface="Calibri" pitchFamily="34" charset="-120"/>
              </a:rPr>
              <a:t>Component-tree layouts &amp; interaction descriptions</a:t>
            </a:r>
            <a:endParaRPr lang="en-US" sz="1300" dirty="0"/>
          </a:p>
          <a:p>
            <a:pPr marL="342900" indent="-342900">
              <a:spcAft>
                <a:spcPts val="800"/>
              </a:spcAft>
              <a:buSzPct val="100000"/>
              <a:buChar char="•"/>
            </a:pPr>
            <a:r>
              <a:rPr lang="en-US" sz="1300" dirty="0">
                <a:solidFill>
                  <a:srgbClr val="1B2440"/>
                </a:solidFill>
                <a:latin typeface="Calibri" pitchFamily="34" charset="0"/>
                <a:ea typeface="Calibri" pitchFamily="34" charset="-122"/>
                <a:cs typeface="Calibri" pitchFamily="34" charset="-120"/>
              </a:rPr>
              <a:t>Service method signatures (renamed, no bodies with rule values)</a:t>
            </a:r>
            <a:endParaRPr lang="en-US" sz="1300" dirty="0"/>
          </a:p>
          <a:p>
            <a:pPr marL="342900" indent="-342900">
              <a:spcAft>
                <a:spcPts val="800"/>
              </a:spcAft>
              <a:buSzPct val="100000"/>
              <a:buChar char="•"/>
            </a:pPr>
            <a:r>
              <a:rPr lang="en-US" sz="1300" dirty="0">
                <a:solidFill>
                  <a:srgbClr val="1B2440"/>
                </a:solidFill>
                <a:latin typeface="Calibri" pitchFamily="34" charset="0"/>
                <a:ea typeface="Calibri" pitchFamily="34" charset="-122"/>
                <a:cs typeface="Calibri" pitchFamily="34" charset="-120"/>
              </a:rPr>
              <a:t>API contracts — OpenAPI spec + synthetic sample JSON</a:t>
            </a:r>
            <a:endParaRPr lang="en-US" sz="1300" dirty="0"/>
          </a:p>
          <a:p>
            <a:pPr marL="342900" indent="-342900">
              <a:spcAft>
                <a:spcPts val="800"/>
              </a:spcAft>
              <a:buSzPct val="100000"/>
              <a:buChar char="•"/>
            </a:pPr>
            <a:r>
              <a:rPr lang="en-US" sz="1300" dirty="0">
                <a:solidFill>
                  <a:srgbClr val="1B2440"/>
                </a:solidFill>
                <a:latin typeface="Calibri" pitchFamily="34" charset="0"/>
                <a:ea typeface="Calibri" pitchFamily="34" charset="-122"/>
                <a:cs typeface="Calibri" pitchFamily="34" charset="-120"/>
              </a:rPr>
              <a:t>Abstract rule keys &amp; schema shapes (RULE_017 — never the value)</a:t>
            </a:r>
            <a:endParaRPr lang="en-US" sz="1300" dirty="0"/>
          </a:p>
          <a:p>
            <a:pPr marL="342900" indent="-342900">
              <a:spcAft>
                <a:spcPts val="800"/>
              </a:spcAft>
              <a:buSzPct val="100000"/>
              <a:buChar char="•"/>
            </a:pPr>
            <a:r>
              <a:rPr lang="en-US" sz="1300" dirty="0">
                <a:solidFill>
                  <a:srgbClr val="1B2440"/>
                </a:solidFill>
                <a:latin typeface="Calibri" pitchFamily="34" charset="0"/>
                <a:ea typeface="Calibri" pitchFamily="34" charset="-122"/>
                <a:cs typeface="Calibri" pitchFamily="34" charset="-120"/>
              </a:rPr>
              <a:t>Selected sanitized source via code_extractor trace</a:t>
            </a:r>
            <a:endParaRPr lang="en-US" sz="1300" dirty="0"/>
          </a:p>
        </p:txBody>
      </p:sp>
      <p:sp>
        <p:nvSpPr>
          <p:cNvPr id="11" name="Text 8"/>
          <p:cNvSpPr/>
          <p:nvPr/>
        </p:nvSpPr>
        <p:spPr>
          <a:xfrm>
            <a:off x="868680" y="5166360"/>
            <a:ext cx="4724248" cy="777240"/>
          </a:xfrm>
          <a:prstGeom prst="rect">
            <a:avLst/>
          </a:prstGeom>
          <a:noFill/>
          <a:ln/>
        </p:spPr>
        <p:txBody>
          <a:bodyPr wrap="square" lIns="0" tIns="0" rIns="0" bIns="0" rtlCol="0" anchor="ctr"/>
          <a:lstStyle/>
          <a:p>
            <a:pPr indent="0" marL="0">
              <a:buNone/>
            </a:pPr>
            <a:r>
              <a:rPr lang="en-US" sz="1250" b="1" dirty="0">
                <a:solidFill>
                  <a:srgbClr val="2E7D5B"/>
                </a:solidFill>
                <a:latin typeface="Calibri" pitchFamily="34" charset="0"/>
                <a:ea typeface="Calibri" pitchFamily="34" charset="-122"/>
                <a:cs typeface="Calibri" pitchFamily="34" charset="-120"/>
              </a:rPr>
              <a:t>Rule of thumb: </a:t>
            </a:r>
            <a:pPr indent="0" marL="0">
              <a:buNone/>
            </a:pPr>
            <a:r>
              <a:rPr lang="en-US" sz="1250" dirty="0">
                <a:solidFill>
                  <a:srgbClr val="1B2440"/>
                </a:solidFill>
                <a:latin typeface="Calibri" pitchFamily="34" charset="0"/>
                <a:ea typeface="Calibri" pitchFamily="34" charset="-122"/>
                <a:cs typeface="Calibri" pitchFamily="34" charset="-120"/>
              </a:rPr>
              <a:t>everything outbound must read as a generic “Looking at Trees” retail app to an outsider — structure yes, meaning no.</a:t>
            </a:r>
            <a:endParaRPr lang="en-US" sz="1250" dirty="0"/>
          </a:p>
        </p:txBody>
      </p:sp>
      <p:sp>
        <p:nvSpPr>
          <p:cNvPr id="12" name="Shape 9"/>
          <p:cNvSpPr/>
          <p:nvPr/>
        </p:nvSpPr>
        <p:spPr>
          <a:xfrm>
            <a:off x="6278728" y="1645920"/>
            <a:ext cx="5364328" cy="4434840"/>
          </a:xfrm>
          <a:prstGeom prst="roundRect">
            <a:avLst>
              <a:gd name="adj" fmla="val 1649"/>
            </a:avLst>
          </a:prstGeom>
          <a:solidFill>
            <a:srgbClr val="FBEDEB"/>
          </a:solidFill>
          <a:ln/>
          <a:effectLst>
            <a:outerShdw sx="100000" sy="100000" kx="0" ky="0" algn="bl" rotWithShape="0" blurRad="76200" dist="12700" dir="5400000">
              <a:srgbClr val="9AA7C4">
                <a:alpha val="25000"/>
              </a:srgbClr>
            </a:outerShdw>
          </a:effectLst>
        </p:spPr>
      </p:sp>
      <p:sp>
        <p:nvSpPr>
          <p:cNvPr id="13" name="Shape 10"/>
          <p:cNvSpPr/>
          <p:nvPr/>
        </p:nvSpPr>
        <p:spPr>
          <a:xfrm>
            <a:off x="6553048" y="1874520"/>
            <a:ext cx="548640" cy="548640"/>
          </a:xfrm>
          <a:prstGeom prst="ellipse">
            <a:avLst/>
          </a:prstGeom>
          <a:solidFill>
            <a:srgbClr val="C0392B"/>
          </a:solidFill>
          <a:ln/>
        </p:spPr>
      </p:sp>
      <p:pic>
        <p:nvPicPr>
          <p:cNvPr id="14" name="Image 1" descr="preencoded.png">    </p:cNvPr>
          <p:cNvPicPr>
            <a:picLocks noChangeAspect="1"/>
          </p:cNvPicPr>
          <p:nvPr/>
        </p:nvPicPr>
        <p:blipFill>
          <a:blip r:embed="rId2"/>
          <a:stretch>
            <a:fillRect/>
          </a:stretch>
        </p:blipFill>
        <p:spPr>
          <a:xfrm>
            <a:off x="6695694" y="2017166"/>
            <a:ext cx="263347" cy="263347"/>
          </a:xfrm>
          <a:prstGeom prst="rect">
            <a:avLst/>
          </a:prstGeom>
        </p:spPr>
      </p:pic>
      <p:sp>
        <p:nvSpPr>
          <p:cNvPr id="15" name="Text 11"/>
          <p:cNvSpPr/>
          <p:nvPr/>
        </p:nvSpPr>
        <p:spPr>
          <a:xfrm>
            <a:off x="7238848" y="1938528"/>
            <a:ext cx="4175608" cy="457200"/>
          </a:xfrm>
          <a:prstGeom prst="rect">
            <a:avLst/>
          </a:prstGeom>
          <a:noFill/>
          <a:ln/>
        </p:spPr>
        <p:txBody>
          <a:bodyPr wrap="square" lIns="0" tIns="0" rIns="0" bIns="0" rtlCol="0" anchor="ctr"/>
          <a:lstStyle/>
          <a:p>
            <a:pPr indent="0" marL="0">
              <a:buNone/>
            </a:pPr>
            <a:r>
              <a:rPr lang="en-US" sz="1500" b="1" dirty="0">
                <a:solidFill>
                  <a:srgbClr val="C0392B"/>
                </a:solidFill>
                <a:latin typeface="Calibri" pitchFamily="34" charset="0"/>
                <a:ea typeface="Calibri" pitchFamily="34" charset="-122"/>
                <a:cs typeface="Calibri" pitchFamily="34" charset="-120"/>
              </a:rPr>
              <a:t>NEVER LEAVES THE AIRGAP</a:t>
            </a:r>
            <a:endParaRPr lang="en-US" sz="1500" dirty="0"/>
          </a:p>
        </p:txBody>
      </p:sp>
      <p:sp>
        <p:nvSpPr>
          <p:cNvPr id="16" name="Text 12"/>
          <p:cNvSpPr/>
          <p:nvPr/>
        </p:nvSpPr>
        <p:spPr>
          <a:xfrm>
            <a:off x="6598768" y="2606040"/>
            <a:ext cx="4724248" cy="2377440"/>
          </a:xfrm>
          <a:prstGeom prst="rect">
            <a:avLst/>
          </a:prstGeom>
          <a:noFill/>
          <a:ln/>
        </p:spPr>
        <p:txBody>
          <a:bodyPr wrap="square" lIns="0" tIns="0" rIns="0" bIns="0" rtlCol="0" anchor="ctr"/>
          <a:lstStyle/>
          <a:p>
            <a:pPr marL="342900" indent="-342900">
              <a:spcAft>
                <a:spcPts val="800"/>
              </a:spcAft>
              <a:buSzPct val="100000"/>
              <a:buChar char="•"/>
            </a:pPr>
            <a:r>
              <a:rPr lang="en-US" sz="1300" dirty="0">
                <a:solidFill>
                  <a:srgbClr val="1B2440"/>
                </a:solidFill>
                <a:latin typeface="Calibri" pitchFamily="34" charset="0"/>
                <a:ea typeface="Calibri" pitchFamily="34" charset="-122"/>
                <a:cs typeface="Calibri" pitchFamily="34" charset="-120"/>
              </a:rPr>
              <a:t>mapping.json — the single most sensitive artifact we now own</a:t>
            </a:r>
            <a:endParaRPr lang="en-US" sz="1300" dirty="0"/>
          </a:p>
          <a:p>
            <a:pPr marL="342900" indent="-342900">
              <a:spcAft>
                <a:spcPts val="800"/>
              </a:spcAft>
              <a:buSzPct val="100000"/>
              <a:buChar char="•"/>
            </a:pPr>
            <a:r>
              <a:rPr lang="en-US" sz="1300" dirty="0">
                <a:solidFill>
                  <a:srgbClr val="1B2440"/>
                </a:solidFill>
                <a:latin typeface="Calibri" pitchFamily="34" charset="0"/>
                <a:ea typeface="Calibri" pitchFamily="34" charset="-122"/>
                <a:cs typeface="Calibri" pitchFamily="34" charset="-120"/>
              </a:rPr>
              <a:t>Real terminology, entity names, org structure, user identities</a:t>
            </a:r>
            <a:endParaRPr lang="en-US" sz="1300" dirty="0"/>
          </a:p>
          <a:p>
            <a:pPr marL="342900" indent="-342900">
              <a:spcAft>
                <a:spcPts val="800"/>
              </a:spcAft>
              <a:buSzPct val="100000"/>
              <a:buChar char="•"/>
            </a:pPr>
            <a:r>
              <a:rPr lang="en-US" sz="1300" dirty="0">
                <a:solidFill>
                  <a:srgbClr val="1B2440"/>
                </a:solidFill>
                <a:latin typeface="Calibri" pitchFamily="34" charset="0"/>
                <a:ea typeface="Calibri" pitchFamily="34" charset="-122"/>
                <a:cs typeface="Calibri" pitchFamily="34" charset="-120"/>
              </a:rPr>
              <a:t>Business-rule VALUES: thresholds, formulas, decision tables</a:t>
            </a:r>
            <a:endParaRPr lang="en-US" sz="1300" dirty="0"/>
          </a:p>
          <a:p>
            <a:pPr marL="342900" indent="-342900">
              <a:spcAft>
                <a:spcPts val="800"/>
              </a:spcAft>
              <a:buSzPct val="100000"/>
              <a:buChar char="•"/>
            </a:pPr>
            <a:r>
              <a:rPr lang="en-US" sz="1300" dirty="0">
                <a:solidFill>
                  <a:srgbClr val="1B2440"/>
                </a:solidFill>
                <a:latin typeface="Calibri" pitchFamily="34" charset="0"/>
                <a:ea typeface="Calibri" pitchFamily="34" charset="-122"/>
                <a:cs typeface="Calibri" pitchFamily="34" charset="-120"/>
              </a:rPr>
              <a:t>Real data, real fixtures, real payloads — synthetic only outside</a:t>
            </a:r>
            <a:endParaRPr lang="en-US" sz="1300" dirty="0"/>
          </a:p>
          <a:p>
            <a:pPr marL="342900" indent="-342900">
              <a:spcAft>
                <a:spcPts val="800"/>
              </a:spcAft>
              <a:buSzPct val="100000"/>
              <a:buChar char="•"/>
            </a:pPr>
            <a:r>
              <a:rPr lang="en-US" sz="1300" dirty="0">
                <a:solidFill>
                  <a:srgbClr val="1B2440"/>
                </a:solidFill>
                <a:latin typeface="Calibri" pitchFamily="34" charset="0"/>
                <a:ea typeface="Calibri" pitchFamily="34" charset="-122"/>
                <a:cs typeface="Calibri" pitchFamily="34" charset="-120"/>
              </a:rPr>
              <a:t>Infrastructure: URLs, certs, SSO config, pipeline internals</a:t>
            </a:r>
            <a:endParaRPr lang="en-US" sz="1300" dirty="0"/>
          </a:p>
          <a:p>
            <a:pPr marL="342900" indent="-342900">
              <a:spcAft>
                <a:spcPts val="800"/>
              </a:spcAft>
              <a:buSzPct val="100000"/>
              <a:buChar char="•"/>
            </a:pPr>
            <a:r>
              <a:rPr lang="en-US" sz="1300" dirty="0">
                <a:solidFill>
                  <a:srgbClr val="1B2440"/>
                </a:solidFill>
                <a:latin typeface="Calibri" pitchFamily="34" charset="0"/>
                <a:ea typeface="Calibri" pitchFamily="34" charset="-122"/>
                <a:cs typeface="Calibri" pitchFamily="34" charset="-120"/>
              </a:rPr>
              <a:t>Full repository exports — spec packages only, ever</a:t>
            </a:r>
            <a:endParaRPr lang="en-US" sz="1300" dirty="0"/>
          </a:p>
        </p:txBody>
      </p:sp>
      <p:sp>
        <p:nvSpPr>
          <p:cNvPr id="17" name="Text 13"/>
          <p:cNvSpPr/>
          <p:nvPr/>
        </p:nvSpPr>
        <p:spPr>
          <a:xfrm>
            <a:off x="6598768" y="5166360"/>
            <a:ext cx="4724248" cy="777240"/>
          </a:xfrm>
          <a:prstGeom prst="rect">
            <a:avLst/>
          </a:prstGeom>
          <a:noFill/>
          <a:ln/>
        </p:spPr>
        <p:txBody>
          <a:bodyPr wrap="square" lIns="0" tIns="0" rIns="0" bIns="0" rtlCol="0" anchor="ctr"/>
          <a:lstStyle/>
          <a:p>
            <a:pPr indent="0" marL="0">
              <a:buNone/>
            </a:pPr>
            <a:r>
              <a:rPr lang="en-US" sz="1250" b="1" dirty="0">
                <a:solidFill>
                  <a:srgbClr val="C0392B"/>
                </a:solidFill>
                <a:latin typeface="Calibri" pitchFamily="34" charset="0"/>
                <a:ea typeface="Calibri" pitchFamily="34" charset="-122"/>
                <a:cs typeface="Calibri" pitchFamily="34" charset="-120"/>
              </a:rPr>
              <a:t>Treat mapping.json like a key file: </a:t>
            </a:r>
            <a:pPr indent="0" marL="0">
              <a:buNone/>
            </a:pPr>
            <a:r>
              <a:rPr lang="en-US" sz="1250" dirty="0">
                <a:solidFill>
                  <a:srgbClr val="1B2440"/>
                </a:solidFill>
                <a:latin typeface="Calibri" pitchFamily="34" charset="0"/>
                <a:ea typeface="Calibri" pitchFamily="34" charset="-122"/>
                <a:cs typeface="Calibri" pitchFamily="34" charset="-120"/>
              </a:rPr>
              <a:t>encrypted at rest, access-logged, named custodians, never in any repo — inside or outside.</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algn="l" indent="0" marL="0">
              <a:buNone/>
            </a:pPr>
            <a:r>
              <a:rPr lang="en-US" sz="900" dirty="0">
                <a:solidFill>
                  <a:srgbClr val="5A6B8C"/>
                </a:solidFill>
                <a:latin typeface="Calibri" pitchFamily="34" charset="0"/>
                <a:ea typeface="Calibri" pitchFamily="34" charset="-122"/>
                <a:cs typeface="Calibri" pitchFamily="34" charset="-120"/>
              </a:rPr>
              <a:t>Internet-First, Airgap-Final</a:t>
            </a:r>
            <a:endParaRPr lang="en-US" sz="900" dirty="0"/>
          </a:p>
        </p:txBody>
      </p:sp>
      <p:sp>
        <p:nvSpPr>
          <p:cNvPr id="3" name="Text 1"/>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A6B8C"/>
                </a:solidFill>
                <a:latin typeface="Calibri" pitchFamily="34" charset="0"/>
                <a:ea typeface="Calibri" pitchFamily="34" charset="-122"/>
                <a:cs typeface="Calibri" pitchFamily="34" charset="-120"/>
              </a:rPr>
              <a:t>5</a:t>
            </a:r>
            <a:endParaRPr lang="en-US" sz="900" dirty="0"/>
          </a:p>
        </p:txBody>
      </p:sp>
      <p:sp>
        <p:nvSpPr>
          <p:cNvPr id="4" name="Text 2"/>
          <p:cNvSpPr/>
          <p:nvPr/>
        </p:nvSpPr>
        <p:spPr>
          <a:xfrm>
            <a:off x="548640" y="384048"/>
            <a:ext cx="11094415" cy="274320"/>
          </a:xfrm>
          <a:prstGeom prst="rect">
            <a:avLst/>
          </a:prstGeom>
          <a:noFill/>
          <a:ln/>
        </p:spPr>
        <p:txBody>
          <a:bodyPr wrap="square" lIns="0" tIns="0" rIns="0" bIns="0" rtlCol="0" anchor="ctr"/>
          <a:lstStyle/>
          <a:p>
            <a:pPr indent="0" marL="0">
              <a:buNone/>
            </a:pPr>
            <a:r>
              <a:rPr lang="en-US" sz="1200" b="1" spc="300" kern="0" dirty="0">
                <a:solidFill>
                  <a:srgbClr val="5A6B8C"/>
                </a:solidFill>
                <a:latin typeface="Calibri" pitchFamily="34" charset="0"/>
                <a:ea typeface="Calibri" pitchFamily="34" charset="-122"/>
                <a:cs typeface="Calibri" pitchFamily="34" charset="-120"/>
              </a:rPr>
              <a:t>CORE PATTERN · SOLVING THE SENSITIZER DILEMMA</a:t>
            </a:r>
            <a:endParaRPr lang="en-US" sz="1200" dirty="0"/>
          </a:p>
        </p:txBody>
      </p:sp>
      <p:sp>
        <p:nvSpPr>
          <p:cNvPr id="5" name="Text 3"/>
          <p:cNvSpPr/>
          <p:nvPr/>
        </p:nvSpPr>
        <p:spPr>
          <a:xfrm>
            <a:off x="548640" y="658368"/>
            <a:ext cx="11094415" cy="621792"/>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Passive Shells + Logic Packs</a:t>
            </a:r>
            <a:endParaRPr lang="en-US" sz="3000" dirty="0"/>
          </a:p>
        </p:txBody>
      </p:sp>
      <p:sp>
        <p:nvSpPr>
          <p:cNvPr id="6" name="Text 4"/>
          <p:cNvSpPr/>
          <p:nvPr/>
        </p:nvSpPr>
        <p:spPr>
          <a:xfrm>
            <a:off x="548640" y="1691640"/>
            <a:ext cx="4937760" cy="4206240"/>
          </a:xfrm>
          <a:prstGeom prst="rect">
            <a:avLst/>
          </a:prstGeom>
          <a:noFill/>
          <a:ln/>
        </p:spPr>
        <p:txBody>
          <a:bodyPr wrap="square" lIns="0" tIns="0" rIns="0" bIns="0" rtlCol="0" anchor="ctr"/>
          <a:lstStyle/>
          <a:p>
            <a:pPr indent="0" marL="0">
              <a:spcAft>
                <a:spcPts val="600"/>
              </a:spcAft>
              <a:buNone/>
            </a:pPr>
            <a:r>
              <a:rPr lang="en-US" sz="1450" b="1" dirty="0">
                <a:solidFill>
                  <a:srgbClr val="1E2761"/>
                </a:solidFill>
                <a:latin typeface="Calibri" pitchFamily="34" charset="0"/>
                <a:ea typeface="Calibri" pitchFamily="34" charset="-122"/>
                <a:cs typeface="Calibri" pitchFamily="34" charset="-120"/>
              </a:rPr>
              <a:t>Stop planning a tool that rewrites business logic — </a:t>
            </a:r>
            <a:endParaRPr lang="en-US" sz="1450" dirty="0"/>
          </a:p>
          <a:p>
            <a:pPr indent="0" marL="0">
              <a:spcAft>
                <a:spcPts val="600"/>
              </a:spcAft>
              <a:buNone/>
            </a:pPr>
            <a:r>
              <a:rPr lang="en-US" sz="1450" dirty="0">
                <a:solidFill>
                  <a:srgbClr val="1B2440"/>
                </a:solidFill>
                <a:latin typeface="Calibri" pitchFamily="34" charset="0"/>
                <a:ea typeface="Calibri" pitchFamily="34" charset="-122"/>
                <a:cs typeface="Calibri" pitchFamily="34" charset="-120"/>
              </a:rPr>
              <a:t>code that must be transformed after every crossing will drift and break. Instead, make the sensitive logic </a:t>
            </a:r>
            <a:pPr indent="0" marL="0">
              <a:spcAft>
                <a:spcPts val="600"/>
              </a:spcAft>
              <a:buNone/>
            </a:pPr>
            <a:r>
              <a:rPr lang="en-US" sz="1450" b="1" dirty="0">
                <a:solidFill>
                  <a:srgbClr val="1B2440"/>
                </a:solidFill>
                <a:latin typeface="Calibri" pitchFamily="34" charset="0"/>
                <a:ea typeface="Calibri" pitchFamily="34" charset="-122"/>
                <a:cs typeface="Calibri" pitchFamily="34" charset="-120"/>
              </a:rPr>
              <a:t>data, not code.</a:t>
            </a:r>
            <a:endParaRPr lang="en-US" sz="1450" dirty="0"/>
          </a:p>
          <a:p>
            <a:pPr indent="0" marL="0">
              <a:spcAft>
                <a:spcPts val="600"/>
              </a:spcAft>
              <a:buNone/>
            </a:pPr>
            <a:endParaRPr lang="en-US" sz="1450" dirty="0"/>
          </a:p>
          <a:p>
            <a:pPr indent="0" marL="0">
              <a:spcAft>
                <a:spcPts val="600"/>
              </a:spcAft>
              <a:buNone/>
            </a:pPr>
            <a:r>
              <a:rPr lang="en-US" sz="1450" dirty="0">
                <a:solidFill>
                  <a:srgbClr val="1B2440"/>
                </a:solidFill>
                <a:latin typeface="Calibri" pitchFamily="34" charset="0"/>
                <a:ea typeface="Calibri" pitchFamily="34" charset="-122"/>
                <a:cs typeface="Calibri" pitchFamily="34" charset="-120"/>
              </a:rPr>
              <a:t>The React MFE built outside is a passive shell: it renders whatever schema, state machine, and rule outcomes it is given. Outside, it is fed a fictional “trees” logic pack. Inside, the SAME unmodified bundle is fed the real pack at runtime.</a:t>
            </a:r>
            <a:endParaRPr lang="en-US" sz="1450" dirty="0"/>
          </a:p>
          <a:p>
            <a:pPr indent="0" marL="0">
              <a:spcAft>
                <a:spcPts val="600"/>
              </a:spcAft>
              <a:buNone/>
            </a:pPr>
            <a:endParaRPr lang="en-US" sz="1450" dirty="0"/>
          </a:p>
          <a:p>
            <a:pPr indent="0" marL="0">
              <a:spcAft>
                <a:spcPts val="600"/>
              </a:spcAft>
              <a:buNone/>
            </a:pPr>
            <a:r>
              <a:rPr lang="en-US" sz="1450" b="1" dirty="0">
                <a:solidFill>
                  <a:srgbClr val="2E7D5B"/>
                </a:solidFill>
                <a:latin typeface="Calibri" pitchFamily="34" charset="0"/>
                <a:ea typeface="Calibri" pitchFamily="34" charset="-122"/>
                <a:cs typeface="Calibri" pitchFamily="34" charset="-120"/>
              </a:rPr>
              <a:t>The “Sensitizer” stops being a risky code transformer and becomes a logic-pack authoring &amp; validation tool that lives entirely inside the airgap.</a:t>
            </a:r>
            <a:endParaRPr lang="en-US" sz="1450" dirty="0"/>
          </a:p>
        </p:txBody>
      </p:sp>
      <p:sp>
        <p:nvSpPr>
          <p:cNvPr id="7" name="Shape 5"/>
          <p:cNvSpPr/>
          <p:nvPr/>
        </p:nvSpPr>
        <p:spPr>
          <a:xfrm>
            <a:off x="5943600" y="1645920"/>
            <a:ext cx="5669280" cy="1965960"/>
          </a:xfrm>
          <a:prstGeom prst="roundRect">
            <a:avLst>
              <a:gd name="adj" fmla="val 3721"/>
            </a:avLst>
          </a:prstGeom>
          <a:solidFill>
            <a:srgbClr val="EAF4EF"/>
          </a:solidFill>
          <a:ln/>
          <a:effectLst>
            <a:outerShdw sx="100000" sy="100000" kx="0" ky="0" algn="bl" rotWithShape="0" blurRad="76200" dist="12700" dir="5400000">
              <a:srgbClr val="9AA7C4">
                <a:alpha val="25000"/>
              </a:srgbClr>
            </a:outerShdw>
          </a:effectLst>
        </p:spPr>
      </p:sp>
      <p:sp>
        <p:nvSpPr>
          <p:cNvPr id="8" name="Shape 6"/>
          <p:cNvSpPr/>
          <p:nvPr/>
        </p:nvSpPr>
        <p:spPr>
          <a:xfrm>
            <a:off x="6172200" y="1828800"/>
            <a:ext cx="502920" cy="502920"/>
          </a:xfrm>
          <a:prstGeom prst="ellipse">
            <a:avLst/>
          </a:prstGeom>
          <a:solidFill>
            <a:srgbClr val="2E7D5B"/>
          </a:solidFill>
          <a:ln/>
        </p:spPr>
      </p:sp>
      <p:pic>
        <p:nvPicPr>
          <p:cNvPr id="9" name="Image 0" descr="preencoded.png">    </p:cNvPr>
          <p:cNvPicPr>
            <a:picLocks noChangeAspect="1"/>
          </p:cNvPicPr>
          <p:nvPr/>
        </p:nvPicPr>
        <p:blipFill>
          <a:blip r:embed="rId1"/>
          <a:stretch>
            <a:fillRect/>
          </a:stretch>
        </p:blipFill>
        <p:spPr>
          <a:xfrm>
            <a:off x="6302959" y="1959559"/>
            <a:ext cx="241402" cy="241402"/>
          </a:xfrm>
          <a:prstGeom prst="rect">
            <a:avLst/>
          </a:prstGeom>
        </p:spPr>
      </p:pic>
      <p:sp>
        <p:nvSpPr>
          <p:cNvPr id="10" name="Text 7"/>
          <p:cNvSpPr/>
          <p:nvPr/>
        </p:nvSpPr>
        <p:spPr>
          <a:xfrm>
            <a:off x="6812280" y="1883664"/>
            <a:ext cx="4617720" cy="365760"/>
          </a:xfrm>
          <a:prstGeom prst="rect">
            <a:avLst/>
          </a:prstGeom>
          <a:noFill/>
          <a:ln/>
        </p:spPr>
        <p:txBody>
          <a:bodyPr wrap="square" lIns="0" tIns="0" rIns="0" bIns="0" rtlCol="0" anchor="ctr"/>
          <a:lstStyle/>
          <a:p>
            <a:pPr indent="0" marL="0">
              <a:buNone/>
            </a:pPr>
            <a:r>
              <a:rPr lang="en-US" sz="1300" b="1" dirty="0">
                <a:solidFill>
                  <a:srgbClr val="2E7D5B"/>
                </a:solidFill>
                <a:latin typeface="Calibri" pitchFamily="34" charset="0"/>
                <a:ea typeface="Calibri" pitchFamily="34" charset="-122"/>
                <a:cs typeface="Calibri" pitchFamily="34" charset="-120"/>
              </a:rPr>
              <a:t>BUILT ON THE INTERNET — the shell</a:t>
            </a:r>
            <a:endParaRPr lang="en-US" sz="1300" dirty="0"/>
          </a:p>
        </p:txBody>
      </p:sp>
      <p:sp>
        <p:nvSpPr>
          <p:cNvPr id="11" name="Text 8"/>
          <p:cNvSpPr/>
          <p:nvPr/>
        </p:nvSpPr>
        <p:spPr>
          <a:xfrm>
            <a:off x="6217920" y="2331720"/>
            <a:ext cx="5120640" cy="1188720"/>
          </a:xfrm>
          <a:prstGeom prst="rect">
            <a:avLst/>
          </a:prstGeom>
          <a:noFill/>
          <a:ln/>
        </p:spPr>
        <p:txBody>
          <a:bodyPr wrap="square" lIns="0" tIns="0" rIns="0" bIns="0" rtlCol="0" anchor="ctr"/>
          <a:lstStyle/>
          <a:p>
            <a:pPr marL="342900" indent="-342900">
              <a:spcAft>
                <a:spcPts val="500"/>
              </a:spcAft>
              <a:buSzPct val="100000"/>
              <a:buChar char="•"/>
            </a:pPr>
            <a:r>
              <a:rPr lang="en-US" sz="1200" dirty="0">
                <a:solidFill>
                  <a:srgbClr val="1B2440"/>
                </a:solidFill>
                <a:latin typeface="Calibri" pitchFamily="34" charset="0"/>
                <a:ea typeface="Calibri" pitchFamily="34" charset="-122"/>
                <a:cs typeface="Calibri" pitchFamily="34" charset="-120"/>
              </a:rPr>
              <a:t>Schema-driven forms &amp; validation engine (JSON Schema / Zod)</a:t>
            </a:r>
            <a:endParaRPr lang="en-US" sz="1200" dirty="0"/>
          </a:p>
          <a:p>
            <a:pPr marL="342900" indent="-342900">
              <a:spcAft>
                <a:spcPts val="500"/>
              </a:spcAft>
              <a:buSzPct val="100000"/>
              <a:buChar char="•"/>
            </a:pPr>
            <a:r>
              <a:rPr lang="en-US" sz="1200" dirty="0">
                <a:solidFill>
                  <a:srgbClr val="1B2440"/>
                </a:solidFill>
                <a:latin typeface="Calibri" pitchFamily="34" charset="0"/>
                <a:ea typeface="Calibri" pitchFamily="34" charset="-122"/>
                <a:cs typeface="Calibri" pitchFamily="34" charset="-120"/>
              </a:rPr>
              <a:t>Metadata-driven UI state machines (XState-style definitions)</a:t>
            </a:r>
            <a:endParaRPr lang="en-US" sz="1200" dirty="0"/>
          </a:p>
          <a:p>
            <a:pPr marL="342900" indent="-342900">
              <a:spcAft>
                <a:spcPts val="500"/>
              </a:spcAft>
              <a:buSzPct val="100000"/>
              <a:buChar char="•"/>
            </a:pPr>
            <a:r>
              <a:rPr lang="en-US" sz="1200" dirty="0">
                <a:solidFill>
                  <a:srgbClr val="1B2440"/>
                </a:solidFill>
                <a:latin typeface="Calibri" pitchFamily="34" charset="0"/>
                <a:ea typeface="Calibri" pitchFamily="34" charset="-122"/>
                <a:cs typeface="Calibri" pitchFamily="34" charset="-120"/>
              </a:rPr>
              <a:t>Rule evaluator that resolves abstract keys: can(“RULE_017”)</a:t>
            </a:r>
            <a:endParaRPr lang="en-US" sz="1200" dirty="0"/>
          </a:p>
        </p:txBody>
      </p:sp>
      <p:sp>
        <p:nvSpPr>
          <p:cNvPr id="12" name="Text 9"/>
          <p:cNvSpPr/>
          <p:nvPr/>
        </p:nvSpPr>
        <p:spPr>
          <a:xfrm>
            <a:off x="5943600" y="3657600"/>
            <a:ext cx="5669280" cy="320040"/>
          </a:xfrm>
          <a:prstGeom prst="rect">
            <a:avLst/>
          </a:prstGeom>
          <a:noFill/>
          <a:ln/>
        </p:spPr>
        <p:txBody>
          <a:bodyPr wrap="square" lIns="0" tIns="0" rIns="0" bIns="0" rtlCol="0" anchor="ctr"/>
          <a:lstStyle/>
          <a:p>
            <a:pPr algn="ctr" indent="0" marL="0">
              <a:buNone/>
            </a:pPr>
            <a:r>
              <a:rPr lang="en-US" sz="1200" b="1" dirty="0">
                <a:solidFill>
                  <a:srgbClr val="5A6B8C"/>
                </a:solidFill>
                <a:latin typeface="Calibri" pitchFamily="34" charset="0"/>
                <a:ea typeface="Calibri" pitchFamily="34" charset="-122"/>
                <a:cs typeface="Calibri" pitchFamily="34" charset="-120"/>
              </a:rPr>
              <a:t>▼  same bundle, different pack  ▼</a:t>
            </a:r>
            <a:endParaRPr lang="en-US" sz="1200" dirty="0"/>
          </a:p>
        </p:txBody>
      </p:sp>
      <p:sp>
        <p:nvSpPr>
          <p:cNvPr id="13" name="Shape 10"/>
          <p:cNvSpPr/>
          <p:nvPr/>
        </p:nvSpPr>
        <p:spPr>
          <a:xfrm>
            <a:off x="5943600" y="4023360"/>
            <a:ext cx="5669280" cy="2057400"/>
          </a:xfrm>
          <a:prstGeom prst="roundRect">
            <a:avLst>
              <a:gd name="adj" fmla="val 3556"/>
            </a:avLst>
          </a:prstGeom>
          <a:solidFill>
            <a:srgbClr val="EDF3FC"/>
          </a:solidFill>
          <a:ln/>
          <a:effectLst>
            <a:outerShdw sx="100000" sy="100000" kx="0" ky="0" algn="bl" rotWithShape="0" blurRad="76200" dist="12700" dir="5400000">
              <a:srgbClr val="9AA7C4">
                <a:alpha val="25000"/>
              </a:srgbClr>
            </a:outerShdw>
          </a:effectLst>
        </p:spPr>
      </p:sp>
      <p:sp>
        <p:nvSpPr>
          <p:cNvPr id="14" name="Shape 11"/>
          <p:cNvSpPr/>
          <p:nvPr/>
        </p:nvSpPr>
        <p:spPr>
          <a:xfrm>
            <a:off x="6172200" y="4224528"/>
            <a:ext cx="502920" cy="502920"/>
          </a:xfrm>
          <a:prstGeom prst="ellipse">
            <a:avLst/>
          </a:prstGeom>
          <a:solidFill>
            <a:srgbClr val="1E2761"/>
          </a:solidFill>
          <a:ln/>
        </p:spPr>
      </p:sp>
      <p:pic>
        <p:nvPicPr>
          <p:cNvPr id="15" name="Image 1" descr="preencoded.png">    </p:cNvPr>
          <p:cNvPicPr>
            <a:picLocks noChangeAspect="1"/>
          </p:cNvPicPr>
          <p:nvPr/>
        </p:nvPicPr>
        <p:blipFill>
          <a:blip r:embed="rId2"/>
          <a:stretch>
            <a:fillRect/>
          </a:stretch>
        </p:blipFill>
        <p:spPr>
          <a:xfrm>
            <a:off x="6302959" y="4355287"/>
            <a:ext cx="241402" cy="241402"/>
          </a:xfrm>
          <a:prstGeom prst="rect">
            <a:avLst/>
          </a:prstGeom>
        </p:spPr>
      </p:pic>
      <p:sp>
        <p:nvSpPr>
          <p:cNvPr id="16" name="Text 12"/>
          <p:cNvSpPr/>
          <p:nvPr/>
        </p:nvSpPr>
        <p:spPr>
          <a:xfrm>
            <a:off x="6812280" y="4279392"/>
            <a:ext cx="4617720" cy="36576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RESOLVED IN CONFI — the logic pack</a:t>
            </a:r>
            <a:endParaRPr lang="en-US" sz="1300" dirty="0"/>
          </a:p>
        </p:txBody>
      </p:sp>
      <p:sp>
        <p:nvSpPr>
          <p:cNvPr id="17" name="Text 13"/>
          <p:cNvSpPr/>
          <p:nvPr/>
        </p:nvSpPr>
        <p:spPr>
          <a:xfrm>
            <a:off x="6217920" y="4709160"/>
            <a:ext cx="5120640" cy="1280160"/>
          </a:xfrm>
          <a:prstGeom prst="rect">
            <a:avLst/>
          </a:prstGeom>
          <a:noFill/>
          <a:ln/>
        </p:spPr>
        <p:txBody>
          <a:bodyPr wrap="square" lIns="0" tIns="0" rIns="0" bIns="0" rtlCol="0" anchor="ctr"/>
          <a:lstStyle/>
          <a:p>
            <a:pPr marL="342900" indent="-342900">
              <a:spcAft>
                <a:spcPts val="500"/>
              </a:spcAft>
              <a:buSzPct val="100000"/>
              <a:buChar char="•"/>
            </a:pPr>
            <a:r>
              <a:rPr lang="en-US" sz="1200" dirty="0">
                <a:solidFill>
                  <a:srgbClr val="1B2440"/>
                </a:solidFill>
                <a:latin typeface="Calibri" pitchFamily="34" charset="0"/>
                <a:ea typeface="Calibri" pitchFamily="34" charset="-122"/>
                <a:cs typeface="Calibri" pitchFamily="34" charset="-120"/>
              </a:rPr>
              <a:t>Real validation schemas, thresholds, decision tables</a:t>
            </a:r>
            <a:endParaRPr lang="en-US" sz="1200" dirty="0"/>
          </a:p>
          <a:p>
            <a:pPr marL="342900" indent="-342900">
              <a:spcAft>
                <a:spcPts val="500"/>
              </a:spcAft>
              <a:buSzPct val="100000"/>
              <a:buChar char="•"/>
            </a:pPr>
            <a:r>
              <a:rPr lang="en-US" sz="1200" dirty="0">
                <a:solidFill>
                  <a:srgbClr val="1B2440"/>
                </a:solidFill>
                <a:latin typeface="Calibri" pitchFamily="34" charset="0"/>
                <a:ea typeface="Calibri" pitchFamily="34" charset="-122"/>
                <a:cs typeface="Calibri" pitchFamily="34" charset="-120"/>
              </a:rPr>
              <a:t>Real labels/terminology via i18n-style token catalogs</a:t>
            </a:r>
            <a:endParaRPr lang="en-US" sz="1200" dirty="0"/>
          </a:p>
          <a:p>
            <a:pPr marL="342900" indent="-342900">
              <a:spcAft>
                <a:spcPts val="500"/>
              </a:spcAft>
              <a:buSzPct val="100000"/>
              <a:buChar char="•"/>
            </a:pPr>
            <a:r>
              <a:rPr lang="en-US" sz="1200" dirty="0">
                <a:solidFill>
                  <a:srgbClr val="1B2440"/>
                </a:solidFill>
                <a:latin typeface="Calibri" pitchFamily="34" charset="0"/>
                <a:ea typeface="Calibri" pitchFamily="34" charset="-122"/>
                <a:cs typeface="Calibri" pitchFamily="34" charset="-120"/>
              </a:rPr>
              <a:t>Served by config endpoint or baked in at Confi build time —</a:t>
            </a:r>
            <a:endParaRPr lang="en-US" sz="1200" dirty="0"/>
          </a:p>
          <a:p>
            <a:pPr indent="0" marL="0">
              <a:spcAft>
                <a:spcPts val="500"/>
              </a:spcAft>
              <a:buNone/>
            </a:pPr>
            <a:r>
              <a:rPr lang="en-US" sz="1200" dirty="0">
                <a:solidFill>
                  <a:srgbClr val="1B2440"/>
                </a:solidFill>
                <a:latin typeface="Calibri" pitchFamily="34" charset="0"/>
                <a:ea typeface="Calibri" pitchFamily="34" charset="-122"/>
                <a:cs typeface="Calibri" pitchFamily="34" charset="-120"/>
              </a:rPr>
              <a:t>versioned, reviewed, and tested like code, inside only</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algn="l" indent="0" marL="0">
              <a:buNone/>
            </a:pPr>
            <a:r>
              <a:rPr lang="en-US" sz="900" dirty="0">
                <a:solidFill>
                  <a:srgbClr val="5A6B8C"/>
                </a:solidFill>
                <a:latin typeface="Calibri" pitchFamily="34" charset="0"/>
                <a:ea typeface="Calibri" pitchFamily="34" charset="-122"/>
                <a:cs typeface="Calibri" pitchFamily="34" charset="-120"/>
              </a:rPr>
              <a:t>Internet-First, Airgap-Final</a:t>
            </a:r>
            <a:endParaRPr lang="en-US" sz="900" dirty="0"/>
          </a:p>
        </p:txBody>
      </p:sp>
      <p:sp>
        <p:nvSpPr>
          <p:cNvPr id="3" name="Text 1"/>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A6B8C"/>
                </a:solidFill>
                <a:latin typeface="Calibri" pitchFamily="34" charset="0"/>
                <a:ea typeface="Calibri" pitchFamily="34" charset="-122"/>
                <a:cs typeface="Calibri" pitchFamily="34" charset="-120"/>
              </a:rPr>
              <a:t>6</a:t>
            </a:r>
            <a:endParaRPr lang="en-US" sz="900" dirty="0"/>
          </a:p>
        </p:txBody>
      </p:sp>
      <p:sp>
        <p:nvSpPr>
          <p:cNvPr id="4" name="Text 2"/>
          <p:cNvSpPr/>
          <p:nvPr/>
        </p:nvSpPr>
        <p:spPr>
          <a:xfrm>
            <a:off x="548640" y="384048"/>
            <a:ext cx="11094415" cy="274320"/>
          </a:xfrm>
          <a:prstGeom prst="rect">
            <a:avLst/>
          </a:prstGeom>
          <a:noFill/>
          <a:ln/>
        </p:spPr>
        <p:txBody>
          <a:bodyPr wrap="square" lIns="0" tIns="0" rIns="0" bIns="0" rtlCol="0" anchor="ctr"/>
          <a:lstStyle/>
          <a:p>
            <a:pPr indent="0" marL="0">
              <a:buNone/>
            </a:pPr>
            <a:r>
              <a:rPr lang="en-US" sz="1200" b="1" spc="300" kern="0" dirty="0">
                <a:solidFill>
                  <a:srgbClr val="5A6B8C"/>
                </a:solidFill>
                <a:latin typeface="Calibri" pitchFamily="34" charset="0"/>
                <a:ea typeface="Calibri" pitchFamily="34" charset="-122"/>
                <a:cs typeface="Calibri" pitchFamily="34" charset="-120"/>
              </a:rPr>
              <a:t>CORE ARCHITECTURE PATTERN</a:t>
            </a:r>
            <a:endParaRPr lang="en-US" sz="1200" dirty="0"/>
          </a:p>
        </p:txBody>
      </p:sp>
      <p:sp>
        <p:nvSpPr>
          <p:cNvPr id="5" name="Text 3"/>
          <p:cNvSpPr/>
          <p:nvPr/>
        </p:nvSpPr>
        <p:spPr>
          <a:xfrm>
            <a:off x="548640" y="658368"/>
            <a:ext cx="11094415" cy="621792"/>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Anatomy of a logic pack — and its contract</a:t>
            </a:r>
            <a:endParaRPr lang="en-US" sz="3000" dirty="0"/>
          </a:p>
        </p:txBody>
      </p:sp>
      <p:sp>
        <p:nvSpPr>
          <p:cNvPr id="6" name="Shape 4"/>
          <p:cNvSpPr/>
          <p:nvPr/>
        </p:nvSpPr>
        <p:spPr>
          <a:xfrm>
            <a:off x="548640" y="1600200"/>
            <a:ext cx="11094415" cy="749808"/>
          </a:xfrm>
          <a:prstGeom prst="roundRect">
            <a:avLst>
              <a:gd name="adj" fmla="val 9756"/>
            </a:avLst>
          </a:prstGeom>
          <a:solidFill>
            <a:srgbClr val="EDF3FC"/>
          </a:solidFill>
          <a:ln/>
          <a:effectLst>
            <a:outerShdw sx="100000" sy="100000" kx="0" ky="0" algn="bl" rotWithShape="0" blurRad="76200" dist="12700" dir="5400000">
              <a:srgbClr val="9AA7C4">
                <a:alpha val="25000"/>
              </a:srgbClr>
            </a:outerShdw>
          </a:effectLst>
        </p:spPr>
      </p:sp>
      <p:sp>
        <p:nvSpPr>
          <p:cNvPr id="7" name="Shape 5"/>
          <p:cNvSpPr/>
          <p:nvPr/>
        </p:nvSpPr>
        <p:spPr>
          <a:xfrm>
            <a:off x="749808" y="1737360"/>
            <a:ext cx="475488" cy="475488"/>
          </a:xfrm>
          <a:prstGeom prst="ellipse">
            <a:avLst/>
          </a:prstGeom>
          <a:solidFill>
            <a:srgbClr val="1E2761"/>
          </a:solidFill>
          <a:ln/>
        </p:spPr>
      </p:sp>
      <p:pic>
        <p:nvPicPr>
          <p:cNvPr id="8" name="Image 0" descr="preencoded.png">    </p:cNvPr>
          <p:cNvPicPr>
            <a:picLocks noChangeAspect="1"/>
          </p:cNvPicPr>
          <p:nvPr/>
        </p:nvPicPr>
        <p:blipFill>
          <a:blip r:embed="rId1"/>
          <a:stretch>
            <a:fillRect/>
          </a:stretch>
        </p:blipFill>
        <p:spPr>
          <a:xfrm>
            <a:off x="873435" y="1860987"/>
            <a:ext cx="228234" cy="228234"/>
          </a:xfrm>
          <a:prstGeom prst="rect">
            <a:avLst/>
          </a:prstGeom>
        </p:spPr>
      </p:pic>
      <p:sp>
        <p:nvSpPr>
          <p:cNvPr id="9" name="Text 6"/>
          <p:cNvSpPr/>
          <p:nvPr/>
        </p:nvSpPr>
        <p:spPr>
          <a:xfrm>
            <a:off x="1417320" y="1673352"/>
            <a:ext cx="1783080" cy="658368"/>
          </a:xfrm>
          <a:prstGeom prst="rect">
            <a:avLst/>
          </a:prstGeom>
          <a:noFill/>
          <a:ln/>
        </p:spPr>
        <p:txBody>
          <a:bodyPr wrap="square" lIns="0" tIns="0" rIns="0" bIns="0" rtlCol="0" anchor="ctr"/>
          <a:lstStyle/>
          <a:p>
            <a:pPr indent="0" marL="0">
              <a:buNone/>
            </a:pPr>
            <a:r>
              <a:rPr lang="en-US" sz="1300" b="1" dirty="0">
                <a:solidFill>
                  <a:srgbClr val="1E2761"/>
                </a:solidFill>
                <a:latin typeface="Courier New" pitchFamily="34" charset="0"/>
                <a:ea typeface="Courier New" pitchFamily="34" charset="-122"/>
                <a:cs typeface="Courier New" pitchFamily="34" charset="-120"/>
              </a:rPr>
              <a:t>labels.json</a:t>
            </a:r>
            <a:endParaRPr lang="en-US" sz="1300" dirty="0"/>
          </a:p>
        </p:txBody>
      </p:sp>
      <p:sp>
        <p:nvSpPr>
          <p:cNvPr id="10" name="Text 7"/>
          <p:cNvSpPr/>
          <p:nvPr/>
        </p:nvSpPr>
        <p:spPr>
          <a:xfrm>
            <a:off x="3291840" y="1655064"/>
            <a:ext cx="8122615" cy="694944"/>
          </a:xfrm>
          <a:prstGeom prst="rect">
            <a:avLst/>
          </a:prstGeom>
          <a:noFill/>
          <a:ln/>
        </p:spPr>
        <p:txBody>
          <a:bodyPr wrap="square" lIns="0" tIns="0" rIns="0" bIns="0" rtlCol="0" anchor="ctr"/>
          <a:lstStyle/>
          <a:p>
            <a:pPr indent="0" marL="0">
              <a:buNone/>
            </a:pPr>
            <a:r>
              <a:rPr lang="en-US" sz="1100" dirty="0">
                <a:solidFill>
                  <a:srgbClr val="1B2440"/>
                </a:solidFill>
                <a:latin typeface="Calibri" pitchFamily="34" charset="0"/>
                <a:ea typeface="Calibri" pitchFamily="34" charset="-122"/>
                <a:cs typeface="Calibri" pitchFamily="34" charset="-120"/>
              </a:rPr>
              <a:t>Terminology catalog: every user-facing string is a token (entity.name.plural). Outside pack says “Trees”; inside pack says the real term. This replaces most of what the Sensitizer would have rewritten.</a:t>
            </a:r>
            <a:endParaRPr lang="en-US" sz="1100" dirty="0"/>
          </a:p>
        </p:txBody>
      </p:sp>
      <p:sp>
        <p:nvSpPr>
          <p:cNvPr id="11" name="Shape 8"/>
          <p:cNvSpPr/>
          <p:nvPr/>
        </p:nvSpPr>
        <p:spPr>
          <a:xfrm>
            <a:off x="548640" y="2441448"/>
            <a:ext cx="11094415" cy="749808"/>
          </a:xfrm>
          <a:prstGeom prst="roundRect">
            <a:avLst>
              <a:gd name="adj" fmla="val 9756"/>
            </a:avLst>
          </a:prstGeom>
          <a:solidFill>
            <a:srgbClr val="EDF3FC"/>
          </a:solidFill>
          <a:ln/>
          <a:effectLst>
            <a:outerShdw sx="100000" sy="100000" kx="0" ky="0" algn="bl" rotWithShape="0" blurRad="76200" dist="12700" dir="5400000">
              <a:srgbClr val="9AA7C4">
                <a:alpha val="25000"/>
              </a:srgbClr>
            </a:outerShdw>
          </a:effectLst>
        </p:spPr>
      </p:sp>
      <p:sp>
        <p:nvSpPr>
          <p:cNvPr id="12" name="Shape 9"/>
          <p:cNvSpPr/>
          <p:nvPr/>
        </p:nvSpPr>
        <p:spPr>
          <a:xfrm>
            <a:off x="749808" y="2578608"/>
            <a:ext cx="475488" cy="475488"/>
          </a:xfrm>
          <a:prstGeom prst="ellipse">
            <a:avLst/>
          </a:prstGeom>
          <a:solidFill>
            <a:srgbClr val="1E2761"/>
          </a:solidFill>
          <a:ln/>
        </p:spPr>
      </p:sp>
      <p:pic>
        <p:nvPicPr>
          <p:cNvPr id="13" name="Image 1" descr="preencoded.png">    </p:cNvPr>
          <p:cNvPicPr>
            <a:picLocks noChangeAspect="1"/>
          </p:cNvPicPr>
          <p:nvPr/>
        </p:nvPicPr>
        <p:blipFill>
          <a:blip r:embed="rId2"/>
          <a:stretch>
            <a:fillRect/>
          </a:stretch>
        </p:blipFill>
        <p:spPr>
          <a:xfrm>
            <a:off x="873435" y="2702235"/>
            <a:ext cx="228234" cy="228234"/>
          </a:xfrm>
          <a:prstGeom prst="rect">
            <a:avLst/>
          </a:prstGeom>
        </p:spPr>
      </p:pic>
      <p:sp>
        <p:nvSpPr>
          <p:cNvPr id="14" name="Text 10"/>
          <p:cNvSpPr/>
          <p:nvPr/>
        </p:nvSpPr>
        <p:spPr>
          <a:xfrm>
            <a:off x="1417320" y="2514600"/>
            <a:ext cx="1783080" cy="658368"/>
          </a:xfrm>
          <a:prstGeom prst="rect">
            <a:avLst/>
          </a:prstGeom>
          <a:noFill/>
          <a:ln/>
        </p:spPr>
        <p:txBody>
          <a:bodyPr wrap="square" lIns="0" tIns="0" rIns="0" bIns="0" rtlCol="0" anchor="ctr"/>
          <a:lstStyle/>
          <a:p>
            <a:pPr indent="0" marL="0">
              <a:buNone/>
            </a:pPr>
            <a:r>
              <a:rPr lang="en-US" sz="1300" b="1" dirty="0">
                <a:solidFill>
                  <a:srgbClr val="1E2761"/>
                </a:solidFill>
                <a:latin typeface="Courier New" pitchFamily="34" charset="0"/>
                <a:ea typeface="Courier New" pitchFamily="34" charset="-122"/>
                <a:cs typeface="Courier New" pitchFamily="34" charset="-120"/>
              </a:rPr>
              <a:t>schemas/*.json</a:t>
            </a:r>
            <a:endParaRPr lang="en-US" sz="1300" dirty="0"/>
          </a:p>
        </p:txBody>
      </p:sp>
      <p:sp>
        <p:nvSpPr>
          <p:cNvPr id="15" name="Text 11"/>
          <p:cNvSpPr/>
          <p:nvPr/>
        </p:nvSpPr>
        <p:spPr>
          <a:xfrm>
            <a:off x="3291840" y="2496312"/>
            <a:ext cx="8122615" cy="694944"/>
          </a:xfrm>
          <a:prstGeom prst="rect">
            <a:avLst/>
          </a:prstGeom>
          <a:noFill/>
          <a:ln/>
        </p:spPr>
        <p:txBody>
          <a:bodyPr wrap="square" lIns="0" tIns="0" rIns="0" bIns="0" rtlCol="0" anchor="ctr"/>
          <a:lstStyle/>
          <a:p>
            <a:pPr indent="0" marL="0">
              <a:buNone/>
            </a:pPr>
            <a:r>
              <a:rPr lang="en-US" sz="1100" dirty="0">
                <a:solidFill>
                  <a:srgbClr val="1B2440"/>
                </a:solidFill>
                <a:latin typeface="Calibri" pitchFamily="34" charset="0"/>
                <a:ea typeface="Calibri" pitchFamily="34" charset="-122"/>
                <a:cs typeface="Calibri" pitchFamily="34" charset="-120"/>
              </a:rPr>
              <a:t>JSON Schema (or Zod-serializable) validation per form/entity. The shell's validation engine executes whatever schema it receives — rule values never exist in JS source.</a:t>
            </a:r>
            <a:endParaRPr lang="en-US" sz="1100" dirty="0"/>
          </a:p>
        </p:txBody>
      </p:sp>
      <p:sp>
        <p:nvSpPr>
          <p:cNvPr id="16" name="Shape 12"/>
          <p:cNvSpPr/>
          <p:nvPr/>
        </p:nvSpPr>
        <p:spPr>
          <a:xfrm>
            <a:off x="548640" y="3282696"/>
            <a:ext cx="11094415" cy="749808"/>
          </a:xfrm>
          <a:prstGeom prst="roundRect">
            <a:avLst>
              <a:gd name="adj" fmla="val 9756"/>
            </a:avLst>
          </a:prstGeom>
          <a:solidFill>
            <a:srgbClr val="EDF3FC"/>
          </a:solidFill>
          <a:ln/>
          <a:effectLst>
            <a:outerShdw sx="100000" sy="100000" kx="0" ky="0" algn="bl" rotWithShape="0" blurRad="76200" dist="12700" dir="5400000">
              <a:srgbClr val="9AA7C4">
                <a:alpha val="25000"/>
              </a:srgbClr>
            </a:outerShdw>
          </a:effectLst>
        </p:spPr>
      </p:sp>
      <p:sp>
        <p:nvSpPr>
          <p:cNvPr id="17" name="Shape 13"/>
          <p:cNvSpPr/>
          <p:nvPr/>
        </p:nvSpPr>
        <p:spPr>
          <a:xfrm>
            <a:off x="749808" y="3419856"/>
            <a:ext cx="475488" cy="475488"/>
          </a:xfrm>
          <a:prstGeom prst="ellipse">
            <a:avLst/>
          </a:prstGeom>
          <a:solidFill>
            <a:srgbClr val="1E2761"/>
          </a:solidFill>
          <a:ln/>
        </p:spPr>
      </p:sp>
      <p:pic>
        <p:nvPicPr>
          <p:cNvPr id="18" name="Image 2" descr="preencoded.png">    </p:cNvPr>
          <p:cNvPicPr>
            <a:picLocks noChangeAspect="1"/>
          </p:cNvPicPr>
          <p:nvPr/>
        </p:nvPicPr>
        <p:blipFill>
          <a:blip r:embed="rId3"/>
          <a:stretch>
            <a:fillRect/>
          </a:stretch>
        </p:blipFill>
        <p:spPr>
          <a:xfrm>
            <a:off x="873435" y="3543483"/>
            <a:ext cx="228234" cy="228234"/>
          </a:xfrm>
          <a:prstGeom prst="rect">
            <a:avLst/>
          </a:prstGeom>
        </p:spPr>
      </p:pic>
      <p:sp>
        <p:nvSpPr>
          <p:cNvPr id="19" name="Text 14"/>
          <p:cNvSpPr/>
          <p:nvPr/>
        </p:nvSpPr>
        <p:spPr>
          <a:xfrm>
            <a:off x="1417320" y="3355848"/>
            <a:ext cx="1783080" cy="658368"/>
          </a:xfrm>
          <a:prstGeom prst="rect">
            <a:avLst/>
          </a:prstGeom>
          <a:noFill/>
          <a:ln/>
        </p:spPr>
        <p:txBody>
          <a:bodyPr wrap="square" lIns="0" tIns="0" rIns="0" bIns="0" rtlCol="0" anchor="ctr"/>
          <a:lstStyle/>
          <a:p>
            <a:pPr indent="0" marL="0">
              <a:buNone/>
            </a:pPr>
            <a:r>
              <a:rPr lang="en-US" sz="1300" b="1" dirty="0">
                <a:solidFill>
                  <a:srgbClr val="1E2761"/>
                </a:solidFill>
                <a:latin typeface="Courier New" pitchFamily="34" charset="0"/>
                <a:ea typeface="Courier New" pitchFamily="34" charset="-122"/>
                <a:cs typeface="Courier New" pitchFamily="34" charset="-120"/>
              </a:rPr>
              <a:t>flows/*.json</a:t>
            </a:r>
            <a:endParaRPr lang="en-US" sz="1300" dirty="0"/>
          </a:p>
        </p:txBody>
      </p:sp>
      <p:sp>
        <p:nvSpPr>
          <p:cNvPr id="20" name="Text 15"/>
          <p:cNvSpPr/>
          <p:nvPr/>
        </p:nvSpPr>
        <p:spPr>
          <a:xfrm>
            <a:off x="3291840" y="3337560"/>
            <a:ext cx="8122615" cy="694944"/>
          </a:xfrm>
          <a:prstGeom prst="rect">
            <a:avLst/>
          </a:prstGeom>
          <a:noFill/>
          <a:ln/>
        </p:spPr>
        <p:txBody>
          <a:bodyPr wrap="square" lIns="0" tIns="0" rIns="0" bIns="0" rtlCol="0" anchor="ctr"/>
          <a:lstStyle/>
          <a:p>
            <a:pPr indent="0" marL="0">
              <a:buNone/>
            </a:pPr>
            <a:r>
              <a:rPr lang="en-US" sz="1100" dirty="0">
                <a:solidFill>
                  <a:srgbClr val="1B2440"/>
                </a:solidFill>
                <a:latin typeface="Calibri" pitchFamily="34" charset="0"/>
                <a:ea typeface="Calibri" pitchFamily="34" charset="-122"/>
                <a:cs typeface="Calibri" pitchFamily="34" charset="-120"/>
              </a:rPr>
              <a:t>UI state machines: states, events, guards by abstract key. Screen flow differences between fictional and real domains live here, not in components.</a:t>
            </a:r>
            <a:endParaRPr lang="en-US" sz="1100" dirty="0"/>
          </a:p>
        </p:txBody>
      </p:sp>
      <p:sp>
        <p:nvSpPr>
          <p:cNvPr id="21" name="Shape 16"/>
          <p:cNvSpPr/>
          <p:nvPr/>
        </p:nvSpPr>
        <p:spPr>
          <a:xfrm>
            <a:off x="548640" y="4123944"/>
            <a:ext cx="11094415" cy="749808"/>
          </a:xfrm>
          <a:prstGeom prst="roundRect">
            <a:avLst>
              <a:gd name="adj" fmla="val 9756"/>
            </a:avLst>
          </a:prstGeom>
          <a:solidFill>
            <a:srgbClr val="EDF3FC"/>
          </a:solidFill>
          <a:ln/>
          <a:effectLst>
            <a:outerShdw sx="100000" sy="100000" kx="0" ky="0" algn="bl" rotWithShape="0" blurRad="76200" dist="12700" dir="5400000">
              <a:srgbClr val="9AA7C4">
                <a:alpha val="25000"/>
              </a:srgbClr>
            </a:outerShdw>
          </a:effectLst>
        </p:spPr>
      </p:sp>
      <p:sp>
        <p:nvSpPr>
          <p:cNvPr id="22" name="Shape 17"/>
          <p:cNvSpPr/>
          <p:nvPr/>
        </p:nvSpPr>
        <p:spPr>
          <a:xfrm>
            <a:off x="749808" y="4261104"/>
            <a:ext cx="475488" cy="475488"/>
          </a:xfrm>
          <a:prstGeom prst="ellipse">
            <a:avLst/>
          </a:prstGeom>
          <a:solidFill>
            <a:srgbClr val="1E2761"/>
          </a:solidFill>
          <a:ln/>
        </p:spPr>
      </p:sp>
      <p:pic>
        <p:nvPicPr>
          <p:cNvPr id="23" name="Image 3" descr="preencoded.png">    </p:cNvPr>
          <p:cNvPicPr>
            <a:picLocks noChangeAspect="1"/>
          </p:cNvPicPr>
          <p:nvPr/>
        </p:nvPicPr>
        <p:blipFill>
          <a:blip r:embed="rId4"/>
          <a:stretch>
            <a:fillRect/>
          </a:stretch>
        </p:blipFill>
        <p:spPr>
          <a:xfrm>
            <a:off x="873435" y="4384731"/>
            <a:ext cx="228234" cy="228234"/>
          </a:xfrm>
          <a:prstGeom prst="rect">
            <a:avLst/>
          </a:prstGeom>
        </p:spPr>
      </p:pic>
      <p:sp>
        <p:nvSpPr>
          <p:cNvPr id="24" name="Text 18"/>
          <p:cNvSpPr/>
          <p:nvPr/>
        </p:nvSpPr>
        <p:spPr>
          <a:xfrm>
            <a:off x="1417320" y="4197096"/>
            <a:ext cx="1783080" cy="658368"/>
          </a:xfrm>
          <a:prstGeom prst="rect">
            <a:avLst/>
          </a:prstGeom>
          <a:noFill/>
          <a:ln/>
        </p:spPr>
        <p:txBody>
          <a:bodyPr wrap="square" lIns="0" tIns="0" rIns="0" bIns="0" rtlCol="0" anchor="ctr"/>
          <a:lstStyle/>
          <a:p>
            <a:pPr indent="0" marL="0">
              <a:buNone/>
            </a:pPr>
            <a:r>
              <a:rPr lang="en-US" sz="1300" b="1" dirty="0">
                <a:solidFill>
                  <a:srgbClr val="1E2761"/>
                </a:solidFill>
                <a:latin typeface="Courier New" pitchFamily="34" charset="0"/>
                <a:ea typeface="Courier New" pitchFamily="34" charset="-122"/>
                <a:cs typeface="Courier New" pitchFamily="34" charset="-120"/>
              </a:rPr>
              <a:t>rules.json</a:t>
            </a:r>
            <a:endParaRPr lang="en-US" sz="1300" dirty="0"/>
          </a:p>
        </p:txBody>
      </p:sp>
      <p:sp>
        <p:nvSpPr>
          <p:cNvPr id="25" name="Text 19"/>
          <p:cNvSpPr/>
          <p:nvPr/>
        </p:nvSpPr>
        <p:spPr>
          <a:xfrm>
            <a:off x="3291840" y="4178808"/>
            <a:ext cx="8122615" cy="694944"/>
          </a:xfrm>
          <a:prstGeom prst="rect">
            <a:avLst/>
          </a:prstGeom>
          <a:noFill/>
          <a:ln/>
        </p:spPr>
        <p:txBody>
          <a:bodyPr wrap="square" lIns="0" tIns="0" rIns="0" bIns="0" rtlCol="0" anchor="ctr"/>
          <a:lstStyle/>
          <a:p>
            <a:pPr indent="0" marL="0">
              <a:buNone/>
            </a:pPr>
            <a:r>
              <a:rPr lang="en-US" sz="1100" dirty="0">
                <a:solidFill>
                  <a:srgbClr val="1B2440"/>
                </a:solidFill>
                <a:latin typeface="Calibri" pitchFamily="34" charset="0"/>
                <a:ea typeface="Calibri" pitchFamily="34" charset="-122"/>
                <a:cs typeface="Calibri" pitchFamily="34" charset="-120"/>
              </a:rPr>
              <a:t>Decision tables &amp; guard outcomes keyed by RULE_nnn. The outside pack contains plausible fictional values so the shell is fully testable; Playwright tests assert against the pack, so the same suites re-run inside with real values.</a:t>
            </a:r>
            <a:endParaRPr lang="en-US" sz="1100" dirty="0"/>
          </a:p>
        </p:txBody>
      </p:sp>
      <p:sp>
        <p:nvSpPr>
          <p:cNvPr id="26" name="Shape 20"/>
          <p:cNvSpPr/>
          <p:nvPr/>
        </p:nvSpPr>
        <p:spPr>
          <a:xfrm>
            <a:off x="548640" y="4965192"/>
            <a:ext cx="11094415" cy="749808"/>
          </a:xfrm>
          <a:prstGeom prst="roundRect">
            <a:avLst>
              <a:gd name="adj" fmla="val 9756"/>
            </a:avLst>
          </a:prstGeom>
          <a:solidFill>
            <a:srgbClr val="EDF3FC"/>
          </a:solidFill>
          <a:ln/>
          <a:effectLst>
            <a:outerShdw sx="100000" sy="100000" kx="0" ky="0" algn="bl" rotWithShape="0" blurRad="76200" dist="12700" dir="5400000">
              <a:srgbClr val="9AA7C4">
                <a:alpha val="25000"/>
              </a:srgbClr>
            </a:outerShdw>
          </a:effectLst>
        </p:spPr>
      </p:sp>
      <p:sp>
        <p:nvSpPr>
          <p:cNvPr id="27" name="Shape 21"/>
          <p:cNvSpPr/>
          <p:nvPr/>
        </p:nvSpPr>
        <p:spPr>
          <a:xfrm>
            <a:off x="749808" y="5102352"/>
            <a:ext cx="475488" cy="475488"/>
          </a:xfrm>
          <a:prstGeom prst="ellipse">
            <a:avLst/>
          </a:prstGeom>
          <a:solidFill>
            <a:srgbClr val="1E2761"/>
          </a:solidFill>
          <a:ln/>
        </p:spPr>
      </p:sp>
      <p:pic>
        <p:nvPicPr>
          <p:cNvPr id="28" name="Image 4" descr="preencoded.png">    </p:cNvPr>
          <p:cNvPicPr>
            <a:picLocks noChangeAspect="1"/>
          </p:cNvPicPr>
          <p:nvPr/>
        </p:nvPicPr>
        <p:blipFill>
          <a:blip r:embed="rId5"/>
          <a:stretch>
            <a:fillRect/>
          </a:stretch>
        </p:blipFill>
        <p:spPr>
          <a:xfrm>
            <a:off x="873435" y="5225979"/>
            <a:ext cx="228234" cy="228234"/>
          </a:xfrm>
          <a:prstGeom prst="rect">
            <a:avLst/>
          </a:prstGeom>
        </p:spPr>
      </p:pic>
      <p:sp>
        <p:nvSpPr>
          <p:cNvPr id="29" name="Text 22"/>
          <p:cNvSpPr/>
          <p:nvPr/>
        </p:nvSpPr>
        <p:spPr>
          <a:xfrm>
            <a:off x="1417320" y="5038344"/>
            <a:ext cx="1783080" cy="658368"/>
          </a:xfrm>
          <a:prstGeom prst="rect">
            <a:avLst/>
          </a:prstGeom>
          <a:noFill/>
          <a:ln/>
        </p:spPr>
        <p:txBody>
          <a:bodyPr wrap="square" lIns="0" tIns="0" rIns="0" bIns="0" rtlCol="0" anchor="ctr"/>
          <a:lstStyle/>
          <a:p>
            <a:pPr indent="0" marL="0">
              <a:buNone/>
            </a:pPr>
            <a:r>
              <a:rPr lang="en-US" sz="1300" b="1" dirty="0">
                <a:solidFill>
                  <a:srgbClr val="1E2761"/>
                </a:solidFill>
                <a:latin typeface="Courier New" pitchFamily="34" charset="0"/>
                <a:ea typeface="Courier New" pitchFamily="34" charset="-122"/>
                <a:cs typeface="Courier New" pitchFamily="34" charset="-120"/>
              </a:rPr>
              <a:t>contract.d.ts</a:t>
            </a:r>
            <a:endParaRPr lang="en-US" sz="1300" dirty="0"/>
          </a:p>
        </p:txBody>
      </p:sp>
      <p:sp>
        <p:nvSpPr>
          <p:cNvPr id="30" name="Text 23"/>
          <p:cNvSpPr/>
          <p:nvPr/>
        </p:nvSpPr>
        <p:spPr>
          <a:xfrm>
            <a:off x="3291840" y="5020056"/>
            <a:ext cx="8122615" cy="694944"/>
          </a:xfrm>
          <a:prstGeom prst="rect">
            <a:avLst/>
          </a:prstGeom>
          <a:noFill/>
          <a:ln/>
        </p:spPr>
        <p:txBody>
          <a:bodyPr wrap="square" lIns="0" tIns="0" rIns="0" bIns="0" rtlCol="0" anchor="ctr"/>
          <a:lstStyle/>
          <a:p>
            <a:pPr indent="0" marL="0">
              <a:buNone/>
            </a:pPr>
            <a:r>
              <a:rPr lang="en-US" sz="1100" dirty="0">
                <a:solidFill>
                  <a:srgbClr val="1B2440"/>
                </a:solidFill>
                <a:latin typeface="Calibri" pitchFamily="34" charset="0"/>
                <a:ea typeface="Calibri" pitchFamily="34" charset="-122"/>
                <a:cs typeface="Calibri" pitchFamily="34" charset="-120"/>
              </a:rPr>
              <a:t>The ONE thing both worlds share: the pack's TypeScript type + JSON Schema meta-validator. CI on both sides validates its packs against the same contract version — this is what keeps the two worlds honest.</a:t>
            </a:r>
            <a:endParaRPr lang="en-US" sz="1100" dirty="0"/>
          </a:p>
        </p:txBody>
      </p:sp>
      <p:sp>
        <p:nvSpPr>
          <p:cNvPr id="31" name="Text 24"/>
          <p:cNvSpPr/>
          <p:nvPr/>
        </p:nvSpPr>
        <p:spPr>
          <a:xfrm>
            <a:off x="548640" y="5852160"/>
            <a:ext cx="11094415" cy="548640"/>
          </a:xfrm>
          <a:prstGeom prst="rect">
            <a:avLst/>
          </a:prstGeom>
          <a:noFill/>
          <a:ln/>
        </p:spPr>
        <p:txBody>
          <a:bodyPr wrap="square" lIns="0" tIns="0" rIns="0" bIns="0" rtlCol="0" anchor="ctr"/>
          <a:lstStyle/>
          <a:p>
            <a:pPr indent="0" marL="0">
              <a:buNone/>
            </a:pPr>
            <a:r>
              <a:rPr lang="en-US" sz="1150" b="1" dirty="0">
                <a:solidFill>
                  <a:srgbClr val="C0392B"/>
                </a:solidFill>
                <a:latin typeface="Calibri" pitchFamily="34" charset="0"/>
                <a:ea typeface="Calibri" pitchFamily="34" charset="-122"/>
                <a:cs typeface="Calibri" pitchFamily="34" charset="-120"/>
              </a:rPr>
              <a:t>Escape hatch: </a:t>
            </a:r>
            <a:pPr indent="0" marL="0">
              <a:buNone/>
            </a:pPr>
            <a:r>
              <a:rPr lang="en-US" sz="1150" dirty="0">
                <a:solidFill>
                  <a:srgbClr val="1B2440"/>
                </a:solidFill>
                <a:latin typeface="Calibri" pitchFamily="34" charset="0"/>
                <a:ea typeface="Calibri" pitchFamily="34" charset="-122"/>
                <a:cs typeface="Calibri" pitchFamily="34" charset="-120"/>
              </a:rPr>
              <a:t>some logic will be too complex for declarative packs (~10–20%). Those modules are stubbed outside behind the same interface and hand-implemented inside — planned, budgeted, and tracked per feature, not discovered at integration time.</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algn="l" indent="0" marL="0">
              <a:buNone/>
            </a:pPr>
            <a:r>
              <a:rPr lang="en-US" sz="900" dirty="0">
                <a:solidFill>
                  <a:srgbClr val="5A6B8C"/>
                </a:solidFill>
                <a:latin typeface="Calibri" pitchFamily="34" charset="0"/>
                <a:ea typeface="Calibri" pitchFamily="34" charset="-122"/>
                <a:cs typeface="Calibri" pitchFamily="34" charset="-120"/>
              </a:rPr>
              <a:t>Internet-First, Airgap-Final</a:t>
            </a:r>
            <a:endParaRPr lang="en-US" sz="900" dirty="0"/>
          </a:p>
        </p:txBody>
      </p:sp>
      <p:sp>
        <p:nvSpPr>
          <p:cNvPr id="3" name="Text 1"/>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A6B8C"/>
                </a:solidFill>
                <a:latin typeface="Calibri" pitchFamily="34" charset="0"/>
                <a:ea typeface="Calibri" pitchFamily="34" charset="-122"/>
                <a:cs typeface="Calibri" pitchFamily="34" charset="-120"/>
              </a:rPr>
              <a:t>7</a:t>
            </a:r>
            <a:endParaRPr lang="en-US" sz="900" dirty="0"/>
          </a:p>
        </p:txBody>
      </p:sp>
      <p:sp>
        <p:nvSpPr>
          <p:cNvPr id="4" name="Text 2"/>
          <p:cNvSpPr/>
          <p:nvPr/>
        </p:nvSpPr>
        <p:spPr>
          <a:xfrm>
            <a:off x="548640" y="384048"/>
            <a:ext cx="11094415" cy="274320"/>
          </a:xfrm>
          <a:prstGeom prst="rect">
            <a:avLst/>
          </a:prstGeom>
          <a:noFill/>
          <a:ln/>
        </p:spPr>
        <p:txBody>
          <a:bodyPr wrap="square" lIns="0" tIns="0" rIns="0" bIns="0" rtlCol="0" anchor="ctr"/>
          <a:lstStyle/>
          <a:p>
            <a:pPr indent="0" marL="0">
              <a:buNone/>
            </a:pPr>
            <a:r>
              <a:rPr lang="en-US" sz="1200" b="1" spc="300" kern="0" dirty="0">
                <a:solidFill>
                  <a:srgbClr val="5A6B8C"/>
                </a:solidFill>
                <a:latin typeface="Calibri" pitchFamily="34" charset="0"/>
                <a:ea typeface="Calibri" pitchFamily="34" charset="-122"/>
                <a:cs typeface="Calibri" pitchFamily="34" charset="-120"/>
              </a:rPr>
              <a:t>OUTBOUND SECURITY</a:t>
            </a:r>
            <a:endParaRPr lang="en-US" sz="1200" dirty="0"/>
          </a:p>
        </p:txBody>
      </p:sp>
      <p:sp>
        <p:nvSpPr>
          <p:cNvPr id="5" name="Text 3"/>
          <p:cNvSpPr/>
          <p:nvPr/>
        </p:nvSpPr>
        <p:spPr>
          <a:xfrm>
            <a:off x="548640" y="658368"/>
            <a:ext cx="11094415" cy="621792"/>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Four gates between the airgap and the internet</a:t>
            </a:r>
            <a:endParaRPr lang="en-US" sz="3000" dirty="0"/>
          </a:p>
        </p:txBody>
      </p:sp>
      <p:sp>
        <p:nvSpPr>
          <p:cNvPr id="6" name="Shape 4"/>
          <p:cNvSpPr/>
          <p:nvPr/>
        </p:nvSpPr>
        <p:spPr>
          <a:xfrm>
            <a:off x="548640" y="1645920"/>
            <a:ext cx="2602154" cy="4160520"/>
          </a:xfrm>
          <a:prstGeom prst="roundRect">
            <a:avLst>
              <a:gd name="adj" fmla="val 2811"/>
            </a:avLst>
          </a:prstGeom>
          <a:solidFill>
            <a:srgbClr val="EDF3FC"/>
          </a:solidFill>
          <a:ln/>
          <a:effectLst>
            <a:outerShdw sx="100000" sy="100000" kx="0" ky="0" algn="bl" rotWithShape="0" blurRad="76200" dist="12700" dir="5400000">
              <a:srgbClr val="9AA7C4">
                <a:alpha val="25000"/>
              </a:srgbClr>
            </a:outerShdw>
          </a:effectLst>
        </p:spPr>
      </p:sp>
      <p:sp>
        <p:nvSpPr>
          <p:cNvPr id="7" name="Shape 5"/>
          <p:cNvSpPr/>
          <p:nvPr/>
        </p:nvSpPr>
        <p:spPr>
          <a:xfrm>
            <a:off x="749808" y="1847088"/>
            <a:ext cx="502920" cy="502920"/>
          </a:xfrm>
          <a:prstGeom prst="ellipse">
            <a:avLst/>
          </a:prstGeom>
          <a:solidFill>
            <a:srgbClr val="1E2761"/>
          </a:solidFill>
          <a:ln/>
        </p:spPr>
      </p:sp>
      <p:pic>
        <p:nvPicPr>
          <p:cNvPr id="8" name="Image 0" descr="preencoded.png">    </p:cNvPr>
          <p:cNvPicPr>
            <a:picLocks noChangeAspect="1"/>
          </p:cNvPicPr>
          <p:nvPr/>
        </p:nvPicPr>
        <p:blipFill>
          <a:blip r:embed="rId1"/>
          <a:stretch>
            <a:fillRect/>
          </a:stretch>
        </p:blipFill>
        <p:spPr>
          <a:xfrm>
            <a:off x="880567" y="1977847"/>
            <a:ext cx="241402" cy="241402"/>
          </a:xfrm>
          <a:prstGeom prst="rect">
            <a:avLst/>
          </a:prstGeom>
        </p:spPr>
      </p:pic>
      <p:sp>
        <p:nvSpPr>
          <p:cNvPr id="9" name="Text 6"/>
          <p:cNvSpPr/>
          <p:nvPr/>
        </p:nvSpPr>
        <p:spPr>
          <a:xfrm>
            <a:off x="1353312" y="1847088"/>
            <a:ext cx="1687754" cy="256032"/>
          </a:xfrm>
          <a:prstGeom prst="rect">
            <a:avLst/>
          </a:prstGeom>
          <a:noFill/>
          <a:ln/>
        </p:spPr>
        <p:txBody>
          <a:bodyPr wrap="square" lIns="0" tIns="0" rIns="0" bIns="0" rtlCol="0" anchor="ctr"/>
          <a:lstStyle/>
          <a:p>
            <a:pPr indent="0" marL="0">
              <a:buNone/>
            </a:pPr>
            <a:r>
              <a:rPr lang="en-US" sz="1050" b="1" spc="200" kern="0" dirty="0">
                <a:solidFill>
                  <a:srgbClr val="5A6B8C"/>
                </a:solidFill>
                <a:latin typeface="Calibri" pitchFamily="34" charset="0"/>
                <a:ea typeface="Calibri" pitchFamily="34" charset="-122"/>
                <a:cs typeface="Calibri" pitchFamily="34" charset="-120"/>
              </a:rPr>
              <a:t>GATE 0</a:t>
            </a:r>
            <a:endParaRPr lang="en-US" sz="1050" dirty="0"/>
          </a:p>
        </p:txBody>
      </p:sp>
      <p:sp>
        <p:nvSpPr>
          <p:cNvPr id="10" name="Text 7"/>
          <p:cNvSpPr/>
          <p:nvPr/>
        </p:nvSpPr>
        <p:spPr>
          <a:xfrm>
            <a:off x="1353312" y="2084832"/>
            <a:ext cx="1687754"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Automated scan</a:t>
            </a:r>
            <a:endParaRPr lang="en-US" sz="1400" dirty="0"/>
          </a:p>
        </p:txBody>
      </p:sp>
      <p:sp>
        <p:nvSpPr>
          <p:cNvPr id="11" name="Text 8"/>
          <p:cNvSpPr/>
          <p:nvPr/>
        </p:nvSpPr>
        <p:spPr>
          <a:xfrm>
            <a:off x="731520" y="2560320"/>
            <a:ext cx="2236394" cy="3063240"/>
          </a:xfrm>
          <a:prstGeom prst="rect">
            <a:avLst/>
          </a:prstGeom>
          <a:noFill/>
          <a:ln/>
        </p:spPr>
        <p:txBody>
          <a:bodyPr wrap="square" lIns="0" tIns="0" rIns="0" bIns="0" rtlCol="0" anchor="ctr"/>
          <a:lstStyle/>
          <a:p>
            <a:pPr marL="342900" indent="-342900">
              <a:spcAft>
                <a:spcPts val="600"/>
              </a:spcAft>
              <a:buSzPct val="100000"/>
              <a:buChar char="•"/>
            </a:pPr>
            <a:r>
              <a:rPr lang="en-US" sz="1000" dirty="0">
                <a:solidFill>
                  <a:srgbClr val="1B2440"/>
                </a:solidFill>
                <a:latin typeface="Calibri" pitchFamily="34" charset="0"/>
                <a:ea typeface="Calibri" pitchFamily="34" charset="-122"/>
                <a:cs typeface="Calibri" pitchFamily="34" charset="-120"/>
              </a:rPr>
              <a:t>Extractor --dry-run diff review</a:t>
            </a:r>
            <a:endParaRPr lang="en-US" sz="1000" dirty="0"/>
          </a:p>
          <a:p>
            <a:pPr marL="342900" indent="-342900">
              <a:spcAft>
                <a:spcPts val="600"/>
              </a:spcAft>
              <a:buSzPct val="100000"/>
              <a:buChar char="•"/>
            </a:pPr>
            <a:r>
              <a:rPr lang="en-US" sz="1000" dirty="0">
                <a:solidFill>
                  <a:srgbClr val="1B2440"/>
                </a:solidFill>
                <a:latin typeface="Calibri" pitchFamily="34" charset="0"/>
                <a:ea typeface="Calibri" pitchFamily="34" charset="-122"/>
                <a:cs typeface="Calibri" pitchFamily="34" charset="-120"/>
              </a:rPr>
              <a:t>Secret/credential scanners (gitleaks-class) on output</a:t>
            </a:r>
            <a:endParaRPr lang="en-US" sz="1000" dirty="0"/>
          </a:p>
          <a:p>
            <a:pPr marL="342900" indent="-342900">
              <a:spcAft>
                <a:spcPts val="600"/>
              </a:spcAft>
              <a:buSzPct val="100000"/>
              <a:buChar char="•"/>
            </a:pPr>
            <a:r>
              <a:rPr lang="en-US" sz="1000" dirty="0">
                <a:solidFill>
                  <a:srgbClr val="1B2440"/>
                </a:solidFill>
                <a:latin typeface="Calibri" pitchFamily="34" charset="0"/>
                <a:ea typeface="Calibri" pitchFamily="34" charset="-122"/>
                <a:cs typeface="Calibri" pitchFamily="34" charset="-120"/>
              </a:rPr>
              <a:t>Denylist scan: real term corpus, hostnames, IP/URL regexes, org markers</a:t>
            </a:r>
            <a:endParaRPr lang="en-US" sz="1000" dirty="0"/>
          </a:p>
          <a:p>
            <a:pPr marL="342900" indent="-342900">
              <a:spcAft>
                <a:spcPts val="600"/>
              </a:spcAft>
              <a:buSzPct val="100000"/>
              <a:buChar char="•"/>
            </a:pPr>
            <a:r>
              <a:rPr lang="en-US" sz="1000" dirty="0">
                <a:solidFill>
                  <a:srgbClr val="1B2440"/>
                </a:solidFill>
                <a:latin typeface="Calibri" pitchFamily="34" charset="0"/>
                <a:ea typeface="Calibri" pitchFamily="34" charset="-122"/>
                <a:cs typeface="Calibri" pitchFamily="34" charset="-120"/>
              </a:rPr>
              <a:t>String-literal audit: every literal masked or allowlisted</a:t>
            </a:r>
            <a:endParaRPr lang="en-US" sz="1000" dirty="0"/>
          </a:p>
          <a:p>
            <a:pPr marL="342900" indent="-342900">
              <a:spcAft>
                <a:spcPts val="600"/>
              </a:spcAft>
              <a:buSzPct val="100000"/>
              <a:buChar char="•"/>
            </a:pPr>
            <a:r>
              <a:rPr lang="en-US" sz="1000" dirty="0">
                <a:solidFill>
                  <a:srgbClr val="1B2440"/>
                </a:solidFill>
                <a:latin typeface="Calibri" pitchFamily="34" charset="0"/>
                <a:ea typeface="Calibri" pitchFamily="34" charset="-122"/>
                <a:cs typeface="Calibri" pitchFamily="34" charset="-120"/>
              </a:rPr>
              <a:t>Blocks on ANY hit — no human override at this gate</a:t>
            </a:r>
            <a:endParaRPr lang="en-US" sz="1000" dirty="0"/>
          </a:p>
        </p:txBody>
      </p:sp>
      <p:sp>
        <p:nvSpPr>
          <p:cNvPr id="12" name="Shape 9"/>
          <p:cNvSpPr/>
          <p:nvPr/>
        </p:nvSpPr>
        <p:spPr>
          <a:xfrm>
            <a:off x="3379394" y="1645920"/>
            <a:ext cx="2602154" cy="4160520"/>
          </a:xfrm>
          <a:prstGeom prst="roundRect">
            <a:avLst>
              <a:gd name="adj" fmla="val 2811"/>
            </a:avLst>
          </a:prstGeom>
          <a:solidFill>
            <a:srgbClr val="EDF3FC"/>
          </a:solidFill>
          <a:ln/>
          <a:effectLst>
            <a:outerShdw sx="100000" sy="100000" kx="0" ky="0" algn="bl" rotWithShape="0" blurRad="76200" dist="12700" dir="5400000">
              <a:srgbClr val="9AA7C4">
                <a:alpha val="25000"/>
              </a:srgbClr>
            </a:outerShdw>
          </a:effectLst>
        </p:spPr>
      </p:sp>
      <p:sp>
        <p:nvSpPr>
          <p:cNvPr id="13" name="Shape 10"/>
          <p:cNvSpPr/>
          <p:nvPr/>
        </p:nvSpPr>
        <p:spPr>
          <a:xfrm>
            <a:off x="3580562" y="1847088"/>
            <a:ext cx="502920" cy="502920"/>
          </a:xfrm>
          <a:prstGeom prst="ellipse">
            <a:avLst/>
          </a:prstGeom>
          <a:solidFill>
            <a:srgbClr val="1E2761"/>
          </a:solidFill>
          <a:ln/>
        </p:spPr>
      </p:sp>
      <p:pic>
        <p:nvPicPr>
          <p:cNvPr id="14" name="Image 1" descr="preencoded.png">    </p:cNvPr>
          <p:cNvPicPr>
            <a:picLocks noChangeAspect="1"/>
          </p:cNvPicPr>
          <p:nvPr/>
        </p:nvPicPr>
        <p:blipFill>
          <a:blip r:embed="rId2"/>
          <a:stretch>
            <a:fillRect/>
          </a:stretch>
        </p:blipFill>
        <p:spPr>
          <a:xfrm>
            <a:off x="3711321" y="1977847"/>
            <a:ext cx="241402" cy="241402"/>
          </a:xfrm>
          <a:prstGeom prst="rect">
            <a:avLst/>
          </a:prstGeom>
        </p:spPr>
      </p:pic>
      <p:sp>
        <p:nvSpPr>
          <p:cNvPr id="15" name="Text 11"/>
          <p:cNvSpPr/>
          <p:nvPr/>
        </p:nvSpPr>
        <p:spPr>
          <a:xfrm>
            <a:off x="4184066" y="1847088"/>
            <a:ext cx="1687754" cy="256032"/>
          </a:xfrm>
          <a:prstGeom prst="rect">
            <a:avLst/>
          </a:prstGeom>
          <a:noFill/>
          <a:ln/>
        </p:spPr>
        <p:txBody>
          <a:bodyPr wrap="square" lIns="0" tIns="0" rIns="0" bIns="0" rtlCol="0" anchor="ctr"/>
          <a:lstStyle/>
          <a:p>
            <a:pPr indent="0" marL="0">
              <a:buNone/>
            </a:pPr>
            <a:r>
              <a:rPr lang="en-US" sz="1050" b="1" spc="200" kern="0" dirty="0">
                <a:solidFill>
                  <a:srgbClr val="5A6B8C"/>
                </a:solidFill>
                <a:latin typeface="Calibri" pitchFamily="34" charset="0"/>
                <a:ea typeface="Calibri" pitchFamily="34" charset="-122"/>
                <a:cs typeface="Calibri" pitchFamily="34" charset="-120"/>
              </a:rPr>
              <a:t>GATE 1</a:t>
            </a:r>
            <a:endParaRPr lang="en-US" sz="1050" dirty="0"/>
          </a:p>
        </p:txBody>
      </p:sp>
      <p:sp>
        <p:nvSpPr>
          <p:cNvPr id="16" name="Text 12"/>
          <p:cNvSpPr/>
          <p:nvPr/>
        </p:nvSpPr>
        <p:spPr>
          <a:xfrm>
            <a:off x="4184066" y="2084832"/>
            <a:ext cx="1687754"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Author checklist</a:t>
            </a:r>
            <a:endParaRPr lang="en-US" sz="1400" dirty="0"/>
          </a:p>
        </p:txBody>
      </p:sp>
      <p:sp>
        <p:nvSpPr>
          <p:cNvPr id="17" name="Text 13"/>
          <p:cNvSpPr/>
          <p:nvPr/>
        </p:nvSpPr>
        <p:spPr>
          <a:xfrm>
            <a:off x="3562274" y="2560320"/>
            <a:ext cx="2236394" cy="3063240"/>
          </a:xfrm>
          <a:prstGeom prst="rect">
            <a:avLst/>
          </a:prstGeom>
          <a:noFill/>
          <a:ln/>
        </p:spPr>
        <p:txBody>
          <a:bodyPr wrap="square" lIns="0" tIns="0" rIns="0" bIns="0" rtlCol="0" anchor="ctr"/>
          <a:lstStyle/>
          <a:p>
            <a:pPr marL="342900" indent="-342900">
              <a:spcAft>
                <a:spcPts val="600"/>
              </a:spcAft>
              <a:buSzPct val="100000"/>
              <a:buChar char="•"/>
            </a:pPr>
            <a:r>
              <a:rPr lang="en-US" sz="1000" dirty="0">
                <a:solidFill>
                  <a:srgbClr val="1B2440"/>
                </a:solidFill>
                <a:latin typeface="Calibri" pitchFamily="34" charset="0"/>
                <a:ea typeface="Calibri" pitchFamily="34" charset="-122"/>
                <a:cs typeface="Calibri" pitchFamily="34" charset="-120"/>
              </a:rPr>
              <a:t>Comments/docs stripped; template literals &amp; concatenations checked by eye</a:t>
            </a:r>
            <a:endParaRPr lang="en-US" sz="1000" dirty="0"/>
          </a:p>
          <a:p>
            <a:pPr marL="342900" indent="-342900">
              <a:spcAft>
                <a:spcPts val="600"/>
              </a:spcAft>
              <a:buSzPct val="100000"/>
              <a:buChar char="•"/>
            </a:pPr>
            <a:r>
              <a:rPr lang="en-US" sz="1000" dirty="0">
                <a:solidFill>
                  <a:srgbClr val="1B2440"/>
                </a:solidFill>
                <a:latin typeface="Calibri" pitchFamily="34" charset="0"/>
                <a:ea typeface="Calibri" pitchFamily="34" charset="-122"/>
                <a:cs typeface="Calibri" pitchFamily="34" charset="-120"/>
              </a:rPr>
              <a:t>Fixtures are synthetic — generated, never copied-then-edited</a:t>
            </a:r>
            <a:endParaRPr lang="en-US" sz="1000" dirty="0"/>
          </a:p>
          <a:p>
            <a:pPr marL="342900" indent="-342900">
              <a:spcAft>
                <a:spcPts val="600"/>
              </a:spcAft>
              <a:buSzPct val="100000"/>
              <a:buChar char="•"/>
            </a:pPr>
            <a:r>
              <a:rPr lang="en-US" sz="1000" dirty="0">
                <a:solidFill>
                  <a:srgbClr val="1B2440"/>
                </a:solidFill>
                <a:latin typeface="Calibri" pitchFamily="34" charset="0"/>
                <a:ea typeface="Calibri" pitchFamily="34" charset="-122"/>
                <a:cs typeface="Calibri" pitchFamily="34" charset="-120"/>
              </a:rPr>
              <a:t>Error messages, test names, enum values desensitized</a:t>
            </a:r>
            <a:endParaRPr lang="en-US" sz="1000" dirty="0"/>
          </a:p>
          <a:p>
            <a:pPr marL="342900" indent="-342900">
              <a:spcAft>
                <a:spcPts val="600"/>
              </a:spcAft>
              <a:buSzPct val="100000"/>
              <a:buChar char="•"/>
            </a:pPr>
            <a:r>
              <a:rPr lang="en-US" sz="1000" dirty="0">
                <a:solidFill>
                  <a:srgbClr val="1B2440"/>
                </a:solidFill>
                <a:latin typeface="Calibri" pitchFamily="34" charset="0"/>
                <a:ea typeface="Calibri" pitchFamily="34" charset="-122"/>
                <a:cs typeface="Calibri" pitchFamily="34" charset="-120"/>
              </a:rPr>
              <a:t>No real rule values in code, configs, or committed samples</a:t>
            </a:r>
            <a:endParaRPr lang="en-US" sz="1000" dirty="0"/>
          </a:p>
          <a:p>
            <a:pPr marL="342900" indent="-342900">
              <a:spcAft>
                <a:spcPts val="600"/>
              </a:spcAft>
              <a:buSzPct val="100000"/>
              <a:buChar char="•"/>
            </a:pPr>
            <a:r>
              <a:rPr lang="en-US" sz="1000" dirty="0">
                <a:solidFill>
                  <a:srgbClr val="1B2440"/>
                </a:solidFill>
                <a:latin typeface="Calibri" pitchFamily="34" charset="0"/>
                <a:ea typeface="Calibri" pitchFamily="34" charset="-122"/>
                <a:cs typeface="Calibri" pitchFamily="34" charset="-120"/>
              </a:rPr>
              <a:t>Signed: “I have read every line of this package”</a:t>
            </a:r>
            <a:endParaRPr lang="en-US" sz="1000" dirty="0"/>
          </a:p>
        </p:txBody>
      </p:sp>
      <p:sp>
        <p:nvSpPr>
          <p:cNvPr id="18" name="Shape 14"/>
          <p:cNvSpPr/>
          <p:nvPr/>
        </p:nvSpPr>
        <p:spPr>
          <a:xfrm>
            <a:off x="6210148" y="1645920"/>
            <a:ext cx="2602154" cy="4160520"/>
          </a:xfrm>
          <a:prstGeom prst="roundRect">
            <a:avLst>
              <a:gd name="adj" fmla="val 2811"/>
            </a:avLst>
          </a:prstGeom>
          <a:solidFill>
            <a:srgbClr val="EDF3FC"/>
          </a:solidFill>
          <a:ln/>
          <a:effectLst>
            <a:outerShdw sx="100000" sy="100000" kx="0" ky="0" algn="bl" rotWithShape="0" blurRad="76200" dist="12700" dir="5400000">
              <a:srgbClr val="9AA7C4">
                <a:alpha val="25000"/>
              </a:srgbClr>
            </a:outerShdw>
          </a:effectLst>
        </p:spPr>
      </p:sp>
      <p:sp>
        <p:nvSpPr>
          <p:cNvPr id="19" name="Shape 15"/>
          <p:cNvSpPr/>
          <p:nvPr/>
        </p:nvSpPr>
        <p:spPr>
          <a:xfrm>
            <a:off x="6411316" y="1847088"/>
            <a:ext cx="502920" cy="502920"/>
          </a:xfrm>
          <a:prstGeom prst="ellipse">
            <a:avLst/>
          </a:prstGeom>
          <a:solidFill>
            <a:srgbClr val="1E2761"/>
          </a:solidFill>
          <a:ln/>
        </p:spPr>
      </p:sp>
      <p:pic>
        <p:nvPicPr>
          <p:cNvPr id="20" name="Image 2" descr="preencoded.png">    </p:cNvPr>
          <p:cNvPicPr>
            <a:picLocks noChangeAspect="1"/>
          </p:cNvPicPr>
          <p:nvPr/>
        </p:nvPicPr>
        <p:blipFill>
          <a:blip r:embed="rId3"/>
          <a:stretch>
            <a:fillRect/>
          </a:stretch>
        </p:blipFill>
        <p:spPr>
          <a:xfrm>
            <a:off x="6542075" y="1977847"/>
            <a:ext cx="241402" cy="241402"/>
          </a:xfrm>
          <a:prstGeom prst="rect">
            <a:avLst/>
          </a:prstGeom>
        </p:spPr>
      </p:pic>
      <p:sp>
        <p:nvSpPr>
          <p:cNvPr id="21" name="Text 16"/>
          <p:cNvSpPr/>
          <p:nvPr/>
        </p:nvSpPr>
        <p:spPr>
          <a:xfrm>
            <a:off x="7014820" y="1847088"/>
            <a:ext cx="1687754" cy="256032"/>
          </a:xfrm>
          <a:prstGeom prst="rect">
            <a:avLst/>
          </a:prstGeom>
          <a:noFill/>
          <a:ln/>
        </p:spPr>
        <p:txBody>
          <a:bodyPr wrap="square" lIns="0" tIns="0" rIns="0" bIns="0" rtlCol="0" anchor="ctr"/>
          <a:lstStyle/>
          <a:p>
            <a:pPr indent="0" marL="0">
              <a:buNone/>
            </a:pPr>
            <a:r>
              <a:rPr lang="en-US" sz="1050" b="1" spc="200" kern="0" dirty="0">
                <a:solidFill>
                  <a:srgbClr val="5A6B8C"/>
                </a:solidFill>
                <a:latin typeface="Calibri" pitchFamily="34" charset="0"/>
                <a:ea typeface="Calibri" pitchFamily="34" charset="-122"/>
                <a:cs typeface="Calibri" pitchFamily="34" charset="-120"/>
              </a:rPr>
              <a:t>GATE 2</a:t>
            </a:r>
            <a:endParaRPr lang="en-US" sz="1050" dirty="0"/>
          </a:p>
        </p:txBody>
      </p:sp>
      <p:sp>
        <p:nvSpPr>
          <p:cNvPr id="22" name="Text 17"/>
          <p:cNvSpPr/>
          <p:nvPr/>
        </p:nvSpPr>
        <p:spPr>
          <a:xfrm>
            <a:off x="7014820" y="2084832"/>
            <a:ext cx="1687754"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Second-person review</a:t>
            </a:r>
            <a:endParaRPr lang="en-US" sz="1400" dirty="0"/>
          </a:p>
        </p:txBody>
      </p:sp>
      <p:sp>
        <p:nvSpPr>
          <p:cNvPr id="23" name="Text 18"/>
          <p:cNvSpPr/>
          <p:nvPr/>
        </p:nvSpPr>
        <p:spPr>
          <a:xfrm>
            <a:off x="6393028" y="2560320"/>
            <a:ext cx="2236394" cy="3063240"/>
          </a:xfrm>
          <a:prstGeom prst="rect">
            <a:avLst/>
          </a:prstGeom>
          <a:noFill/>
          <a:ln/>
        </p:spPr>
        <p:txBody>
          <a:bodyPr wrap="square" lIns="0" tIns="0" rIns="0" bIns="0" rtlCol="0" anchor="ctr"/>
          <a:lstStyle/>
          <a:p>
            <a:pPr marL="342900" indent="-342900">
              <a:spcAft>
                <a:spcPts val="600"/>
              </a:spcAft>
              <a:buSzPct val="100000"/>
              <a:buChar char="•"/>
            </a:pPr>
            <a:r>
              <a:rPr lang="en-US" sz="1000" dirty="0">
                <a:solidFill>
                  <a:srgbClr val="1B2440"/>
                </a:solidFill>
                <a:latin typeface="Calibri" pitchFamily="34" charset="0"/>
                <a:ea typeface="Calibri" pitchFamily="34" charset="-122"/>
                <a:cs typeface="Calibri" pitchFamily="34" charset="-120"/>
              </a:rPr>
              <a:t>Reviewer did NOT author the package — fresh eyes, full read</a:t>
            </a:r>
            <a:endParaRPr lang="en-US" sz="1000" dirty="0"/>
          </a:p>
          <a:p>
            <a:pPr marL="342900" indent="-342900">
              <a:spcAft>
                <a:spcPts val="600"/>
              </a:spcAft>
              <a:buSzPct val="100000"/>
              <a:buChar char="•"/>
            </a:pPr>
            <a:r>
              <a:rPr lang="en-US" sz="1000" dirty="0">
                <a:solidFill>
                  <a:srgbClr val="1B2440"/>
                </a:solidFill>
                <a:latin typeface="Calibri" pitchFamily="34" charset="0"/>
                <a:ea typeface="Calibri" pitchFamily="34" charset="-122"/>
                <a:cs typeface="Calibri" pitchFamily="34" charset="-120"/>
              </a:rPr>
              <a:t>Reads the desensitized output only, hunting residual meaning</a:t>
            </a:r>
            <a:endParaRPr lang="en-US" sz="1000" dirty="0"/>
          </a:p>
          <a:p>
            <a:pPr marL="342900" indent="-342900">
              <a:spcAft>
                <a:spcPts val="600"/>
              </a:spcAft>
              <a:buSzPct val="100000"/>
              <a:buChar char="•"/>
            </a:pPr>
            <a:r>
              <a:rPr lang="en-US" sz="1000" dirty="0">
                <a:solidFill>
                  <a:srgbClr val="1B2440"/>
                </a:solidFill>
                <a:latin typeface="Calibri" pitchFamily="34" charset="0"/>
                <a:ea typeface="Calibri" pitchFamily="34" charset="-122"/>
                <a:cs typeface="Calibri" pitchFamily="34" charset="-120"/>
              </a:rPr>
              <a:t>Checks structure itself isn't identifying (unique flow shapes)</a:t>
            </a:r>
            <a:endParaRPr lang="en-US" sz="1000" dirty="0"/>
          </a:p>
          <a:p>
            <a:pPr marL="342900" indent="-342900">
              <a:spcAft>
                <a:spcPts val="600"/>
              </a:spcAft>
              <a:buSzPct val="100000"/>
              <a:buChar char="•"/>
            </a:pPr>
            <a:r>
              <a:rPr lang="en-US" sz="1000" dirty="0">
                <a:solidFill>
                  <a:srgbClr val="1B2440"/>
                </a:solidFill>
                <a:latin typeface="Calibri" pitchFamily="34" charset="0"/>
                <a:ea typeface="Calibri" pitchFamily="34" charset="-122"/>
                <a:cs typeface="Calibri" pitchFamily="34" charset="-120"/>
              </a:rPr>
              <a:t>Tech lead or supervisor; rotates to avoid rubber-stamping</a:t>
            </a:r>
            <a:endParaRPr lang="en-US" sz="1000" dirty="0"/>
          </a:p>
        </p:txBody>
      </p:sp>
      <p:sp>
        <p:nvSpPr>
          <p:cNvPr id="24" name="Shape 19"/>
          <p:cNvSpPr/>
          <p:nvPr/>
        </p:nvSpPr>
        <p:spPr>
          <a:xfrm>
            <a:off x="9040901" y="1645920"/>
            <a:ext cx="2602154" cy="4160520"/>
          </a:xfrm>
          <a:prstGeom prst="roundRect">
            <a:avLst>
              <a:gd name="adj" fmla="val 2811"/>
            </a:avLst>
          </a:prstGeom>
          <a:solidFill>
            <a:srgbClr val="EDF3FC"/>
          </a:solidFill>
          <a:ln/>
          <a:effectLst>
            <a:outerShdw sx="100000" sy="100000" kx="0" ky="0" algn="bl" rotWithShape="0" blurRad="76200" dist="12700" dir="5400000">
              <a:srgbClr val="9AA7C4">
                <a:alpha val="25000"/>
              </a:srgbClr>
            </a:outerShdw>
          </a:effectLst>
        </p:spPr>
      </p:sp>
      <p:sp>
        <p:nvSpPr>
          <p:cNvPr id="25" name="Shape 20"/>
          <p:cNvSpPr/>
          <p:nvPr/>
        </p:nvSpPr>
        <p:spPr>
          <a:xfrm>
            <a:off x="9242069" y="1847088"/>
            <a:ext cx="502920" cy="502920"/>
          </a:xfrm>
          <a:prstGeom prst="ellipse">
            <a:avLst/>
          </a:prstGeom>
          <a:solidFill>
            <a:srgbClr val="1E2761"/>
          </a:solidFill>
          <a:ln/>
        </p:spPr>
      </p:sp>
      <p:pic>
        <p:nvPicPr>
          <p:cNvPr id="26" name="Image 3" descr="preencoded.png">    </p:cNvPr>
          <p:cNvPicPr>
            <a:picLocks noChangeAspect="1"/>
          </p:cNvPicPr>
          <p:nvPr/>
        </p:nvPicPr>
        <p:blipFill>
          <a:blip r:embed="rId4"/>
          <a:stretch>
            <a:fillRect/>
          </a:stretch>
        </p:blipFill>
        <p:spPr>
          <a:xfrm>
            <a:off x="9372829" y="1977847"/>
            <a:ext cx="241402" cy="241402"/>
          </a:xfrm>
          <a:prstGeom prst="rect">
            <a:avLst/>
          </a:prstGeom>
        </p:spPr>
      </p:pic>
      <p:sp>
        <p:nvSpPr>
          <p:cNvPr id="27" name="Text 21"/>
          <p:cNvSpPr/>
          <p:nvPr/>
        </p:nvSpPr>
        <p:spPr>
          <a:xfrm>
            <a:off x="9845573" y="1847088"/>
            <a:ext cx="1687754" cy="256032"/>
          </a:xfrm>
          <a:prstGeom prst="rect">
            <a:avLst/>
          </a:prstGeom>
          <a:noFill/>
          <a:ln/>
        </p:spPr>
        <p:txBody>
          <a:bodyPr wrap="square" lIns="0" tIns="0" rIns="0" bIns="0" rtlCol="0" anchor="ctr"/>
          <a:lstStyle/>
          <a:p>
            <a:pPr indent="0" marL="0">
              <a:buNone/>
            </a:pPr>
            <a:r>
              <a:rPr lang="en-US" sz="1050" b="1" spc="200" kern="0" dirty="0">
                <a:solidFill>
                  <a:srgbClr val="5A6B8C"/>
                </a:solidFill>
                <a:latin typeface="Calibri" pitchFamily="34" charset="0"/>
                <a:ea typeface="Calibri" pitchFamily="34" charset="-122"/>
                <a:cs typeface="Calibri" pitchFamily="34" charset="-120"/>
              </a:rPr>
              <a:t>GATE 3</a:t>
            </a:r>
            <a:endParaRPr lang="en-US" sz="1050" dirty="0"/>
          </a:p>
        </p:txBody>
      </p:sp>
      <p:sp>
        <p:nvSpPr>
          <p:cNvPr id="28" name="Text 22"/>
          <p:cNvSpPr/>
          <p:nvPr/>
        </p:nvSpPr>
        <p:spPr>
          <a:xfrm>
            <a:off x="9845573" y="2084832"/>
            <a:ext cx="1687754"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Approval + ledger</a:t>
            </a:r>
            <a:endParaRPr lang="en-US" sz="1400" dirty="0"/>
          </a:p>
        </p:txBody>
      </p:sp>
      <p:sp>
        <p:nvSpPr>
          <p:cNvPr id="29" name="Text 23"/>
          <p:cNvSpPr/>
          <p:nvPr/>
        </p:nvSpPr>
        <p:spPr>
          <a:xfrm>
            <a:off x="9223781" y="2560320"/>
            <a:ext cx="2236394" cy="3063240"/>
          </a:xfrm>
          <a:prstGeom prst="rect">
            <a:avLst/>
          </a:prstGeom>
          <a:noFill/>
          <a:ln/>
        </p:spPr>
        <p:txBody>
          <a:bodyPr wrap="square" lIns="0" tIns="0" rIns="0" bIns="0" rtlCol="0" anchor="ctr"/>
          <a:lstStyle/>
          <a:p>
            <a:pPr marL="342900" indent="-342900">
              <a:spcAft>
                <a:spcPts val="600"/>
              </a:spcAft>
              <a:buSzPct val="100000"/>
              <a:buChar char="•"/>
            </a:pPr>
            <a:r>
              <a:rPr lang="en-US" sz="1000" dirty="0">
                <a:solidFill>
                  <a:srgbClr val="1B2440"/>
                </a:solidFill>
                <a:latin typeface="Calibri" pitchFamily="34" charset="0"/>
                <a:ea typeface="Calibri" pitchFamily="34" charset="-122"/>
                <a:cs typeface="Calibri" pitchFamily="34" charset="-120"/>
              </a:rPr>
              <a:t>Approval per matrix (next slide) — risk-tiered, not one-size</a:t>
            </a:r>
            <a:endParaRPr lang="en-US" sz="1000" dirty="0"/>
          </a:p>
          <a:p>
            <a:pPr marL="342900" indent="-342900">
              <a:spcAft>
                <a:spcPts val="600"/>
              </a:spcAft>
              <a:buSzPct val="100000"/>
              <a:buChar char="•"/>
            </a:pPr>
            <a:r>
              <a:rPr lang="en-US" sz="1000" dirty="0">
                <a:solidFill>
                  <a:srgbClr val="1B2440"/>
                </a:solidFill>
                <a:latin typeface="Calibri" pitchFamily="34" charset="0"/>
                <a:ea typeface="Calibri" pitchFamily="34" charset="-122"/>
                <a:cs typeface="Calibri" pitchFamily="34" charset="-120"/>
              </a:rPr>
              <a:t>Egress ledger: what, who, when, hashes, mapping version</a:t>
            </a:r>
            <a:endParaRPr lang="en-US" sz="1000" dirty="0"/>
          </a:p>
          <a:p>
            <a:pPr marL="342900" indent="-342900">
              <a:spcAft>
                <a:spcPts val="600"/>
              </a:spcAft>
              <a:buSzPct val="100000"/>
              <a:buChar char="•"/>
            </a:pPr>
            <a:r>
              <a:rPr lang="en-US" sz="1000" dirty="0">
                <a:solidFill>
                  <a:srgbClr val="1B2440"/>
                </a:solidFill>
                <a:latin typeface="Calibri" pitchFamily="34" charset="0"/>
                <a:ea typeface="Calibri" pitchFamily="34" charset="-122"/>
                <a:cs typeface="Calibri" pitchFamily="34" charset="-120"/>
              </a:rPr>
              <a:t>Package archived immutably for future audit</a:t>
            </a:r>
            <a:endParaRPr lang="en-US" sz="1000" dirty="0"/>
          </a:p>
          <a:p>
            <a:pPr marL="342900" indent="-342900">
              <a:spcAft>
                <a:spcPts val="600"/>
              </a:spcAft>
              <a:buSzPct val="100000"/>
              <a:buChar char="•"/>
            </a:pPr>
            <a:r>
              <a:rPr lang="en-US" sz="1000" dirty="0">
                <a:solidFill>
                  <a:srgbClr val="1B2440"/>
                </a:solidFill>
                <a:latin typeface="Calibri" pitchFamily="34" charset="0"/>
                <a:ea typeface="Calibri" pitchFamily="34" charset="-122"/>
                <a:cs typeface="Calibri" pitchFamily="34" charset="-120"/>
              </a:rPr>
              <a:t>Transfer via the org's sanctioned egress channel only</a:t>
            </a:r>
            <a:endParaRPr lang="en-US" sz="1000" dirty="0"/>
          </a:p>
        </p:txBody>
      </p:sp>
      <p:sp>
        <p:nvSpPr>
          <p:cNvPr id="30" name="Text 24"/>
          <p:cNvSpPr/>
          <p:nvPr/>
        </p:nvSpPr>
        <p:spPr>
          <a:xfrm>
            <a:off x="548640" y="5943600"/>
            <a:ext cx="11094415" cy="411480"/>
          </a:xfrm>
          <a:prstGeom prst="rect">
            <a:avLst/>
          </a:prstGeom>
          <a:noFill/>
          <a:ln/>
        </p:spPr>
        <p:txBody>
          <a:bodyPr wrap="square" lIns="0" tIns="0" rIns="0" bIns="0" rtlCol="0" anchor="ctr"/>
          <a:lstStyle/>
          <a:p>
            <a:pPr algn="ctr" indent="0" marL="0">
              <a:buNone/>
            </a:pPr>
            <a:r>
              <a:rPr lang="en-US" sz="1300" b="1" dirty="0">
                <a:solidFill>
                  <a:srgbClr val="1E2761"/>
                </a:solidFill>
                <a:latin typeface="Calibri" pitchFamily="34" charset="0"/>
                <a:ea typeface="Calibri" pitchFamily="34" charset="-122"/>
                <a:cs typeface="Calibri" pitchFamily="34" charset="-120"/>
              </a:rPr>
              <a:t>Design principle: </a:t>
            </a:r>
            <a:pPr algn="ctr" indent="0" marL="0">
              <a:buNone/>
            </a:pPr>
            <a:r>
              <a:rPr lang="en-US" sz="1300" dirty="0">
                <a:solidFill>
                  <a:srgbClr val="1B2440"/>
                </a:solidFill>
                <a:latin typeface="Calibri" pitchFamily="34" charset="0"/>
                <a:ea typeface="Calibri" pitchFamily="34" charset="-122"/>
                <a:cs typeface="Calibri" pitchFamily="34" charset="-120"/>
              </a:rPr>
              <a:t>the desensitizer is a productivity tool, not a security control. Gates 0–3 are the security control. Humans catch meaning; machines catch strings — you need both, every time.</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algn="l" indent="0" marL="0">
              <a:buNone/>
            </a:pPr>
            <a:r>
              <a:rPr lang="en-US" sz="900" dirty="0">
                <a:solidFill>
                  <a:srgbClr val="5A6B8C"/>
                </a:solidFill>
                <a:latin typeface="Calibri" pitchFamily="34" charset="0"/>
                <a:ea typeface="Calibri" pitchFamily="34" charset="-122"/>
                <a:cs typeface="Calibri" pitchFamily="34" charset="-120"/>
              </a:rPr>
              <a:t>Internet-First, Airgap-Final</a:t>
            </a:r>
            <a:endParaRPr lang="en-US" sz="900" dirty="0"/>
          </a:p>
        </p:txBody>
      </p:sp>
      <p:sp>
        <p:nvSpPr>
          <p:cNvPr id="3" name="Text 1"/>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A6B8C"/>
                </a:solidFill>
                <a:latin typeface="Calibri" pitchFamily="34" charset="0"/>
                <a:ea typeface="Calibri" pitchFamily="34" charset="-122"/>
                <a:cs typeface="Calibri" pitchFamily="34" charset="-120"/>
              </a:rPr>
              <a:t>8</a:t>
            </a:r>
            <a:endParaRPr lang="en-US" sz="900" dirty="0"/>
          </a:p>
        </p:txBody>
      </p:sp>
      <p:sp>
        <p:nvSpPr>
          <p:cNvPr id="4" name="Text 2"/>
          <p:cNvSpPr/>
          <p:nvPr/>
        </p:nvSpPr>
        <p:spPr>
          <a:xfrm>
            <a:off x="548640" y="384048"/>
            <a:ext cx="11094415" cy="274320"/>
          </a:xfrm>
          <a:prstGeom prst="rect">
            <a:avLst/>
          </a:prstGeom>
          <a:noFill/>
          <a:ln/>
        </p:spPr>
        <p:txBody>
          <a:bodyPr wrap="square" lIns="0" tIns="0" rIns="0" bIns="0" rtlCol="0" anchor="ctr"/>
          <a:lstStyle/>
          <a:p>
            <a:pPr indent="0" marL="0">
              <a:buNone/>
            </a:pPr>
            <a:r>
              <a:rPr lang="en-US" sz="1200" b="1" spc="300" kern="0" dirty="0">
                <a:solidFill>
                  <a:srgbClr val="5A6B8C"/>
                </a:solidFill>
                <a:latin typeface="Calibri" pitchFamily="34" charset="0"/>
                <a:ea typeface="Calibri" pitchFamily="34" charset="-122"/>
                <a:cs typeface="Calibri" pitchFamily="34" charset="-120"/>
              </a:rPr>
              <a:t>OUTBOUND SECURITY · COMPLIANCE WITHOUT KILLING VELOCITY</a:t>
            </a:r>
            <a:endParaRPr lang="en-US" sz="1200" dirty="0"/>
          </a:p>
        </p:txBody>
      </p:sp>
      <p:sp>
        <p:nvSpPr>
          <p:cNvPr id="5" name="Text 3"/>
          <p:cNvSpPr/>
          <p:nvPr/>
        </p:nvSpPr>
        <p:spPr>
          <a:xfrm>
            <a:off x="548640" y="658368"/>
            <a:ext cx="11094415" cy="621792"/>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The risk-tiered approval matrix</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1920240"/>
                <a:gridCol w="3566160"/>
                <a:gridCol w="2011680"/>
                <a:gridCol w="2468880"/>
                <a:gridCol w="1124712"/>
              </a:tblGrid>
              <a:tr h="65836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Package type</a:t>
                      </a:r>
                      <a:endParaRPr lang="en-US" sz="1200" dirty="0">
                        <a:latin typeface="Calibri" charset="0"/>
                        <a:ea typeface="Calibri" charset="0"/>
                        <a:cs typeface="Calibri" charset="0"/>
                      </a:endParaRPr>
                    </a:p>
                  </a:txBody>
                  <a:tcPr marL="73152" marR="73152" marT="73152" marB="73152"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1E276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Examples</a:t>
                      </a:r>
                      <a:endParaRPr lang="en-US" sz="1200" dirty="0">
                        <a:latin typeface="Calibri" charset="0"/>
                        <a:ea typeface="Calibri" charset="0"/>
                        <a:cs typeface="Calibri" charset="0"/>
                      </a:endParaRPr>
                    </a:p>
                  </a:txBody>
                  <a:tcPr marL="73152" marR="73152" marT="73152" marB="73152"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1E276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Gate 2 reviewer</a:t>
                      </a:r>
                      <a:endParaRPr lang="en-US" sz="1200" dirty="0">
                        <a:latin typeface="Calibri" charset="0"/>
                        <a:ea typeface="Calibri" charset="0"/>
                        <a:cs typeface="Calibri" charset="0"/>
                      </a:endParaRPr>
                    </a:p>
                  </a:txBody>
                  <a:tcPr marL="73152" marR="73152" marT="73152" marB="73152"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1E276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Final approver</a:t>
                      </a:r>
                      <a:endParaRPr lang="en-US" sz="1200" dirty="0">
                        <a:latin typeface="Calibri" charset="0"/>
                        <a:ea typeface="Calibri" charset="0"/>
                        <a:cs typeface="Calibri" charset="0"/>
                      </a:endParaRPr>
                    </a:p>
                  </a:txBody>
                  <a:tcPr marL="73152" marR="73152" marT="73152" marB="73152"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1E276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Target SLA</a:t>
                      </a:r>
                      <a:endParaRPr lang="en-US" sz="1200" dirty="0">
                        <a:latin typeface="Calibri" charset="0"/>
                        <a:ea typeface="Calibri" charset="0"/>
                        <a:cs typeface="Calibri" charset="0"/>
                      </a:endParaRPr>
                    </a:p>
                  </a:txBody>
                  <a:tcPr marL="73152" marR="73152" marT="73152" marB="73152"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1E2761"/>
                    </a:solidFill>
                  </a:tcPr>
                </a:tc>
              </a:tr>
              <a:tr h="658368">
                <a:tc>
                  <a:txBody>
                    <a:bodyPr/>
                    <a:lstStyle/>
                    <a:p>
                      <a:pPr indent="0" marL="0">
                        <a:buNone/>
                      </a:pPr>
                      <a:r>
                        <a:rPr lang="en-US" sz="1150" dirty="0">
                          <a:solidFill>
                            <a:srgbClr val="1B2440"/>
                          </a:solidFill>
                          <a:latin typeface="Calibri" pitchFamily="34" charset="0"/>
                          <a:ea typeface="Calibri" pitchFamily="34" charset="-122"/>
                          <a:cs typeface="Calibri" pitchFamily="34" charset="-120"/>
                        </a:rPr>
                        <a:t>Tier 1 · Structural</a:t>
                      </a:r>
                      <a:endParaRPr lang="en-US" sz="1150" dirty="0">
                        <a:latin typeface="Calibri" charset="0"/>
                        <a:ea typeface="Calibri" charset="0"/>
                        <a:cs typeface="Calibri" charset="0"/>
                      </a:endParaRPr>
                    </a:p>
                  </a:txBody>
                  <a:tcPr marL="73152" marR="73152" marT="73152" marB="73152"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FFFFFF"/>
                    </a:solidFill>
                  </a:tcPr>
                </a:tc>
                <a:tc>
                  <a:txBody>
                    <a:bodyPr/>
                    <a:lstStyle/>
                    <a:p>
                      <a:pPr indent="0" marL="0">
                        <a:buNone/>
                      </a:pPr>
                      <a:r>
                        <a:rPr lang="en-US" sz="1150" dirty="0">
                          <a:solidFill>
                            <a:srgbClr val="1B2440"/>
                          </a:solidFill>
                          <a:latin typeface="Calibri" pitchFamily="34" charset="0"/>
                          <a:ea typeface="Calibri" pitchFamily="34" charset="-122"/>
                          <a:cs typeface="Calibri" pitchFamily="34" charset="-120"/>
                        </a:rPr>
                        <a:t>OpenAPI shapes, routes, component trees, type signatures — no logic, no literals</a:t>
                      </a:r>
                      <a:endParaRPr lang="en-US" sz="1150" dirty="0">
                        <a:latin typeface="Calibri" charset="0"/>
                        <a:ea typeface="Calibri" charset="0"/>
                        <a:cs typeface="Calibri" charset="0"/>
                      </a:endParaRPr>
                    </a:p>
                  </a:txBody>
                  <a:tcPr marL="73152" marR="73152" marT="73152" marB="73152"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FFFFFF"/>
                    </a:solidFill>
                  </a:tcPr>
                </a:tc>
                <a:tc>
                  <a:txBody>
                    <a:bodyPr/>
                    <a:lstStyle/>
                    <a:p>
                      <a:pPr indent="0" marL="0">
                        <a:buNone/>
                      </a:pPr>
                      <a:r>
                        <a:rPr lang="en-US" sz="1150" dirty="0">
                          <a:solidFill>
                            <a:srgbClr val="1B2440"/>
                          </a:solidFill>
                          <a:latin typeface="Calibri" pitchFamily="34" charset="0"/>
                          <a:ea typeface="Calibri" pitchFamily="34" charset="-122"/>
                          <a:cs typeface="Calibri" pitchFamily="34" charset="-120"/>
                        </a:rPr>
                        <a:t>One tech lead</a:t>
                      </a:r>
                      <a:endParaRPr lang="en-US" sz="1150" dirty="0">
                        <a:latin typeface="Calibri" charset="0"/>
                        <a:ea typeface="Calibri" charset="0"/>
                        <a:cs typeface="Calibri" charset="0"/>
                      </a:endParaRPr>
                    </a:p>
                  </a:txBody>
                  <a:tcPr marL="73152" marR="73152" marT="73152" marB="73152"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FFFFFF"/>
                    </a:solidFill>
                  </a:tcPr>
                </a:tc>
                <a:tc>
                  <a:txBody>
                    <a:bodyPr/>
                    <a:lstStyle/>
                    <a:p>
                      <a:pPr indent="0" marL="0">
                        <a:buNone/>
                      </a:pPr>
                      <a:r>
                        <a:rPr lang="en-US" sz="1150" dirty="0">
                          <a:solidFill>
                            <a:srgbClr val="1B2440"/>
                          </a:solidFill>
                          <a:latin typeface="Calibri" pitchFamily="34" charset="0"/>
                          <a:ea typeface="Calibri" pitchFamily="34" charset="-122"/>
                          <a:cs typeface="Calibri" pitchFamily="34" charset="-120"/>
                        </a:rPr>
                        <a:t>Engineering supervisor</a:t>
                      </a:r>
                      <a:endParaRPr lang="en-US" sz="1150" dirty="0">
                        <a:latin typeface="Calibri" charset="0"/>
                        <a:ea typeface="Calibri" charset="0"/>
                        <a:cs typeface="Calibri" charset="0"/>
                      </a:endParaRPr>
                    </a:p>
                  </a:txBody>
                  <a:tcPr marL="73152" marR="73152" marT="73152" marB="73152"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FFFFFF"/>
                    </a:solidFill>
                  </a:tcPr>
                </a:tc>
                <a:tc>
                  <a:txBody>
                    <a:bodyPr/>
                    <a:lstStyle/>
                    <a:p>
                      <a:pPr indent="0" marL="0">
                        <a:buNone/>
                      </a:pPr>
                      <a:r>
                        <a:rPr lang="en-US" sz="1150" dirty="0">
                          <a:solidFill>
                            <a:srgbClr val="1B2440"/>
                          </a:solidFill>
                          <a:latin typeface="Calibri" pitchFamily="34" charset="0"/>
                          <a:ea typeface="Calibri" pitchFamily="34" charset="-122"/>
                          <a:cs typeface="Calibri" pitchFamily="34" charset="-120"/>
                        </a:rPr>
                        <a:t>Same day</a:t>
                      </a:r>
                      <a:endParaRPr lang="en-US" sz="1150" dirty="0">
                        <a:latin typeface="Calibri" charset="0"/>
                        <a:ea typeface="Calibri" charset="0"/>
                        <a:cs typeface="Calibri" charset="0"/>
                      </a:endParaRPr>
                    </a:p>
                  </a:txBody>
                  <a:tcPr marL="73152" marR="73152" marT="73152" marB="73152"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FFFFFF"/>
                    </a:solidFill>
                  </a:tcPr>
                </a:tc>
              </a:tr>
              <a:tr h="658368">
                <a:tc>
                  <a:txBody>
                    <a:bodyPr/>
                    <a:lstStyle/>
                    <a:p>
                      <a:pPr indent="0" marL="0">
                        <a:buNone/>
                      </a:pPr>
                      <a:r>
                        <a:rPr lang="en-US" sz="1150" dirty="0">
                          <a:solidFill>
                            <a:srgbClr val="1B2440"/>
                          </a:solidFill>
                          <a:latin typeface="Calibri" pitchFamily="34" charset="0"/>
                          <a:ea typeface="Calibri" pitchFamily="34" charset="-122"/>
                          <a:cs typeface="Calibri" pitchFamily="34" charset="-120"/>
                        </a:rPr>
                        <a:t>Tier 2 · Sanitized source</a:t>
                      </a:r>
                      <a:endParaRPr lang="en-US" sz="1150" dirty="0">
                        <a:latin typeface="Calibri" charset="0"/>
                        <a:ea typeface="Calibri" charset="0"/>
                        <a:cs typeface="Calibri" charset="0"/>
                      </a:endParaRPr>
                    </a:p>
                  </a:txBody>
                  <a:tcPr marL="73152" marR="73152" marT="73152" marB="73152"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EDF3FC"/>
                    </a:solidFill>
                  </a:tcPr>
                </a:tc>
                <a:tc>
                  <a:txBody>
                    <a:bodyPr/>
                    <a:lstStyle/>
                    <a:p>
                      <a:pPr indent="0" marL="0">
                        <a:buNone/>
                      </a:pPr>
                      <a:r>
                        <a:rPr lang="en-US" sz="1150" dirty="0">
                          <a:solidFill>
                            <a:srgbClr val="1B2440"/>
                          </a:solidFill>
                          <a:latin typeface="Calibri" pitchFamily="34" charset="0"/>
                          <a:ea typeface="Calibri" pitchFamily="34" charset="-122"/>
                          <a:cs typeface="Calibri" pitchFamily="34" charset="-120"/>
                        </a:rPr>
                        <a:t>code_extractor output, service signatures, synthetic fixtures</a:t>
                      </a:r>
                      <a:endParaRPr lang="en-US" sz="1150" dirty="0">
                        <a:latin typeface="Calibri" charset="0"/>
                        <a:ea typeface="Calibri" charset="0"/>
                        <a:cs typeface="Calibri" charset="0"/>
                      </a:endParaRPr>
                    </a:p>
                  </a:txBody>
                  <a:tcPr marL="73152" marR="73152" marT="73152" marB="73152"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EDF3FC"/>
                    </a:solidFill>
                  </a:tcPr>
                </a:tc>
                <a:tc>
                  <a:txBody>
                    <a:bodyPr/>
                    <a:lstStyle/>
                    <a:p>
                      <a:pPr indent="0" marL="0">
                        <a:buNone/>
                      </a:pPr>
                      <a:r>
                        <a:rPr lang="en-US" sz="1150" dirty="0">
                          <a:solidFill>
                            <a:srgbClr val="1B2440"/>
                          </a:solidFill>
                          <a:latin typeface="Calibri" pitchFamily="34" charset="0"/>
                          <a:ea typeface="Calibri" pitchFamily="34" charset="-122"/>
                          <a:cs typeface="Calibri" pitchFamily="34" charset="-120"/>
                        </a:rPr>
                        <a:t>Tech lead + one peer</a:t>
                      </a:r>
                      <a:endParaRPr lang="en-US" sz="1150" dirty="0">
                        <a:latin typeface="Calibri" charset="0"/>
                        <a:ea typeface="Calibri" charset="0"/>
                        <a:cs typeface="Calibri" charset="0"/>
                      </a:endParaRPr>
                    </a:p>
                  </a:txBody>
                  <a:tcPr marL="73152" marR="73152" marT="73152" marB="73152"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EDF3FC"/>
                    </a:solidFill>
                  </a:tcPr>
                </a:tc>
                <a:tc>
                  <a:txBody>
                    <a:bodyPr/>
                    <a:lstStyle/>
                    <a:p>
                      <a:pPr indent="0" marL="0">
                        <a:buNone/>
                      </a:pPr>
                      <a:r>
                        <a:rPr lang="en-US" sz="1150" dirty="0">
                          <a:solidFill>
                            <a:srgbClr val="1B2440"/>
                          </a:solidFill>
                          <a:latin typeface="Calibri" pitchFamily="34" charset="0"/>
                          <a:ea typeface="Calibri" pitchFamily="34" charset="-122"/>
                          <a:cs typeface="Calibri" pitchFamily="34" charset="-120"/>
                        </a:rPr>
                        <a:t>Supervisor + monthly cyber audit of the ledger</a:t>
                      </a:r>
                      <a:endParaRPr lang="en-US" sz="1150" dirty="0">
                        <a:latin typeface="Calibri" charset="0"/>
                        <a:ea typeface="Calibri" charset="0"/>
                        <a:cs typeface="Calibri" charset="0"/>
                      </a:endParaRPr>
                    </a:p>
                  </a:txBody>
                  <a:tcPr marL="73152" marR="73152" marT="73152" marB="73152"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EDF3FC"/>
                    </a:solidFill>
                  </a:tcPr>
                </a:tc>
                <a:tc>
                  <a:txBody>
                    <a:bodyPr/>
                    <a:lstStyle/>
                    <a:p>
                      <a:pPr indent="0" marL="0">
                        <a:buNone/>
                      </a:pPr>
                      <a:r>
                        <a:rPr lang="en-US" sz="1150" dirty="0">
                          <a:solidFill>
                            <a:srgbClr val="1B2440"/>
                          </a:solidFill>
                          <a:latin typeface="Calibri" pitchFamily="34" charset="0"/>
                          <a:ea typeface="Calibri" pitchFamily="34" charset="-122"/>
                          <a:cs typeface="Calibri" pitchFamily="34" charset="-120"/>
                        </a:rPr>
                        <a:t>≤ 2 working days</a:t>
                      </a:r>
                      <a:endParaRPr lang="en-US" sz="1150" dirty="0">
                        <a:latin typeface="Calibri" charset="0"/>
                        <a:ea typeface="Calibri" charset="0"/>
                        <a:cs typeface="Calibri" charset="0"/>
                      </a:endParaRPr>
                    </a:p>
                  </a:txBody>
                  <a:tcPr marL="73152" marR="73152" marT="73152" marB="73152"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EDF3FC"/>
                    </a:solidFill>
                  </a:tcPr>
                </a:tc>
              </a:tr>
              <a:tr h="658368">
                <a:tc>
                  <a:txBody>
                    <a:bodyPr/>
                    <a:lstStyle/>
                    <a:p>
                      <a:pPr indent="0" marL="0">
                        <a:buNone/>
                      </a:pPr>
                      <a:r>
                        <a:rPr lang="en-US" sz="1150" dirty="0">
                          <a:solidFill>
                            <a:srgbClr val="1B2440"/>
                          </a:solidFill>
                          <a:latin typeface="Calibri" pitchFamily="34" charset="0"/>
                          <a:ea typeface="Calibri" pitchFamily="34" charset="-122"/>
                          <a:cs typeface="Calibri" pitchFamily="34" charset="-120"/>
                        </a:rPr>
                        <a:t>Tier 3 · Logic-adjacent</a:t>
                      </a:r>
                      <a:endParaRPr lang="en-US" sz="1150" dirty="0">
                        <a:latin typeface="Calibri" charset="0"/>
                        <a:ea typeface="Calibri" charset="0"/>
                        <a:cs typeface="Calibri" charset="0"/>
                      </a:endParaRPr>
                    </a:p>
                  </a:txBody>
                  <a:tcPr marL="73152" marR="73152" marT="73152" marB="73152"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FFFFFF"/>
                    </a:solidFill>
                  </a:tcPr>
                </a:tc>
                <a:tc>
                  <a:txBody>
                    <a:bodyPr/>
                    <a:lstStyle/>
                    <a:p>
                      <a:pPr indent="0" marL="0">
                        <a:buNone/>
                      </a:pPr>
                      <a:r>
                        <a:rPr lang="en-US" sz="1150" dirty="0">
                          <a:solidFill>
                            <a:srgbClr val="1B2440"/>
                          </a:solidFill>
                          <a:latin typeface="Calibri" pitchFamily="34" charset="0"/>
                          <a:ea typeface="Calibri" pitchFamily="34" charset="-122"/>
                          <a:cs typeface="Calibri" pitchFamily="34" charset="-120"/>
                        </a:rPr>
                        <a:t>Abstract rule keys, state-machine shapes, anything touching classified-adjacent flows</a:t>
                      </a:r>
                      <a:endParaRPr lang="en-US" sz="1150" dirty="0">
                        <a:latin typeface="Calibri" charset="0"/>
                        <a:ea typeface="Calibri" charset="0"/>
                        <a:cs typeface="Calibri" charset="0"/>
                      </a:endParaRPr>
                    </a:p>
                  </a:txBody>
                  <a:tcPr marL="73152" marR="73152" marT="73152" marB="73152"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FFFFFF"/>
                    </a:solidFill>
                  </a:tcPr>
                </a:tc>
                <a:tc>
                  <a:txBody>
                    <a:bodyPr/>
                    <a:lstStyle/>
                    <a:p>
                      <a:pPr indent="0" marL="0">
                        <a:buNone/>
                      </a:pPr>
                      <a:r>
                        <a:rPr lang="en-US" sz="1150" dirty="0">
                          <a:solidFill>
                            <a:srgbClr val="1B2440"/>
                          </a:solidFill>
                          <a:latin typeface="Calibri" pitchFamily="34" charset="0"/>
                          <a:ea typeface="Calibri" pitchFamily="34" charset="-122"/>
                          <a:cs typeface="Calibri" pitchFamily="34" charset="-120"/>
                        </a:rPr>
                        <a:t>Tech lead + supervisor</a:t>
                      </a:r>
                      <a:endParaRPr lang="en-US" sz="1150" dirty="0">
                        <a:latin typeface="Calibri" charset="0"/>
                        <a:ea typeface="Calibri" charset="0"/>
                        <a:cs typeface="Calibri" charset="0"/>
                      </a:endParaRPr>
                    </a:p>
                  </a:txBody>
                  <a:tcPr marL="73152" marR="73152" marT="73152" marB="73152"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FFFFFF"/>
                    </a:solidFill>
                  </a:tcPr>
                </a:tc>
                <a:tc>
                  <a:txBody>
                    <a:bodyPr/>
                    <a:lstStyle/>
                    <a:p>
                      <a:pPr indent="0" marL="0">
                        <a:buNone/>
                      </a:pPr>
                      <a:r>
                        <a:rPr lang="en-US" sz="1150" dirty="0">
                          <a:solidFill>
                            <a:srgbClr val="1B2440"/>
                          </a:solidFill>
                          <a:latin typeface="Calibri" pitchFamily="34" charset="0"/>
                          <a:ea typeface="Calibri" pitchFamily="34" charset="-122"/>
                          <a:cs typeface="Calibri" pitchFamily="34" charset="-120"/>
                        </a:rPr>
                        <a:t>Cybersecurity / SW-assurance rep (named fast-track contact)</a:t>
                      </a:r>
                      <a:endParaRPr lang="en-US" sz="1150" dirty="0">
                        <a:latin typeface="Calibri" charset="0"/>
                        <a:ea typeface="Calibri" charset="0"/>
                        <a:cs typeface="Calibri" charset="0"/>
                      </a:endParaRPr>
                    </a:p>
                  </a:txBody>
                  <a:tcPr marL="73152" marR="73152" marT="73152" marB="73152"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FFFFFF"/>
                    </a:solidFill>
                  </a:tcPr>
                </a:tc>
                <a:tc>
                  <a:txBody>
                    <a:bodyPr/>
                    <a:lstStyle/>
                    <a:p>
                      <a:pPr indent="0" marL="0">
                        <a:buNone/>
                      </a:pPr>
                      <a:r>
                        <a:rPr lang="en-US" sz="1150" dirty="0">
                          <a:solidFill>
                            <a:srgbClr val="1B2440"/>
                          </a:solidFill>
                          <a:latin typeface="Calibri" pitchFamily="34" charset="0"/>
                          <a:ea typeface="Calibri" pitchFamily="34" charset="-122"/>
                          <a:cs typeface="Calibri" pitchFamily="34" charset="-120"/>
                        </a:rPr>
                        <a:t>≤ 5 working days</a:t>
                      </a:r>
                      <a:endParaRPr lang="en-US" sz="1150" dirty="0">
                        <a:latin typeface="Calibri" charset="0"/>
                        <a:ea typeface="Calibri" charset="0"/>
                        <a:cs typeface="Calibri" charset="0"/>
                      </a:endParaRPr>
                    </a:p>
                  </a:txBody>
                  <a:tcPr marL="73152" marR="73152" marT="73152" marB="73152"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FFFFFF"/>
                    </a:solidFill>
                  </a:tcPr>
                </a:tc>
              </a:tr>
              <a:tr h="658368">
                <a:tc>
                  <a:txBody>
                    <a:bodyPr/>
                    <a:lstStyle/>
                    <a:p>
                      <a:pPr indent="0" marL="0">
                        <a:buNone/>
                      </a:pPr>
                      <a:r>
                        <a:rPr lang="en-US" sz="1150" dirty="0">
                          <a:solidFill>
                            <a:srgbClr val="1B2440"/>
                          </a:solidFill>
                          <a:latin typeface="Calibri" pitchFamily="34" charset="0"/>
                          <a:ea typeface="Calibri" pitchFamily="34" charset="-122"/>
                          <a:cs typeface="Calibri" pitchFamily="34" charset="-120"/>
                        </a:rPr>
                        <a:t>Tier 0 · Standing patterns</a:t>
                      </a:r>
                      <a:endParaRPr lang="en-US" sz="1150" dirty="0">
                        <a:latin typeface="Calibri" charset="0"/>
                        <a:ea typeface="Calibri" charset="0"/>
                        <a:cs typeface="Calibri" charset="0"/>
                      </a:endParaRPr>
                    </a:p>
                  </a:txBody>
                  <a:tcPr marL="73152" marR="73152" marT="73152" marB="73152"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EDF3FC"/>
                    </a:solidFill>
                  </a:tcPr>
                </a:tc>
                <a:tc>
                  <a:txBody>
                    <a:bodyPr/>
                    <a:lstStyle/>
                    <a:p>
                      <a:pPr indent="0" marL="0">
                        <a:buNone/>
                      </a:pPr>
                      <a:r>
                        <a:rPr lang="en-US" sz="1150" dirty="0">
                          <a:solidFill>
                            <a:srgbClr val="1B2440"/>
                          </a:solidFill>
                          <a:latin typeface="Calibri" pitchFamily="34" charset="0"/>
                          <a:ea typeface="Calibri" pitchFamily="34" charset="-122"/>
                          <a:cs typeface="Calibri" pitchFamily="34" charset="-120"/>
                        </a:rPr>
                        <a:t>Pre-approved recurring shapes (e.g. CRUD contract template, N-th similar fixture set)</a:t>
                      </a:r>
                      <a:endParaRPr lang="en-US" sz="1150" dirty="0">
                        <a:latin typeface="Calibri" charset="0"/>
                        <a:ea typeface="Calibri" charset="0"/>
                        <a:cs typeface="Calibri" charset="0"/>
                      </a:endParaRPr>
                    </a:p>
                  </a:txBody>
                  <a:tcPr marL="73152" marR="73152" marT="73152" marB="73152"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EDF3FC"/>
                    </a:solidFill>
                  </a:tcPr>
                </a:tc>
                <a:tc>
                  <a:txBody>
                    <a:bodyPr/>
                    <a:lstStyle/>
                    <a:p>
                      <a:pPr indent="0" marL="0">
                        <a:buNone/>
                      </a:pPr>
                      <a:r>
                        <a:rPr lang="en-US" sz="1150" dirty="0">
                          <a:solidFill>
                            <a:srgbClr val="1B2440"/>
                          </a:solidFill>
                          <a:latin typeface="Calibri" pitchFamily="34" charset="0"/>
                          <a:ea typeface="Calibri" pitchFamily="34" charset="-122"/>
                          <a:cs typeface="Calibri" pitchFamily="34" charset="-120"/>
                        </a:rPr>
                        <a:t>Checklist only</a:t>
                      </a:r>
                      <a:endParaRPr lang="en-US" sz="1150" dirty="0">
                        <a:latin typeface="Calibri" charset="0"/>
                        <a:ea typeface="Calibri" charset="0"/>
                        <a:cs typeface="Calibri" charset="0"/>
                      </a:endParaRPr>
                    </a:p>
                  </a:txBody>
                  <a:tcPr marL="73152" marR="73152" marT="73152" marB="73152"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EDF3FC"/>
                    </a:solidFill>
                  </a:tcPr>
                </a:tc>
                <a:tc>
                  <a:txBody>
                    <a:bodyPr/>
                    <a:lstStyle/>
                    <a:p>
                      <a:pPr indent="0" marL="0">
                        <a:buNone/>
                      </a:pPr>
                      <a:r>
                        <a:rPr lang="en-US" sz="1150" dirty="0">
                          <a:solidFill>
                            <a:srgbClr val="1B2440"/>
                          </a:solidFill>
                          <a:latin typeface="Calibri" pitchFamily="34" charset="0"/>
                          <a:ea typeface="Calibri" pitchFamily="34" charset="-122"/>
                          <a:cs typeface="Calibri" pitchFamily="34" charset="-120"/>
                        </a:rPr>
                        <a:t>Pre-authorized by prior Tier-2 approval</a:t>
                      </a:r>
                      <a:endParaRPr lang="en-US" sz="1150" dirty="0">
                        <a:latin typeface="Calibri" charset="0"/>
                        <a:ea typeface="Calibri" charset="0"/>
                        <a:cs typeface="Calibri" charset="0"/>
                      </a:endParaRPr>
                    </a:p>
                  </a:txBody>
                  <a:tcPr marL="73152" marR="73152" marT="73152" marB="73152"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EDF3FC"/>
                    </a:solidFill>
                  </a:tcPr>
                </a:tc>
                <a:tc>
                  <a:txBody>
                    <a:bodyPr/>
                    <a:lstStyle/>
                    <a:p>
                      <a:pPr indent="0" marL="0">
                        <a:buNone/>
                      </a:pPr>
                      <a:r>
                        <a:rPr lang="en-US" sz="1150" dirty="0">
                          <a:solidFill>
                            <a:srgbClr val="1B2440"/>
                          </a:solidFill>
                          <a:latin typeface="Calibri" pitchFamily="34" charset="0"/>
                          <a:ea typeface="Calibri" pitchFamily="34" charset="-122"/>
                          <a:cs typeface="Calibri" pitchFamily="34" charset="-120"/>
                        </a:rPr>
                        <a:t>Immediate</a:t>
                      </a:r>
                      <a:endParaRPr lang="en-US" sz="1150" dirty="0">
                        <a:latin typeface="Calibri" charset="0"/>
                        <a:ea typeface="Calibri" charset="0"/>
                        <a:cs typeface="Calibri" charset="0"/>
                      </a:endParaRPr>
                    </a:p>
                  </a:txBody>
                  <a:tcPr marL="73152" marR="73152" marT="73152" marB="73152" anchor="ctr">
                    <a:lnL w="12700" cap="flat" cmpd="sng" algn="ctr">
                      <a:solidFill>
                        <a:srgbClr val="D5DEEF"/>
                      </a:solidFill>
                      <a:prstDash val="solid"/>
                      <a:round/>
                      <a:headEnd type="none" w="med" len="med"/>
                      <a:tailEnd type="none" w="med" len="med"/>
                    </a:lnL>
                    <a:lnR w="12700" cap="flat" cmpd="sng" algn="ctr">
                      <a:solidFill>
                        <a:srgbClr val="D5DEEF"/>
                      </a:solidFill>
                      <a:prstDash val="solid"/>
                      <a:round/>
                      <a:headEnd type="none" w="med" len="med"/>
                      <a:tailEnd type="none" w="med" len="med"/>
                    </a:lnR>
                    <a:lnT w="12700" cap="flat" cmpd="sng" algn="ctr">
                      <a:solidFill>
                        <a:srgbClr val="D5DEEF"/>
                      </a:solidFill>
                      <a:prstDash val="solid"/>
                      <a:round/>
                      <a:headEnd type="none" w="med" len="med"/>
                      <a:tailEnd type="none" w="med" len="med"/>
                    </a:lnT>
                    <a:lnB w="12700" cap="flat" cmpd="sng" algn="ctr">
                      <a:solidFill>
                        <a:srgbClr val="D5DEEF"/>
                      </a:solidFill>
                      <a:prstDash val="solid"/>
                      <a:round/>
                      <a:headEnd type="none" w="med" len="med"/>
                      <a:tailEnd type="none" w="med" len="med"/>
                    </a:lnB>
                    <a:solidFill>
                      <a:srgbClr val="EDF3FC"/>
                    </a:solidFill>
                  </a:tcPr>
                </a:tc>
              </a:tr>
            </a:tbl>
          </a:graphicData>
        </a:graphic>
      </p:graphicFrame>
      <p:sp>
        <p:nvSpPr>
          <p:cNvPr id="7" name="Text 4"/>
          <p:cNvSpPr/>
          <p:nvPr/>
        </p:nvSpPr>
        <p:spPr>
          <a:xfrm>
            <a:off x="548640" y="5349240"/>
            <a:ext cx="11094415" cy="86868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How this stays fast: </a:t>
            </a:r>
            <a:pPr indent="0" marL="0">
              <a:buNone/>
            </a:pPr>
            <a:r>
              <a:rPr lang="en-US" sz="1300" dirty="0">
                <a:solidFill>
                  <a:srgbClr val="1B2440"/>
                </a:solidFill>
                <a:latin typeface="Calibri" pitchFamily="34" charset="0"/>
                <a:ea typeface="Calibri" pitchFamily="34" charset="-122"/>
                <a:cs typeface="Calibri" pitchFamily="34" charset="-120"/>
              </a:rPr>
              <a:t>cyber assurance is IN the loop but not ON the path — they co-author the checklists and denylists, audit the ledger monthly, and are pulled in live only for Tier 3. Velocity comes from Tier 0: the more we standardize spec-package shapes, the more egress becomes pre-approved routine instead of a negotiation.</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algn="l" indent="0" marL="0">
              <a:buNone/>
            </a:pPr>
            <a:r>
              <a:rPr lang="en-US" sz="900" dirty="0">
                <a:solidFill>
                  <a:srgbClr val="5A6B8C"/>
                </a:solidFill>
                <a:latin typeface="Calibri" pitchFamily="34" charset="0"/>
                <a:ea typeface="Calibri" pitchFamily="34" charset="-122"/>
                <a:cs typeface="Calibri" pitchFamily="34" charset="-120"/>
              </a:rPr>
              <a:t>Internet-First, Airgap-Final</a:t>
            </a:r>
            <a:endParaRPr lang="en-US" sz="900" dirty="0"/>
          </a:p>
        </p:txBody>
      </p:sp>
      <p:sp>
        <p:nvSpPr>
          <p:cNvPr id="3" name="Text 1"/>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A6B8C"/>
                </a:solidFill>
                <a:latin typeface="Calibri" pitchFamily="34" charset="0"/>
                <a:ea typeface="Calibri" pitchFamily="34" charset="-122"/>
                <a:cs typeface="Calibri" pitchFamily="34" charset="-120"/>
              </a:rPr>
              <a:t>9</a:t>
            </a:r>
            <a:endParaRPr lang="en-US" sz="900" dirty="0"/>
          </a:p>
        </p:txBody>
      </p:sp>
      <p:sp>
        <p:nvSpPr>
          <p:cNvPr id="4" name="Text 2"/>
          <p:cNvSpPr/>
          <p:nvPr/>
        </p:nvSpPr>
        <p:spPr>
          <a:xfrm>
            <a:off x="548640" y="384048"/>
            <a:ext cx="11094415" cy="274320"/>
          </a:xfrm>
          <a:prstGeom prst="rect">
            <a:avLst/>
          </a:prstGeom>
          <a:noFill/>
          <a:ln/>
        </p:spPr>
        <p:txBody>
          <a:bodyPr wrap="square" lIns="0" tIns="0" rIns="0" bIns="0" rtlCol="0" anchor="ctr"/>
          <a:lstStyle/>
          <a:p>
            <a:pPr indent="0" marL="0">
              <a:buNone/>
            </a:pPr>
            <a:r>
              <a:rPr lang="en-US" sz="1200" b="1" spc="300" kern="0" dirty="0">
                <a:solidFill>
                  <a:srgbClr val="5A6B8C"/>
                </a:solidFill>
                <a:latin typeface="Calibri" pitchFamily="34" charset="0"/>
                <a:ea typeface="Calibri" pitchFamily="34" charset="-122"/>
                <a:cs typeface="Calibri" pitchFamily="34" charset="-120"/>
              </a:rPr>
              <a:t>PHASE 1 · A REAL PRODUCT IN A FICTIONAL DOMAIN</a:t>
            </a:r>
            <a:endParaRPr lang="en-US" sz="1200" dirty="0"/>
          </a:p>
        </p:txBody>
      </p:sp>
      <p:sp>
        <p:nvSpPr>
          <p:cNvPr id="5" name="Text 3"/>
          <p:cNvSpPr/>
          <p:nvPr/>
        </p:nvSpPr>
        <p:spPr>
          <a:xfrm>
            <a:off x="548640" y="658368"/>
            <a:ext cx="11094415" cy="621792"/>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The “Looking at Trees Corp.” sandbox</a:t>
            </a:r>
            <a:endParaRPr lang="en-US" sz="3000" dirty="0"/>
          </a:p>
        </p:txBody>
      </p:sp>
      <p:sp>
        <p:nvSpPr>
          <p:cNvPr id="6" name="Shape 4"/>
          <p:cNvSpPr/>
          <p:nvPr/>
        </p:nvSpPr>
        <p:spPr>
          <a:xfrm>
            <a:off x="548640" y="1645920"/>
            <a:ext cx="5364328" cy="4297680"/>
          </a:xfrm>
          <a:prstGeom prst="roundRect">
            <a:avLst>
              <a:gd name="adj" fmla="val 1702"/>
            </a:avLst>
          </a:prstGeom>
          <a:solidFill>
            <a:srgbClr val="EAF4EF"/>
          </a:solidFill>
          <a:ln/>
          <a:effectLst>
            <a:outerShdw sx="100000" sy="100000" kx="0" ky="0" algn="bl" rotWithShape="0" blurRad="76200" dist="12700" dir="5400000">
              <a:srgbClr val="9AA7C4">
                <a:alpha val="25000"/>
              </a:srgbClr>
            </a:outerShdw>
          </a:effectLst>
        </p:spPr>
      </p:sp>
      <p:sp>
        <p:nvSpPr>
          <p:cNvPr id="7" name="Shape 5"/>
          <p:cNvSpPr/>
          <p:nvPr/>
        </p:nvSpPr>
        <p:spPr>
          <a:xfrm>
            <a:off x="804672" y="1847088"/>
            <a:ext cx="530352" cy="530352"/>
          </a:xfrm>
          <a:prstGeom prst="ellipse">
            <a:avLst/>
          </a:prstGeom>
          <a:solidFill>
            <a:srgbClr val="2E7D5B"/>
          </a:solidFill>
          <a:ln/>
        </p:spPr>
      </p:sp>
      <p:pic>
        <p:nvPicPr>
          <p:cNvPr id="8" name="Image 0" descr="preencoded.png">    </p:cNvPr>
          <p:cNvPicPr>
            <a:picLocks noChangeAspect="1"/>
          </p:cNvPicPr>
          <p:nvPr/>
        </p:nvPicPr>
        <p:blipFill>
          <a:blip r:embed="rId1"/>
          <a:stretch>
            <a:fillRect/>
          </a:stretch>
        </p:blipFill>
        <p:spPr>
          <a:xfrm>
            <a:off x="942564" y="1984980"/>
            <a:ext cx="254569" cy="254569"/>
          </a:xfrm>
          <a:prstGeom prst="rect">
            <a:avLst/>
          </a:prstGeom>
        </p:spPr>
      </p:pic>
      <p:sp>
        <p:nvSpPr>
          <p:cNvPr id="9" name="Text 6"/>
          <p:cNvSpPr/>
          <p:nvPr/>
        </p:nvSpPr>
        <p:spPr>
          <a:xfrm>
            <a:off x="1463040" y="1920240"/>
            <a:ext cx="4267048" cy="365760"/>
          </a:xfrm>
          <a:prstGeom prst="rect">
            <a:avLst/>
          </a:prstGeom>
          <a:noFill/>
          <a:ln/>
        </p:spPr>
        <p:txBody>
          <a:bodyPr wrap="square" lIns="0" tIns="0" rIns="0" bIns="0" rtlCol="0" anchor="ctr"/>
          <a:lstStyle/>
          <a:p>
            <a:pPr indent="0" marL="0">
              <a:buNone/>
            </a:pPr>
            <a:r>
              <a:rPr lang="en-US" sz="1500" b="1" dirty="0">
                <a:solidFill>
                  <a:srgbClr val="2E7D5B"/>
                </a:solidFill>
                <a:latin typeface="Calibri" pitchFamily="34" charset="0"/>
                <a:ea typeface="Calibri" pitchFamily="34" charset="-122"/>
                <a:cs typeface="Calibri" pitchFamily="34" charset="-120"/>
              </a:rPr>
              <a:t>Universe discipline</a:t>
            </a:r>
            <a:endParaRPr lang="en-US" sz="1500" dirty="0"/>
          </a:p>
        </p:txBody>
      </p:sp>
      <p:sp>
        <p:nvSpPr>
          <p:cNvPr id="10" name="Text 7"/>
          <p:cNvSpPr/>
          <p:nvPr/>
        </p:nvSpPr>
        <p:spPr>
          <a:xfrm>
            <a:off x="822960" y="2423160"/>
            <a:ext cx="4815688" cy="33832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1B2440"/>
                </a:solidFill>
                <a:latin typeface="Calibri" pitchFamily="34" charset="0"/>
                <a:ea typeface="Calibri" pitchFamily="34" charset="-122"/>
                <a:cs typeface="Calibri" pitchFamily="34" charset="-120"/>
              </a:rPr>
              <a:t>Write a “world bible”: LTC's domain model, entities, personas — rich enough that devs never need to reach for a real term</a:t>
            </a:r>
            <a:endParaRPr lang="en-US" sz="1200" dirty="0"/>
          </a:p>
          <a:p>
            <a:pPr marL="342900" indent="-342900">
              <a:spcAft>
                <a:spcPts val="800"/>
              </a:spcAft>
              <a:buSzPct val="100000"/>
              <a:buChar char="•"/>
            </a:pPr>
            <a:r>
              <a:rPr lang="en-US" sz="1200" dirty="0">
                <a:solidFill>
                  <a:srgbClr val="1B2440"/>
                </a:solidFill>
                <a:latin typeface="Calibri" pitchFamily="34" charset="0"/>
                <a:ea typeface="Calibri" pitchFamily="34" charset="-122"/>
                <a:cs typeface="Calibri" pitchFamily="34" charset="-120"/>
              </a:rPr>
              <a:t>One canonical glossary maps LTC ↔ real terms; it lives INSIDE the airgap with mapping.json and is version-locked to it</a:t>
            </a:r>
            <a:endParaRPr lang="en-US" sz="1200" dirty="0"/>
          </a:p>
          <a:p>
            <a:pPr marL="342900" indent="-342900">
              <a:spcAft>
                <a:spcPts val="800"/>
              </a:spcAft>
              <a:buSzPct val="100000"/>
              <a:buChar char="•"/>
            </a:pPr>
            <a:r>
              <a:rPr lang="en-US" sz="1200" dirty="0">
                <a:solidFill>
                  <a:srgbClr val="1B2440"/>
                </a:solidFill>
                <a:latin typeface="Calibri" pitchFamily="34" charset="0"/>
                <a:ea typeface="Calibri" pitchFamily="34" charset="-122"/>
                <a:cs typeface="Calibri" pitchFamily="34" charset="-120"/>
              </a:rPr>
              <a:t>Structural isomorphism is a leak vector: cardinalities, flow shapes and org-chart mirrors can identify the real domain — deliberately vary non-essential structure</a:t>
            </a:r>
            <a:endParaRPr lang="en-US" sz="1200" dirty="0"/>
          </a:p>
          <a:p>
            <a:pPr marL="342900" indent="-342900">
              <a:spcAft>
                <a:spcPts val="800"/>
              </a:spcAft>
              <a:buSzPct val="100000"/>
              <a:buChar char="•"/>
            </a:pPr>
            <a:r>
              <a:rPr lang="en-US" sz="1200" dirty="0">
                <a:solidFill>
                  <a:srgbClr val="1B2440"/>
                </a:solidFill>
                <a:latin typeface="Calibri" pitchFamily="34" charset="0"/>
                <a:ea typeface="Calibri" pitchFamily="34" charset="-122"/>
                <a:cs typeface="Calibri" pitchFamily="34" charset="-120"/>
              </a:rPr>
              <a:t>Private repos, org-owned accounts, 2FA, no personal GitHub; assume everything outside is readable by an adversary</a:t>
            </a:r>
            <a:endParaRPr lang="en-US" sz="1200" dirty="0"/>
          </a:p>
        </p:txBody>
      </p:sp>
      <p:sp>
        <p:nvSpPr>
          <p:cNvPr id="11" name="Shape 8"/>
          <p:cNvSpPr/>
          <p:nvPr/>
        </p:nvSpPr>
        <p:spPr>
          <a:xfrm>
            <a:off x="6278728" y="1645920"/>
            <a:ext cx="5364328" cy="4297680"/>
          </a:xfrm>
          <a:prstGeom prst="roundRect">
            <a:avLst>
              <a:gd name="adj" fmla="val 1702"/>
            </a:avLst>
          </a:prstGeom>
          <a:solidFill>
            <a:srgbClr val="EDF3FC"/>
          </a:solidFill>
          <a:ln/>
          <a:effectLst>
            <a:outerShdw sx="100000" sy="100000" kx="0" ky="0" algn="bl" rotWithShape="0" blurRad="76200" dist="12700" dir="5400000">
              <a:srgbClr val="9AA7C4">
                <a:alpha val="25000"/>
              </a:srgbClr>
            </a:outerShdw>
          </a:effectLst>
        </p:spPr>
      </p:sp>
      <p:sp>
        <p:nvSpPr>
          <p:cNvPr id="12" name="Shape 9"/>
          <p:cNvSpPr/>
          <p:nvPr/>
        </p:nvSpPr>
        <p:spPr>
          <a:xfrm>
            <a:off x="6534760" y="1847088"/>
            <a:ext cx="530352" cy="530352"/>
          </a:xfrm>
          <a:prstGeom prst="ellipse">
            <a:avLst/>
          </a:prstGeom>
          <a:solidFill>
            <a:srgbClr val="1E2761"/>
          </a:solidFill>
          <a:ln/>
        </p:spPr>
      </p:sp>
      <p:pic>
        <p:nvPicPr>
          <p:cNvPr id="13" name="Image 1" descr="preencoded.png">    </p:cNvPr>
          <p:cNvPicPr>
            <a:picLocks noChangeAspect="1"/>
          </p:cNvPicPr>
          <p:nvPr/>
        </p:nvPicPr>
        <p:blipFill>
          <a:blip r:embed="rId2"/>
          <a:stretch>
            <a:fillRect/>
          </a:stretch>
        </p:blipFill>
        <p:spPr>
          <a:xfrm>
            <a:off x="6672651" y="1984980"/>
            <a:ext cx="254569" cy="254569"/>
          </a:xfrm>
          <a:prstGeom prst="rect">
            <a:avLst/>
          </a:prstGeom>
        </p:spPr>
      </p:pic>
      <p:sp>
        <p:nvSpPr>
          <p:cNvPr id="14" name="Text 10"/>
          <p:cNvSpPr/>
          <p:nvPr/>
        </p:nvSpPr>
        <p:spPr>
          <a:xfrm>
            <a:off x="7193128" y="1920240"/>
            <a:ext cx="4267048" cy="36576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Repo parity with Confi GitLab</a:t>
            </a:r>
            <a:endParaRPr lang="en-US" sz="1500" dirty="0"/>
          </a:p>
        </p:txBody>
      </p:sp>
      <p:sp>
        <p:nvSpPr>
          <p:cNvPr id="15" name="Text 11"/>
          <p:cNvSpPr/>
          <p:nvPr/>
        </p:nvSpPr>
        <p:spPr>
          <a:xfrm>
            <a:off x="6553048" y="2423160"/>
            <a:ext cx="4815688" cy="33832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1B2440"/>
                </a:solidFill>
                <a:latin typeface="Calibri" pitchFamily="34" charset="0"/>
                <a:ea typeface="Calibri" pitchFamily="34" charset="-122"/>
                <a:cs typeface="Calibri" pitchFamily="34" charset="-120"/>
              </a:rPr>
              <a:t>Same pipeline stages: lint (same ESLint config file), unit, SAST, build, tag — export the actual config files inward so rules are identical, not similar</a:t>
            </a:r>
            <a:endParaRPr lang="en-US" sz="1200" dirty="0"/>
          </a:p>
          <a:p>
            <a:pPr marL="342900" indent="-342900">
              <a:spcAft>
                <a:spcPts val="800"/>
              </a:spcAft>
              <a:buSzPct val="100000"/>
              <a:buChar char="•"/>
            </a:pPr>
            <a:r>
              <a:rPr lang="en-US" sz="1200" dirty="0">
                <a:solidFill>
                  <a:srgbClr val="1B2440"/>
                </a:solidFill>
                <a:latin typeface="Calibri" pitchFamily="34" charset="0"/>
                <a:ea typeface="Calibri" pitchFamily="34" charset="-122"/>
                <a:cs typeface="Calibri" pitchFamily="34" charset="-120"/>
              </a:rPr>
              <a:t>Semantic version tags = the ONLY inbound artifact unit; no branch syncing, no cherry-picked commits across the gap</a:t>
            </a:r>
            <a:endParaRPr lang="en-US" sz="1200" dirty="0"/>
          </a:p>
          <a:p>
            <a:pPr marL="342900" indent="-342900">
              <a:spcAft>
                <a:spcPts val="800"/>
              </a:spcAft>
              <a:buSzPct val="100000"/>
              <a:buChar char="•"/>
            </a:pPr>
            <a:r>
              <a:rPr lang="en-US" sz="1200" dirty="0">
                <a:solidFill>
                  <a:srgbClr val="1B2440"/>
                </a:solidFill>
                <a:latin typeface="Calibri" pitchFamily="34" charset="0"/>
                <a:ea typeface="Calibri" pitchFamily="34" charset="-122"/>
                <a:cs typeface="Calibri" pitchFamily="34" charset="-120"/>
              </a:rPr>
              <a:t>Dependency-delta job in CI: diff package-lock / pom against the Confi-approved manifest; new libs &amp; versions become a machine-readable request list for the internal registry</a:t>
            </a:r>
            <a:endParaRPr lang="en-US" sz="1200" dirty="0"/>
          </a:p>
          <a:p>
            <a:pPr marL="342900" indent="-342900">
              <a:spcAft>
                <a:spcPts val="800"/>
              </a:spcAft>
              <a:buSzPct val="100000"/>
              <a:buChar char="•"/>
            </a:pPr>
            <a:r>
              <a:rPr lang="en-US" sz="1200" dirty="0">
                <a:solidFill>
                  <a:srgbClr val="1B2440"/>
                </a:solidFill>
                <a:latin typeface="Calibri" pitchFamily="34" charset="0"/>
                <a:ea typeface="Calibri" pitchFamily="34" charset="-122"/>
                <a:cs typeface="Calibri" pitchFamily="34" charset="-120"/>
              </a:rPr>
              <a:t>Pin exact versions + lockfiles; Confi rebuilds from source through its own pipeline — internet build artifacts are never trusted directly</a:t>
            </a:r>
            <a:endParaRPr lang="en-US" sz="1200" dirty="0"/>
          </a:p>
        </p:txBody>
      </p:sp>
      <p:sp>
        <p:nvSpPr>
          <p:cNvPr id="16" name="Text 12"/>
          <p:cNvSpPr/>
          <p:nvPr/>
        </p:nvSpPr>
        <p:spPr>
          <a:xfrm>
            <a:off x="548640" y="6035040"/>
            <a:ext cx="11094415" cy="365760"/>
          </a:xfrm>
          <a:prstGeom prst="rect">
            <a:avLst/>
          </a:prstGeom>
          <a:noFill/>
          <a:ln/>
        </p:spPr>
        <p:txBody>
          <a:bodyPr wrap="square" lIns="0" tIns="0" rIns="0" bIns="0" rtlCol="0" anchor="ctr"/>
          <a:lstStyle/>
          <a:p>
            <a:pPr algn="ctr" indent="0" marL="0">
              <a:buNone/>
            </a:pPr>
            <a:r>
              <a:rPr lang="en-US" sz="1250" i="1" dirty="0">
                <a:solidFill>
                  <a:srgbClr val="5A6B8C"/>
                </a:solidFill>
                <a:latin typeface="Calibri" pitchFamily="34" charset="0"/>
                <a:ea typeface="Calibri" pitchFamily="34" charset="-122"/>
                <a:cs typeface="Calibri" pitchFamily="34" charset="-120"/>
              </a:rPr>
              <a:t>Prefer Confi-approved libraries by default; a delta is a conscious, flagged decision — never a surprise found at integration.</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algn="l" indent="0" marL="0">
              <a:buNone/>
            </a:pPr>
            <a:r>
              <a:rPr lang="en-US" sz="900" dirty="0">
                <a:solidFill>
                  <a:srgbClr val="5A6B8C"/>
                </a:solidFill>
                <a:latin typeface="Calibri" pitchFamily="34" charset="0"/>
                <a:ea typeface="Calibri" pitchFamily="34" charset="-122"/>
                <a:cs typeface="Calibri" pitchFamily="34" charset="-120"/>
              </a:rPr>
              <a:t>Internet-First, Airgap-Final</a:t>
            </a:r>
            <a:endParaRPr lang="en-US" sz="900" dirty="0"/>
          </a:p>
        </p:txBody>
      </p:sp>
      <p:sp>
        <p:nvSpPr>
          <p:cNvPr id="3" name="Text 1"/>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A6B8C"/>
                </a:solidFill>
                <a:latin typeface="Calibri" pitchFamily="34" charset="0"/>
                <a:ea typeface="Calibri" pitchFamily="34" charset="-122"/>
                <a:cs typeface="Calibri" pitchFamily="34" charset="-120"/>
              </a:rPr>
              <a:t>10</a:t>
            </a:r>
            <a:endParaRPr lang="en-US" sz="900" dirty="0"/>
          </a:p>
        </p:txBody>
      </p:sp>
      <p:sp>
        <p:nvSpPr>
          <p:cNvPr id="4" name="Text 2"/>
          <p:cNvSpPr/>
          <p:nvPr/>
        </p:nvSpPr>
        <p:spPr>
          <a:xfrm>
            <a:off x="548640" y="384048"/>
            <a:ext cx="11094415" cy="274320"/>
          </a:xfrm>
          <a:prstGeom prst="rect">
            <a:avLst/>
          </a:prstGeom>
          <a:noFill/>
          <a:ln/>
        </p:spPr>
        <p:txBody>
          <a:bodyPr wrap="square" lIns="0" tIns="0" rIns="0" bIns="0" rtlCol="0" anchor="ctr"/>
          <a:lstStyle/>
          <a:p>
            <a:pPr indent="0" marL="0">
              <a:buNone/>
            </a:pPr>
            <a:r>
              <a:rPr lang="en-US" sz="1200" b="1" spc="300" kern="0" dirty="0">
                <a:solidFill>
                  <a:srgbClr val="5A6B8C"/>
                </a:solidFill>
                <a:latin typeface="Calibri" pitchFamily="34" charset="0"/>
                <a:ea typeface="Calibri" pitchFamily="34" charset="-122"/>
                <a:cs typeface="Calibri" pitchFamily="34" charset="-120"/>
              </a:rPr>
              <a:t>PHASE 1–2 · CONTRACT-FIRST BUILDING AGAINST MOCKS</a:t>
            </a:r>
            <a:endParaRPr lang="en-US" sz="1200" dirty="0"/>
          </a:p>
        </p:txBody>
      </p:sp>
      <p:sp>
        <p:nvSpPr>
          <p:cNvPr id="5" name="Text 3"/>
          <p:cNvSpPr/>
          <p:nvPr/>
        </p:nvSpPr>
        <p:spPr>
          <a:xfrm>
            <a:off x="548640" y="658368"/>
            <a:ext cx="11094415" cy="621792"/>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The OpenAPI file is the center of gravity</a:t>
            </a:r>
            <a:endParaRPr lang="en-US" sz="3000" dirty="0"/>
          </a:p>
        </p:txBody>
      </p:sp>
      <p:sp>
        <p:nvSpPr>
          <p:cNvPr id="6" name="Shape 4"/>
          <p:cNvSpPr/>
          <p:nvPr/>
        </p:nvSpPr>
        <p:spPr>
          <a:xfrm>
            <a:off x="548640" y="1645920"/>
            <a:ext cx="7315200" cy="822960"/>
          </a:xfrm>
          <a:prstGeom prst="roundRect">
            <a:avLst>
              <a:gd name="adj" fmla="val 8889"/>
            </a:avLst>
          </a:prstGeom>
          <a:solidFill>
            <a:srgbClr val="EDF3FC"/>
          </a:solidFill>
          <a:ln/>
          <a:effectLst>
            <a:outerShdw sx="100000" sy="100000" kx="0" ky="0" algn="bl" rotWithShape="0" blurRad="76200" dist="12700" dir="5400000">
              <a:srgbClr val="9AA7C4">
                <a:alpha val="25000"/>
              </a:srgbClr>
            </a:outerShdw>
          </a:effectLst>
        </p:spPr>
      </p:sp>
      <p:sp>
        <p:nvSpPr>
          <p:cNvPr id="7" name="Shape 5"/>
          <p:cNvSpPr/>
          <p:nvPr/>
        </p:nvSpPr>
        <p:spPr>
          <a:xfrm>
            <a:off x="731520" y="1792224"/>
            <a:ext cx="502920" cy="502920"/>
          </a:xfrm>
          <a:prstGeom prst="ellipse">
            <a:avLst/>
          </a:prstGeom>
          <a:solidFill>
            <a:srgbClr val="1E2761"/>
          </a:solidFill>
          <a:ln/>
        </p:spPr>
      </p:sp>
      <p:pic>
        <p:nvPicPr>
          <p:cNvPr id="8" name="Image 0" descr="preencoded.png">    </p:cNvPr>
          <p:cNvPicPr>
            <a:picLocks noChangeAspect="1"/>
          </p:cNvPicPr>
          <p:nvPr/>
        </p:nvPicPr>
        <p:blipFill>
          <a:blip r:embed="rId1"/>
          <a:stretch>
            <a:fillRect/>
          </a:stretch>
        </p:blipFill>
        <p:spPr>
          <a:xfrm>
            <a:off x="862279" y="1922983"/>
            <a:ext cx="241402" cy="241402"/>
          </a:xfrm>
          <a:prstGeom prst="rect">
            <a:avLst/>
          </a:prstGeom>
        </p:spPr>
      </p:pic>
      <p:sp>
        <p:nvSpPr>
          <p:cNvPr id="9" name="Text 6"/>
          <p:cNvSpPr/>
          <p:nvPr/>
        </p:nvSpPr>
        <p:spPr>
          <a:xfrm>
            <a:off x="1389888" y="1737360"/>
            <a:ext cx="2286000" cy="658368"/>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OpenAPI spec</a:t>
            </a:r>
            <a:endParaRPr lang="en-US" sz="1300" dirty="0"/>
          </a:p>
        </p:txBody>
      </p:sp>
      <p:sp>
        <p:nvSpPr>
          <p:cNvPr id="10" name="Text 7"/>
          <p:cNvSpPr/>
          <p:nvPr/>
        </p:nvSpPr>
        <p:spPr>
          <a:xfrm>
            <a:off x="3749040" y="1719072"/>
            <a:ext cx="3931920" cy="713232"/>
          </a:xfrm>
          <a:prstGeom prst="rect">
            <a:avLst/>
          </a:prstGeom>
          <a:noFill/>
          <a:ln/>
        </p:spPr>
        <p:txBody>
          <a:bodyPr wrap="square" lIns="0" tIns="0" rIns="0" bIns="0" rtlCol="0" anchor="ctr"/>
          <a:lstStyle/>
          <a:p>
            <a:pPr indent="0" marL="0">
              <a:buNone/>
            </a:pPr>
            <a:r>
              <a:rPr lang="en-US" sz="1050" dirty="0">
                <a:solidFill>
                  <a:srgbClr val="1B2440"/>
                </a:solidFill>
                <a:latin typeface="Calibri" pitchFamily="34" charset="0"/>
                <a:ea typeface="Calibri" pitchFamily="34" charset="-122"/>
                <a:cs typeface="Calibri" pitchFamily="34" charset="-120"/>
              </a:rPr>
              <a:t>Authored/extracted inside, desensitized, egressed as the spec package's core artifact</a:t>
            </a:r>
            <a:endParaRPr lang="en-US" sz="1050" dirty="0"/>
          </a:p>
        </p:txBody>
      </p:sp>
      <p:sp>
        <p:nvSpPr>
          <p:cNvPr id="11" name="Shape 8"/>
          <p:cNvSpPr/>
          <p:nvPr/>
        </p:nvSpPr>
        <p:spPr>
          <a:xfrm>
            <a:off x="548640" y="2578608"/>
            <a:ext cx="7315200" cy="822960"/>
          </a:xfrm>
          <a:prstGeom prst="roundRect">
            <a:avLst>
              <a:gd name="adj" fmla="val 8889"/>
            </a:avLst>
          </a:prstGeom>
          <a:solidFill>
            <a:srgbClr val="EDF3FC"/>
          </a:solidFill>
          <a:ln/>
          <a:effectLst>
            <a:outerShdw sx="100000" sy="100000" kx="0" ky="0" algn="bl" rotWithShape="0" blurRad="76200" dist="12700" dir="5400000">
              <a:srgbClr val="9AA7C4">
                <a:alpha val="25000"/>
              </a:srgbClr>
            </a:outerShdw>
          </a:effectLst>
        </p:spPr>
      </p:sp>
      <p:sp>
        <p:nvSpPr>
          <p:cNvPr id="12" name="Shape 9"/>
          <p:cNvSpPr/>
          <p:nvPr/>
        </p:nvSpPr>
        <p:spPr>
          <a:xfrm>
            <a:off x="731520" y="2724912"/>
            <a:ext cx="502920" cy="502920"/>
          </a:xfrm>
          <a:prstGeom prst="ellipse">
            <a:avLst/>
          </a:prstGeom>
          <a:solidFill>
            <a:srgbClr val="1E2761"/>
          </a:solidFill>
          <a:ln/>
        </p:spPr>
      </p:sp>
      <p:pic>
        <p:nvPicPr>
          <p:cNvPr id="13" name="Image 1" descr="preencoded.png">    </p:cNvPr>
          <p:cNvPicPr>
            <a:picLocks noChangeAspect="1"/>
          </p:cNvPicPr>
          <p:nvPr/>
        </p:nvPicPr>
        <p:blipFill>
          <a:blip r:embed="rId2"/>
          <a:stretch>
            <a:fillRect/>
          </a:stretch>
        </p:blipFill>
        <p:spPr>
          <a:xfrm>
            <a:off x="862279" y="2855671"/>
            <a:ext cx="241402" cy="241402"/>
          </a:xfrm>
          <a:prstGeom prst="rect">
            <a:avLst/>
          </a:prstGeom>
        </p:spPr>
      </p:pic>
      <p:sp>
        <p:nvSpPr>
          <p:cNvPr id="14" name="Text 10"/>
          <p:cNvSpPr/>
          <p:nvPr/>
        </p:nvSpPr>
        <p:spPr>
          <a:xfrm>
            <a:off x="1389888" y="2670048"/>
            <a:ext cx="2286000" cy="658368"/>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Generated types + client</a:t>
            </a:r>
            <a:endParaRPr lang="en-US" sz="1300" dirty="0"/>
          </a:p>
        </p:txBody>
      </p:sp>
      <p:sp>
        <p:nvSpPr>
          <p:cNvPr id="15" name="Text 11"/>
          <p:cNvSpPr/>
          <p:nvPr/>
        </p:nvSpPr>
        <p:spPr>
          <a:xfrm>
            <a:off x="3749040" y="2651760"/>
            <a:ext cx="3931920" cy="713232"/>
          </a:xfrm>
          <a:prstGeom prst="rect">
            <a:avLst/>
          </a:prstGeom>
          <a:noFill/>
          <a:ln/>
        </p:spPr>
        <p:txBody>
          <a:bodyPr wrap="square" lIns="0" tIns="0" rIns="0" bIns="0" rtlCol="0" anchor="ctr"/>
          <a:lstStyle/>
          <a:p>
            <a:pPr indent="0" marL="0">
              <a:buNone/>
            </a:pPr>
            <a:r>
              <a:rPr lang="en-US" sz="1050" dirty="0">
                <a:solidFill>
                  <a:srgbClr val="1B2440"/>
                </a:solidFill>
                <a:latin typeface="Calibri" pitchFamily="34" charset="0"/>
                <a:ea typeface="Calibri" pitchFamily="34" charset="-122"/>
                <a:cs typeface="Calibri" pitchFamily="34" charset="-120"/>
              </a:rPr>
              <a:t>openapi-typescript / orval generate the TS types and the thin API client — nobody hand-writes fetch calls</a:t>
            </a:r>
            <a:endParaRPr lang="en-US" sz="1050" dirty="0"/>
          </a:p>
        </p:txBody>
      </p:sp>
      <p:sp>
        <p:nvSpPr>
          <p:cNvPr id="16" name="Shape 12"/>
          <p:cNvSpPr/>
          <p:nvPr/>
        </p:nvSpPr>
        <p:spPr>
          <a:xfrm>
            <a:off x="548640" y="3511296"/>
            <a:ext cx="7315200" cy="822960"/>
          </a:xfrm>
          <a:prstGeom prst="roundRect">
            <a:avLst>
              <a:gd name="adj" fmla="val 8889"/>
            </a:avLst>
          </a:prstGeom>
          <a:solidFill>
            <a:srgbClr val="EDF3FC"/>
          </a:solidFill>
          <a:ln/>
          <a:effectLst>
            <a:outerShdw sx="100000" sy="100000" kx="0" ky="0" algn="bl" rotWithShape="0" blurRad="76200" dist="12700" dir="5400000">
              <a:srgbClr val="9AA7C4">
                <a:alpha val="25000"/>
              </a:srgbClr>
            </a:outerShdw>
          </a:effectLst>
        </p:spPr>
      </p:sp>
      <p:sp>
        <p:nvSpPr>
          <p:cNvPr id="17" name="Shape 13"/>
          <p:cNvSpPr/>
          <p:nvPr/>
        </p:nvSpPr>
        <p:spPr>
          <a:xfrm>
            <a:off x="731520" y="3657600"/>
            <a:ext cx="502920" cy="502920"/>
          </a:xfrm>
          <a:prstGeom prst="ellipse">
            <a:avLst/>
          </a:prstGeom>
          <a:solidFill>
            <a:srgbClr val="1E2761"/>
          </a:solidFill>
          <a:ln/>
        </p:spPr>
      </p:sp>
      <p:pic>
        <p:nvPicPr>
          <p:cNvPr id="18" name="Image 2" descr="preencoded.png">    </p:cNvPr>
          <p:cNvPicPr>
            <a:picLocks noChangeAspect="1"/>
          </p:cNvPicPr>
          <p:nvPr/>
        </p:nvPicPr>
        <p:blipFill>
          <a:blip r:embed="rId3"/>
          <a:stretch>
            <a:fillRect/>
          </a:stretch>
        </p:blipFill>
        <p:spPr>
          <a:xfrm>
            <a:off x="862279" y="3788359"/>
            <a:ext cx="241402" cy="241402"/>
          </a:xfrm>
          <a:prstGeom prst="rect">
            <a:avLst/>
          </a:prstGeom>
        </p:spPr>
      </p:pic>
      <p:sp>
        <p:nvSpPr>
          <p:cNvPr id="19" name="Text 14"/>
          <p:cNvSpPr/>
          <p:nvPr/>
        </p:nvSpPr>
        <p:spPr>
          <a:xfrm>
            <a:off x="1389888" y="3602736"/>
            <a:ext cx="2286000" cy="658368"/>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MSW mock layer</a:t>
            </a:r>
            <a:endParaRPr lang="en-US" sz="1300" dirty="0"/>
          </a:p>
        </p:txBody>
      </p:sp>
      <p:sp>
        <p:nvSpPr>
          <p:cNvPr id="20" name="Text 15"/>
          <p:cNvSpPr/>
          <p:nvPr/>
        </p:nvSpPr>
        <p:spPr>
          <a:xfrm>
            <a:off x="3749040" y="3584448"/>
            <a:ext cx="3931920" cy="713232"/>
          </a:xfrm>
          <a:prstGeom prst="rect">
            <a:avLst/>
          </a:prstGeom>
          <a:noFill/>
          <a:ln/>
        </p:spPr>
        <p:txBody>
          <a:bodyPr wrap="square" lIns="0" tIns="0" rIns="0" bIns="0" rtlCol="0" anchor="ctr"/>
          <a:lstStyle/>
          <a:p>
            <a:pPr indent="0" marL="0">
              <a:buNone/>
            </a:pPr>
            <a:r>
              <a:rPr lang="en-US" sz="1050" dirty="0">
                <a:solidFill>
                  <a:srgbClr val="1B2440"/>
                </a:solidFill>
                <a:latin typeface="Calibri" pitchFamily="34" charset="0"/>
                <a:ea typeface="Calibri" pitchFamily="34" charset="-122"/>
                <a:cs typeface="Calibri" pitchFamily="34" charset="-120"/>
              </a:rPr>
              <a:t>Handlers generated from the same spec + synthetic fixture factories (faker with fixed seeds). Runs in browser AND in CI (node)</a:t>
            </a:r>
            <a:endParaRPr lang="en-US" sz="1050" dirty="0"/>
          </a:p>
        </p:txBody>
      </p:sp>
      <p:sp>
        <p:nvSpPr>
          <p:cNvPr id="21" name="Shape 16"/>
          <p:cNvSpPr/>
          <p:nvPr/>
        </p:nvSpPr>
        <p:spPr>
          <a:xfrm>
            <a:off x="548640" y="4443984"/>
            <a:ext cx="7315200" cy="822960"/>
          </a:xfrm>
          <a:prstGeom prst="roundRect">
            <a:avLst>
              <a:gd name="adj" fmla="val 8889"/>
            </a:avLst>
          </a:prstGeom>
          <a:solidFill>
            <a:srgbClr val="EDF3FC"/>
          </a:solidFill>
          <a:ln/>
          <a:effectLst>
            <a:outerShdw sx="100000" sy="100000" kx="0" ky="0" algn="bl" rotWithShape="0" blurRad="76200" dist="12700" dir="5400000">
              <a:srgbClr val="9AA7C4">
                <a:alpha val="25000"/>
              </a:srgbClr>
            </a:outerShdw>
          </a:effectLst>
        </p:spPr>
      </p:sp>
      <p:sp>
        <p:nvSpPr>
          <p:cNvPr id="22" name="Shape 17"/>
          <p:cNvSpPr/>
          <p:nvPr/>
        </p:nvSpPr>
        <p:spPr>
          <a:xfrm>
            <a:off x="731520" y="4590288"/>
            <a:ext cx="502920" cy="502920"/>
          </a:xfrm>
          <a:prstGeom prst="ellipse">
            <a:avLst/>
          </a:prstGeom>
          <a:solidFill>
            <a:srgbClr val="1E2761"/>
          </a:solidFill>
          <a:ln/>
        </p:spPr>
      </p:sp>
      <p:pic>
        <p:nvPicPr>
          <p:cNvPr id="23" name="Image 3" descr="preencoded.png">    </p:cNvPr>
          <p:cNvPicPr>
            <a:picLocks noChangeAspect="1"/>
          </p:cNvPicPr>
          <p:nvPr/>
        </p:nvPicPr>
        <p:blipFill>
          <a:blip r:embed="rId4"/>
          <a:stretch>
            <a:fillRect/>
          </a:stretch>
        </p:blipFill>
        <p:spPr>
          <a:xfrm>
            <a:off x="862279" y="4721047"/>
            <a:ext cx="241402" cy="241402"/>
          </a:xfrm>
          <a:prstGeom prst="rect">
            <a:avLst/>
          </a:prstGeom>
        </p:spPr>
      </p:pic>
      <p:sp>
        <p:nvSpPr>
          <p:cNvPr id="24" name="Text 18"/>
          <p:cNvSpPr/>
          <p:nvPr/>
        </p:nvSpPr>
        <p:spPr>
          <a:xfrm>
            <a:off x="1389888" y="4535424"/>
            <a:ext cx="2286000" cy="658368"/>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Playwright E2E</a:t>
            </a:r>
            <a:endParaRPr lang="en-US" sz="1300" dirty="0"/>
          </a:p>
        </p:txBody>
      </p:sp>
      <p:sp>
        <p:nvSpPr>
          <p:cNvPr id="25" name="Text 19"/>
          <p:cNvSpPr/>
          <p:nvPr/>
        </p:nvSpPr>
        <p:spPr>
          <a:xfrm>
            <a:off x="3749040" y="4517136"/>
            <a:ext cx="3931920" cy="713232"/>
          </a:xfrm>
          <a:prstGeom prst="rect">
            <a:avLst/>
          </a:prstGeom>
          <a:noFill/>
          <a:ln/>
        </p:spPr>
        <p:txBody>
          <a:bodyPr wrap="square" lIns="0" tIns="0" rIns="0" bIns="0" rtlCol="0" anchor="ctr"/>
          <a:lstStyle/>
          <a:p>
            <a:pPr indent="0" marL="0">
              <a:buNone/>
            </a:pPr>
            <a:r>
              <a:rPr lang="en-US" sz="1050" dirty="0">
                <a:solidFill>
                  <a:srgbClr val="1B2440"/>
                </a:solidFill>
                <a:latin typeface="Calibri" pitchFamily="34" charset="0"/>
                <a:ea typeface="Calibri" pitchFamily="34" charset="-122"/>
                <a:cs typeface="Calibri" pitchFamily="34" charset="-120"/>
              </a:rPr>
              <a:t>Full user journeys against the MSW-backed app: zero backend, deterministic data, failure-mode tests (500s, timeouts, empty states) — cheap outside, impossible inside</a:t>
            </a:r>
            <a:endParaRPr lang="en-US" sz="1050" dirty="0"/>
          </a:p>
        </p:txBody>
      </p:sp>
      <p:sp>
        <p:nvSpPr>
          <p:cNvPr id="26" name="Shape 20"/>
          <p:cNvSpPr/>
          <p:nvPr/>
        </p:nvSpPr>
        <p:spPr>
          <a:xfrm>
            <a:off x="8138160" y="1645920"/>
            <a:ext cx="3504895" cy="3621024"/>
          </a:xfrm>
          <a:prstGeom prst="roundRect">
            <a:avLst>
              <a:gd name="adj" fmla="val 2087"/>
            </a:avLst>
          </a:prstGeom>
          <a:solidFill>
            <a:srgbClr val="EAF4EF"/>
          </a:solidFill>
          <a:ln/>
          <a:effectLst>
            <a:outerShdw sx="100000" sy="100000" kx="0" ky="0" algn="bl" rotWithShape="0" blurRad="76200" dist="12700" dir="5400000">
              <a:srgbClr val="9AA7C4">
                <a:alpha val="25000"/>
              </a:srgbClr>
            </a:outerShdw>
          </a:effectLst>
        </p:spPr>
      </p:sp>
      <p:sp>
        <p:nvSpPr>
          <p:cNvPr id="27" name="Shape 21"/>
          <p:cNvSpPr/>
          <p:nvPr/>
        </p:nvSpPr>
        <p:spPr>
          <a:xfrm>
            <a:off x="8366760" y="1847088"/>
            <a:ext cx="502920" cy="502920"/>
          </a:xfrm>
          <a:prstGeom prst="ellipse">
            <a:avLst/>
          </a:prstGeom>
          <a:solidFill>
            <a:srgbClr val="2E7D5B"/>
          </a:solidFill>
          <a:ln/>
        </p:spPr>
      </p:sp>
      <p:pic>
        <p:nvPicPr>
          <p:cNvPr id="28" name="Image 4" descr="preencoded.png">    </p:cNvPr>
          <p:cNvPicPr>
            <a:picLocks noChangeAspect="1"/>
          </p:cNvPicPr>
          <p:nvPr/>
        </p:nvPicPr>
        <p:blipFill>
          <a:blip r:embed="rId5"/>
          <a:stretch>
            <a:fillRect/>
          </a:stretch>
        </p:blipFill>
        <p:spPr>
          <a:xfrm>
            <a:off x="8497519" y="1977847"/>
            <a:ext cx="241402" cy="241402"/>
          </a:xfrm>
          <a:prstGeom prst="rect">
            <a:avLst/>
          </a:prstGeom>
        </p:spPr>
      </p:pic>
      <p:sp>
        <p:nvSpPr>
          <p:cNvPr id="29" name="Text 22"/>
          <p:cNvSpPr/>
          <p:nvPr/>
        </p:nvSpPr>
        <p:spPr>
          <a:xfrm>
            <a:off x="8979408" y="1920240"/>
            <a:ext cx="2499055" cy="548640"/>
          </a:xfrm>
          <a:prstGeom prst="rect">
            <a:avLst/>
          </a:prstGeom>
          <a:noFill/>
          <a:ln/>
        </p:spPr>
        <p:txBody>
          <a:bodyPr wrap="square" lIns="0" tIns="0" rIns="0" bIns="0" rtlCol="0" anchor="ctr"/>
          <a:lstStyle/>
          <a:p>
            <a:pPr indent="0" marL="0">
              <a:buNone/>
            </a:pPr>
            <a:r>
              <a:rPr lang="en-US" sz="1350" b="1" dirty="0">
                <a:solidFill>
                  <a:srgbClr val="2E7D5B"/>
                </a:solidFill>
                <a:latin typeface="Calibri" pitchFamily="34" charset="0"/>
                <a:ea typeface="Calibri" pitchFamily="34" charset="-122"/>
                <a:cs typeface="Calibri" pitchFamily="34" charset="-120"/>
              </a:rPr>
              <a:t>Definition of “done outside”</a:t>
            </a:r>
            <a:endParaRPr lang="en-US" sz="1350" dirty="0"/>
          </a:p>
        </p:txBody>
      </p:sp>
      <p:sp>
        <p:nvSpPr>
          <p:cNvPr id="30" name="Text 23"/>
          <p:cNvSpPr/>
          <p:nvPr/>
        </p:nvSpPr>
        <p:spPr>
          <a:xfrm>
            <a:off x="8366760" y="2514600"/>
            <a:ext cx="3047695" cy="2651760"/>
          </a:xfrm>
          <a:prstGeom prst="rect">
            <a:avLst/>
          </a:prstGeom>
          <a:noFill/>
          <a:ln/>
        </p:spPr>
        <p:txBody>
          <a:bodyPr wrap="square" lIns="0" tIns="0" rIns="0" bIns="0" rtlCol="0" anchor="ctr"/>
          <a:lstStyle/>
          <a:p>
            <a:pPr marL="342900" indent="-342900">
              <a:spcAft>
                <a:spcPts val="800"/>
              </a:spcAft>
              <a:buSzPct val="100000"/>
              <a:buChar char="•"/>
            </a:pPr>
            <a:r>
              <a:rPr lang="en-US" sz="1150" dirty="0">
                <a:solidFill>
                  <a:srgbClr val="1B2440"/>
                </a:solidFill>
                <a:latin typeface="Calibri" pitchFamily="34" charset="0"/>
                <a:ea typeface="Calibri" pitchFamily="34" charset="-122"/>
                <a:cs typeface="Calibri" pitchFamily="34" charset="-120"/>
              </a:rPr>
              <a:t>App fully runnable with zero backend</a:t>
            </a:r>
            <a:endParaRPr lang="en-US" sz="1150" dirty="0"/>
          </a:p>
          <a:p>
            <a:pPr marL="342900" indent="-342900">
              <a:spcAft>
                <a:spcPts val="800"/>
              </a:spcAft>
              <a:buSzPct val="100000"/>
              <a:buChar char="•"/>
            </a:pPr>
            <a:r>
              <a:rPr lang="en-US" sz="1150" dirty="0">
                <a:solidFill>
                  <a:srgbClr val="1B2440"/>
                </a:solidFill>
                <a:latin typeface="Calibri" pitchFamily="34" charset="0"/>
                <a:ea typeface="Calibri" pitchFamily="34" charset="-122"/>
                <a:cs typeface="Calibri" pitchFamily="34" charset="-120"/>
              </a:rPr>
              <a:t>Playwright green on every journey</a:t>
            </a:r>
            <a:endParaRPr lang="en-US" sz="1150" dirty="0"/>
          </a:p>
          <a:p>
            <a:pPr marL="342900" indent="-342900">
              <a:spcAft>
                <a:spcPts val="800"/>
              </a:spcAft>
              <a:buSzPct val="100000"/>
              <a:buChar char="•"/>
            </a:pPr>
            <a:r>
              <a:rPr lang="en-US" sz="1150" dirty="0">
                <a:solidFill>
                  <a:srgbClr val="1B2440"/>
                </a:solidFill>
                <a:latin typeface="Calibri" pitchFamily="34" charset="0"/>
                <a:ea typeface="Calibri" pitchFamily="34" charset="-122"/>
                <a:cs typeface="Calibri" pitchFamily="34" charset="-120"/>
              </a:rPr>
              <a:t>Contract tests: mocks validated against the OpenAPI spec — mock drift fails CI</a:t>
            </a:r>
            <a:endParaRPr lang="en-US" sz="1150" dirty="0"/>
          </a:p>
          <a:p>
            <a:pPr marL="342900" indent="-342900">
              <a:spcAft>
                <a:spcPts val="800"/>
              </a:spcAft>
              <a:buSzPct val="100000"/>
              <a:buChar char="•"/>
            </a:pPr>
            <a:r>
              <a:rPr lang="en-US" sz="1150" dirty="0">
                <a:solidFill>
                  <a:srgbClr val="1B2440"/>
                </a:solidFill>
                <a:latin typeface="Calibri" pitchFamily="34" charset="0"/>
                <a:ea typeface="Calibri" pitchFamily="34" charset="-122"/>
                <a:cs typeface="Calibri" pitchFamily="34" charset="-120"/>
              </a:rPr>
              <a:t>Same suites re-run INSIDE against the real backend as the integration check</a:t>
            </a:r>
            <a:endParaRPr lang="en-US" sz="1150" dirty="0"/>
          </a:p>
        </p:txBody>
      </p:sp>
      <p:sp>
        <p:nvSpPr>
          <p:cNvPr id="31" name="Shape 24"/>
          <p:cNvSpPr/>
          <p:nvPr/>
        </p:nvSpPr>
        <p:spPr>
          <a:xfrm>
            <a:off x="548640" y="5440680"/>
            <a:ext cx="11094415" cy="868680"/>
          </a:xfrm>
          <a:prstGeom prst="roundRect">
            <a:avLst>
              <a:gd name="adj" fmla="val 8421"/>
            </a:avLst>
          </a:prstGeom>
          <a:solidFill>
            <a:srgbClr val="EDF3FC"/>
          </a:solidFill>
          <a:ln/>
          <a:effectLst>
            <a:outerShdw sx="100000" sy="100000" kx="0" ky="0" algn="bl" rotWithShape="0" blurRad="76200" dist="12700" dir="5400000">
              <a:srgbClr val="9AA7C4">
                <a:alpha val="25000"/>
              </a:srgbClr>
            </a:outerShdw>
          </a:effectLst>
        </p:spPr>
      </p:sp>
      <p:sp>
        <p:nvSpPr>
          <p:cNvPr id="32" name="Text 25"/>
          <p:cNvSpPr/>
          <p:nvPr/>
        </p:nvSpPr>
        <p:spPr>
          <a:xfrm>
            <a:off x="822960" y="5559552"/>
            <a:ext cx="10545775" cy="64008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Contract change protocol: </a:t>
            </a:r>
            <a:pPr indent="0" marL="0">
              <a:buNone/>
            </a:pPr>
            <a:r>
              <a:rPr lang="en-US" sz="1250" dirty="0">
                <a:solidFill>
                  <a:srgbClr val="1B2440"/>
                </a:solidFill>
                <a:latin typeface="Calibri" pitchFamily="34" charset="0"/>
                <a:ea typeface="Calibri" pitchFamily="34" charset="-122"/>
                <a:cs typeface="Calibri" pitchFamily="34" charset="-120"/>
              </a:rPr>
              <a:t>backend contract changes inside → re-extract the OpenAPI diff → egress the delta (Tier 1, same-day) → regenerate types &amp; mocks outside. The spec version is pinned in both repos; a version mismatch fails both CIs loudly.</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algn="l" indent="0" marL="0">
              <a:buNone/>
            </a:pPr>
            <a:r>
              <a:rPr lang="en-US" sz="900" dirty="0">
                <a:solidFill>
                  <a:srgbClr val="5A6B8C"/>
                </a:solidFill>
                <a:latin typeface="Calibri" pitchFamily="34" charset="0"/>
                <a:ea typeface="Calibri" pitchFamily="34" charset="-122"/>
                <a:cs typeface="Calibri" pitchFamily="34" charset="-120"/>
              </a:rPr>
              <a:t>Internet-First, Airgap-Final</a:t>
            </a:r>
            <a:endParaRPr lang="en-US" sz="900" dirty="0"/>
          </a:p>
        </p:txBody>
      </p:sp>
      <p:sp>
        <p:nvSpPr>
          <p:cNvPr id="3" name="Text 1"/>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A6B8C"/>
                </a:solidFill>
                <a:latin typeface="Calibri" pitchFamily="34" charset="0"/>
                <a:ea typeface="Calibri" pitchFamily="34" charset="-122"/>
                <a:cs typeface="Calibri" pitchFamily="34" charset="-120"/>
              </a:rPr>
              <a:t>11</a:t>
            </a:r>
            <a:endParaRPr lang="en-US" sz="900" dirty="0"/>
          </a:p>
        </p:txBody>
      </p:sp>
      <p:sp>
        <p:nvSpPr>
          <p:cNvPr id="4" name="Text 2"/>
          <p:cNvSpPr/>
          <p:nvPr/>
        </p:nvSpPr>
        <p:spPr>
          <a:xfrm>
            <a:off x="548640" y="384048"/>
            <a:ext cx="11094415" cy="274320"/>
          </a:xfrm>
          <a:prstGeom prst="rect">
            <a:avLst/>
          </a:prstGeom>
          <a:noFill/>
          <a:ln/>
        </p:spPr>
        <p:txBody>
          <a:bodyPr wrap="square" lIns="0" tIns="0" rIns="0" bIns="0" rtlCol="0" anchor="ctr"/>
          <a:lstStyle/>
          <a:p>
            <a:pPr indent="0" marL="0">
              <a:buNone/>
            </a:pPr>
            <a:r>
              <a:rPr lang="en-US" sz="1200" b="1" spc="300" kern="0" dirty="0">
                <a:solidFill>
                  <a:srgbClr val="5A6B8C"/>
                </a:solidFill>
                <a:latin typeface="Calibri" pitchFamily="34" charset="0"/>
                <a:ea typeface="Calibri" pitchFamily="34" charset="-122"/>
                <a:cs typeface="Calibri" pitchFamily="34" charset="-120"/>
              </a:rPr>
              <a:t>PHASE 1–2 · ENVIRONMENT DECOUPLING</a:t>
            </a:r>
            <a:endParaRPr lang="en-US" sz="1200" dirty="0"/>
          </a:p>
        </p:txBody>
      </p:sp>
      <p:sp>
        <p:nvSpPr>
          <p:cNvPr id="5" name="Text 3"/>
          <p:cNvSpPr/>
          <p:nvPr/>
        </p:nvSpPr>
        <p:spPr>
          <a:xfrm>
            <a:off x="548640" y="658368"/>
            <a:ext cx="11094415" cy="621792"/>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Integration inside = configuration, not debugging</a:t>
            </a:r>
            <a:endParaRPr lang="en-US" sz="3000" dirty="0"/>
          </a:p>
        </p:txBody>
      </p:sp>
      <p:sp>
        <p:nvSpPr>
          <p:cNvPr id="6" name="Shape 4"/>
          <p:cNvSpPr/>
          <p:nvPr/>
        </p:nvSpPr>
        <p:spPr>
          <a:xfrm>
            <a:off x="548640" y="1691640"/>
            <a:ext cx="11094415" cy="1042416"/>
          </a:xfrm>
          <a:prstGeom prst="roundRect">
            <a:avLst>
              <a:gd name="adj" fmla="val 7018"/>
            </a:avLst>
          </a:prstGeom>
          <a:solidFill>
            <a:srgbClr val="EAF4EF"/>
          </a:solidFill>
          <a:ln/>
          <a:effectLst>
            <a:outerShdw sx="100000" sy="100000" kx="0" ky="0" algn="bl" rotWithShape="0" blurRad="76200" dist="12700" dir="5400000">
              <a:srgbClr val="9AA7C4">
                <a:alpha val="25000"/>
              </a:srgbClr>
            </a:outerShdw>
          </a:effectLst>
        </p:spPr>
      </p:sp>
      <p:sp>
        <p:nvSpPr>
          <p:cNvPr id="7" name="Shape 5"/>
          <p:cNvSpPr/>
          <p:nvPr/>
        </p:nvSpPr>
        <p:spPr>
          <a:xfrm>
            <a:off x="749808" y="1947672"/>
            <a:ext cx="530352" cy="530352"/>
          </a:xfrm>
          <a:prstGeom prst="ellipse">
            <a:avLst/>
          </a:prstGeom>
          <a:solidFill>
            <a:srgbClr val="2E7D5B"/>
          </a:solidFill>
          <a:ln/>
        </p:spPr>
      </p:sp>
      <p:pic>
        <p:nvPicPr>
          <p:cNvPr id="8" name="Image 0" descr="preencoded.png">    </p:cNvPr>
          <p:cNvPicPr>
            <a:picLocks noChangeAspect="1"/>
          </p:cNvPicPr>
          <p:nvPr/>
        </p:nvPicPr>
        <p:blipFill>
          <a:blip r:embed="rId1"/>
          <a:stretch>
            <a:fillRect/>
          </a:stretch>
        </p:blipFill>
        <p:spPr>
          <a:xfrm>
            <a:off x="887700" y="2085564"/>
            <a:ext cx="254569" cy="254569"/>
          </a:xfrm>
          <a:prstGeom prst="rect">
            <a:avLst/>
          </a:prstGeom>
        </p:spPr>
      </p:pic>
      <p:sp>
        <p:nvSpPr>
          <p:cNvPr id="9" name="Text 6"/>
          <p:cNvSpPr/>
          <p:nvPr/>
        </p:nvSpPr>
        <p:spPr>
          <a:xfrm>
            <a:off x="1463040" y="1801368"/>
            <a:ext cx="9997135" cy="292608"/>
          </a:xfrm>
          <a:prstGeom prst="rect">
            <a:avLst/>
          </a:prstGeom>
          <a:noFill/>
          <a:ln/>
        </p:spPr>
        <p:txBody>
          <a:bodyPr wrap="square" lIns="0" tIns="0" rIns="0" bIns="0" rtlCol="0" anchor="ctr"/>
          <a:lstStyle/>
          <a:p>
            <a:pPr indent="0" marL="0">
              <a:buNone/>
            </a:pPr>
            <a:r>
              <a:rPr lang="en-US" sz="1300" b="1" spc="100" kern="0" dirty="0">
                <a:solidFill>
                  <a:srgbClr val="1E2761"/>
                </a:solidFill>
                <a:latin typeface="Calibri" pitchFamily="34" charset="0"/>
                <a:ea typeface="Calibri" pitchFamily="34" charset="-122"/>
                <a:cs typeface="Calibri" pitchFamily="34" charset="-120"/>
              </a:rPr>
              <a:t>FEATURE CORE  (identical in both worlds)</a:t>
            </a:r>
            <a:endParaRPr lang="en-US" sz="1300" dirty="0"/>
          </a:p>
        </p:txBody>
      </p:sp>
      <p:sp>
        <p:nvSpPr>
          <p:cNvPr id="10" name="Text 7"/>
          <p:cNvSpPr/>
          <p:nvPr/>
        </p:nvSpPr>
        <p:spPr>
          <a:xfrm>
            <a:off x="1463040" y="2093976"/>
            <a:ext cx="9905695" cy="603504"/>
          </a:xfrm>
          <a:prstGeom prst="rect">
            <a:avLst/>
          </a:prstGeom>
          <a:noFill/>
          <a:ln/>
        </p:spPr>
        <p:txBody>
          <a:bodyPr wrap="square" lIns="0" tIns="0" rIns="0" bIns="0" rtlCol="0" anchor="ctr"/>
          <a:lstStyle/>
          <a:p>
            <a:pPr indent="0" marL="0">
              <a:buNone/>
            </a:pPr>
            <a:r>
              <a:rPr lang="en-US" sz="1150" dirty="0">
                <a:solidFill>
                  <a:srgbClr val="1B2440"/>
                </a:solidFill>
                <a:latin typeface="Calibri" pitchFamily="34" charset="0"/>
                <a:ea typeface="Calibri" pitchFamily="34" charset="-122"/>
                <a:cs typeface="Calibri" pitchFamily="34" charset="-120"/>
              </a:rPr>
              <a:t>Components · hooks · state machines · schema-driven validation engine · logic-pack consumer. Imports ONLY the API-client interface and tokens — never fetch/axios, never window.location, never env vars.</a:t>
            </a:r>
            <a:endParaRPr lang="en-US" sz="1150" dirty="0"/>
          </a:p>
        </p:txBody>
      </p:sp>
      <p:sp>
        <p:nvSpPr>
          <p:cNvPr id="11" name="Shape 8"/>
          <p:cNvSpPr/>
          <p:nvPr/>
        </p:nvSpPr>
        <p:spPr>
          <a:xfrm>
            <a:off x="548640" y="2862072"/>
            <a:ext cx="11094415" cy="1042416"/>
          </a:xfrm>
          <a:prstGeom prst="roundRect">
            <a:avLst>
              <a:gd name="adj" fmla="val 7018"/>
            </a:avLst>
          </a:prstGeom>
          <a:solidFill>
            <a:srgbClr val="EDF3FC"/>
          </a:solidFill>
          <a:ln/>
          <a:effectLst>
            <a:outerShdw sx="100000" sy="100000" kx="0" ky="0" algn="bl" rotWithShape="0" blurRad="76200" dist="12700" dir="5400000">
              <a:srgbClr val="9AA7C4">
                <a:alpha val="25000"/>
              </a:srgbClr>
            </a:outerShdw>
          </a:effectLst>
        </p:spPr>
      </p:sp>
      <p:sp>
        <p:nvSpPr>
          <p:cNvPr id="12" name="Shape 9"/>
          <p:cNvSpPr/>
          <p:nvPr/>
        </p:nvSpPr>
        <p:spPr>
          <a:xfrm>
            <a:off x="749808" y="3118104"/>
            <a:ext cx="530352" cy="530352"/>
          </a:xfrm>
          <a:prstGeom prst="ellipse">
            <a:avLst/>
          </a:prstGeom>
          <a:solidFill>
            <a:srgbClr val="1E2761"/>
          </a:solidFill>
          <a:ln/>
        </p:spPr>
      </p:sp>
      <p:pic>
        <p:nvPicPr>
          <p:cNvPr id="13" name="Image 1" descr="preencoded.png">    </p:cNvPr>
          <p:cNvPicPr>
            <a:picLocks noChangeAspect="1"/>
          </p:cNvPicPr>
          <p:nvPr/>
        </p:nvPicPr>
        <p:blipFill>
          <a:blip r:embed="rId2"/>
          <a:stretch>
            <a:fillRect/>
          </a:stretch>
        </p:blipFill>
        <p:spPr>
          <a:xfrm>
            <a:off x="887700" y="3255996"/>
            <a:ext cx="254569" cy="254569"/>
          </a:xfrm>
          <a:prstGeom prst="rect">
            <a:avLst/>
          </a:prstGeom>
        </p:spPr>
      </p:pic>
      <p:sp>
        <p:nvSpPr>
          <p:cNvPr id="14" name="Text 10"/>
          <p:cNvSpPr/>
          <p:nvPr/>
        </p:nvSpPr>
        <p:spPr>
          <a:xfrm>
            <a:off x="1463040" y="2971800"/>
            <a:ext cx="9997135" cy="292608"/>
          </a:xfrm>
          <a:prstGeom prst="rect">
            <a:avLst/>
          </a:prstGeom>
          <a:noFill/>
          <a:ln/>
        </p:spPr>
        <p:txBody>
          <a:bodyPr wrap="square" lIns="0" tIns="0" rIns="0" bIns="0" rtlCol="0" anchor="ctr"/>
          <a:lstStyle/>
          <a:p>
            <a:pPr indent="0" marL="0">
              <a:buNone/>
            </a:pPr>
            <a:r>
              <a:rPr lang="en-US" sz="1300" b="1" spc="100" kern="0" dirty="0">
                <a:solidFill>
                  <a:srgbClr val="1E2761"/>
                </a:solidFill>
                <a:latin typeface="Calibri" pitchFamily="34" charset="0"/>
                <a:ea typeface="Calibri" pitchFamily="34" charset="-122"/>
                <a:cs typeface="Calibri" pitchFamily="34" charset="-120"/>
              </a:rPr>
              <a:t>THIN API CLIENT  (identical interface, swappable transport)</a:t>
            </a:r>
            <a:endParaRPr lang="en-US" sz="1300" dirty="0"/>
          </a:p>
        </p:txBody>
      </p:sp>
      <p:sp>
        <p:nvSpPr>
          <p:cNvPr id="15" name="Text 11"/>
          <p:cNvSpPr/>
          <p:nvPr/>
        </p:nvSpPr>
        <p:spPr>
          <a:xfrm>
            <a:off x="1463040" y="3264408"/>
            <a:ext cx="9905695" cy="603504"/>
          </a:xfrm>
          <a:prstGeom prst="rect">
            <a:avLst/>
          </a:prstGeom>
          <a:noFill/>
          <a:ln/>
        </p:spPr>
        <p:txBody>
          <a:bodyPr wrap="square" lIns="0" tIns="0" rIns="0" bIns="0" rtlCol="0" anchor="ctr"/>
          <a:lstStyle/>
          <a:p>
            <a:pPr indent="0" marL="0">
              <a:buNone/>
            </a:pPr>
            <a:r>
              <a:rPr lang="en-US" sz="1150" dirty="0">
                <a:solidFill>
                  <a:srgbClr val="1B2440"/>
                </a:solidFill>
                <a:latin typeface="Calibri" pitchFamily="34" charset="0"/>
                <a:ea typeface="Calibri" pitchFamily="34" charset="-122"/>
                <a:cs typeface="Calibri" pitchFamily="34" charset="-120"/>
              </a:rPr>
              <a:t>Generated from OpenAPI. All I/O passes through it: base URL, auth header injection, error normalization, retry. MSW intercepts it outside; the real gateway serves it inside. One file changes behavior — zero feature code.</a:t>
            </a:r>
            <a:endParaRPr lang="en-US" sz="1150" dirty="0"/>
          </a:p>
        </p:txBody>
      </p:sp>
      <p:sp>
        <p:nvSpPr>
          <p:cNvPr id="16" name="Shape 12"/>
          <p:cNvSpPr/>
          <p:nvPr/>
        </p:nvSpPr>
        <p:spPr>
          <a:xfrm>
            <a:off x="548640" y="4032504"/>
            <a:ext cx="11094415" cy="1042416"/>
          </a:xfrm>
          <a:prstGeom prst="roundRect">
            <a:avLst>
              <a:gd name="adj" fmla="val 7018"/>
            </a:avLst>
          </a:prstGeom>
          <a:solidFill>
            <a:srgbClr val="EDF3FC"/>
          </a:solidFill>
          <a:ln/>
          <a:effectLst>
            <a:outerShdw sx="100000" sy="100000" kx="0" ky="0" algn="bl" rotWithShape="0" blurRad="76200" dist="12700" dir="5400000">
              <a:srgbClr val="9AA7C4">
                <a:alpha val="25000"/>
              </a:srgbClr>
            </a:outerShdw>
          </a:effectLst>
        </p:spPr>
      </p:sp>
      <p:sp>
        <p:nvSpPr>
          <p:cNvPr id="17" name="Shape 13"/>
          <p:cNvSpPr/>
          <p:nvPr/>
        </p:nvSpPr>
        <p:spPr>
          <a:xfrm>
            <a:off x="749808" y="4288536"/>
            <a:ext cx="530352" cy="530352"/>
          </a:xfrm>
          <a:prstGeom prst="ellipse">
            <a:avLst/>
          </a:prstGeom>
          <a:solidFill>
            <a:srgbClr val="1E2761"/>
          </a:solidFill>
          <a:ln/>
        </p:spPr>
      </p:sp>
      <p:pic>
        <p:nvPicPr>
          <p:cNvPr id="18" name="Image 2" descr="preencoded.png">    </p:cNvPr>
          <p:cNvPicPr>
            <a:picLocks noChangeAspect="1"/>
          </p:cNvPicPr>
          <p:nvPr/>
        </p:nvPicPr>
        <p:blipFill>
          <a:blip r:embed="rId3"/>
          <a:stretch>
            <a:fillRect/>
          </a:stretch>
        </p:blipFill>
        <p:spPr>
          <a:xfrm>
            <a:off x="887700" y="4426428"/>
            <a:ext cx="254569" cy="254569"/>
          </a:xfrm>
          <a:prstGeom prst="rect">
            <a:avLst/>
          </a:prstGeom>
        </p:spPr>
      </p:pic>
      <p:sp>
        <p:nvSpPr>
          <p:cNvPr id="19" name="Text 14"/>
          <p:cNvSpPr/>
          <p:nvPr/>
        </p:nvSpPr>
        <p:spPr>
          <a:xfrm>
            <a:off x="1463040" y="4142232"/>
            <a:ext cx="9997135" cy="292608"/>
          </a:xfrm>
          <a:prstGeom prst="rect">
            <a:avLst/>
          </a:prstGeom>
          <a:noFill/>
          <a:ln/>
        </p:spPr>
        <p:txBody>
          <a:bodyPr wrap="square" lIns="0" tIns="0" rIns="0" bIns="0" rtlCol="0" anchor="ctr"/>
          <a:lstStyle/>
          <a:p>
            <a:pPr indent="0" marL="0">
              <a:buNone/>
            </a:pPr>
            <a:r>
              <a:rPr lang="en-US" sz="1300" b="1" spc="100" kern="0" dirty="0">
                <a:solidFill>
                  <a:srgbClr val="1E2761"/>
                </a:solidFill>
                <a:latin typeface="Calibri" pitchFamily="34" charset="0"/>
                <a:ea typeface="Calibri" pitchFamily="34" charset="-122"/>
                <a:cs typeface="Calibri" pitchFamily="34" charset="-120"/>
              </a:rPr>
              <a:t>ENVIRONMENT BINDING  (differs per world, injected at deploy)</a:t>
            </a:r>
            <a:endParaRPr lang="en-US" sz="1300" dirty="0"/>
          </a:p>
        </p:txBody>
      </p:sp>
      <p:sp>
        <p:nvSpPr>
          <p:cNvPr id="20" name="Text 15"/>
          <p:cNvSpPr/>
          <p:nvPr/>
        </p:nvSpPr>
        <p:spPr>
          <a:xfrm>
            <a:off x="1463040" y="4434840"/>
            <a:ext cx="9905695" cy="603504"/>
          </a:xfrm>
          <a:prstGeom prst="rect">
            <a:avLst/>
          </a:prstGeom>
          <a:noFill/>
          <a:ln/>
        </p:spPr>
        <p:txBody>
          <a:bodyPr wrap="square" lIns="0" tIns="0" rIns="0" bIns="0" rtlCol="0" anchor="ctr"/>
          <a:lstStyle/>
          <a:p>
            <a:pPr indent="0" marL="0">
              <a:buNone/>
            </a:pPr>
            <a:r>
              <a:rPr lang="en-US" sz="1150" dirty="0">
                <a:solidFill>
                  <a:srgbClr val="1B2440"/>
                </a:solidFill>
                <a:latin typeface="Calibri" pitchFamily="34" charset="0"/>
                <a:ea typeface="Calibri" pitchFamily="34" charset="-122"/>
                <a:cs typeface="Calibri" pitchFamily="34" charset="-120"/>
              </a:rPr>
              <a:t>Runtime env config (import-map / env.js per SSPA practice): endpoints, SSO/auth provider adapter, certs, logic-pack source. Auth is an interface with two adapters — FakeAuthProvider outside, real SSO inside.</a:t>
            </a:r>
            <a:endParaRPr lang="en-US" sz="1150" dirty="0"/>
          </a:p>
        </p:txBody>
      </p:sp>
      <p:sp>
        <p:nvSpPr>
          <p:cNvPr id="21" name="Shape 16"/>
          <p:cNvSpPr/>
          <p:nvPr/>
        </p:nvSpPr>
        <p:spPr>
          <a:xfrm>
            <a:off x="548640" y="5248656"/>
            <a:ext cx="11094415" cy="868680"/>
          </a:xfrm>
          <a:prstGeom prst="roundRect">
            <a:avLst>
              <a:gd name="adj" fmla="val 8421"/>
            </a:avLst>
          </a:prstGeom>
          <a:solidFill>
            <a:srgbClr val="EAF4EF"/>
          </a:solidFill>
          <a:ln/>
          <a:effectLst>
            <a:outerShdw sx="100000" sy="100000" kx="0" ky="0" algn="bl" rotWithShape="0" blurRad="76200" dist="12700" dir="5400000">
              <a:srgbClr val="9AA7C4">
                <a:alpha val="25000"/>
              </a:srgbClr>
            </a:outerShdw>
          </a:effectLst>
        </p:spPr>
      </p:sp>
      <p:sp>
        <p:nvSpPr>
          <p:cNvPr id="22" name="Shape 17"/>
          <p:cNvSpPr/>
          <p:nvPr/>
        </p:nvSpPr>
        <p:spPr>
          <a:xfrm>
            <a:off x="749808" y="5385816"/>
            <a:ext cx="548640" cy="548640"/>
          </a:xfrm>
          <a:prstGeom prst="ellipse">
            <a:avLst/>
          </a:prstGeom>
          <a:solidFill>
            <a:srgbClr val="2E7D5B"/>
          </a:solidFill>
          <a:ln/>
        </p:spPr>
      </p:sp>
      <p:pic>
        <p:nvPicPr>
          <p:cNvPr id="23" name="Image 3" descr="preencoded.png">    </p:cNvPr>
          <p:cNvPicPr>
            <a:picLocks noChangeAspect="1"/>
          </p:cNvPicPr>
          <p:nvPr/>
        </p:nvPicPr>
        <p:blipFill>
          <a:blip r:embed="rId4"/>
          <a:stretch>
            <a:fillRect/>
          </a:stretch>
        </p:blipFill>
        <p:spPr>
          <a:xfrm>
            <a:off x="892454" y="5528462"/>
            <a:ext cx="263347" cy="263347"/>
          </a:xfrm>
          <a:prstGeom prst="rect">
            <a:avLst/>
          </a:prstGeom>
        </p:spPr>
      </p:pic>
      <p:sp>
        <p:nvSpPr>
          <p:cNvPr id="24" name="Text 18"/>
          <p:cNvSpPr/>
          <p:nvPr/>
        </p:nvSpPr>
        <p:spPr>
          <a:xfrm>
            <a:off x="1463040" y="5340096"/>
            <a:ext cx="9905695" cy="685800"/>
          </a:xfrm>
          <a:prstGeom prst="rect">
            <a:avLst/>
          </a:prstGeom>
          <a:noFill/>
          <a:ln/>
        </p:spPr>
        <p:txBody>
          <a:bodyPr wrap="square" lIns="0" tIns="0" rIns="0" bIns="0" rtlCol="0" anchor="ctr"/>
          <a:lstStyle/>
          <a:p>
            <a:pPr indent="0" marL="0">
              <a:buNone/>
            </a:pPr>
            <a:r>
              <a:rPr lang="en-US" sz="1250" b="1" dirty="0">
                <a:solidFill>
                  <a:srgbClr val="2E7D5B"/>
                </a:solidFill>
                <a:latin typeface="Calibri" pitchFamily="34" charset="0"/>
                <a:ea typeface="Calibri" pitchFamily="34" charset="-122"/>
                <a:cs typeface="Calibri" pitchFamily="34" charset="-120"/>
              </a:rPr>
              <a:t>Enforced, not hoped for: </a:t>
            </a:r>
            <a:pPr indent="0" marL="0">
              <a:buNone/>
            </a:pPr>
            <a:r>
              <a:rPr lang="en-US" sz="1250" dirty="0">
                <a:solidFill>
                  <a:srgbClr val="1B2440"/>
                </a:solidFill>
                <a:latin typeface="Calibri" pitchFamily="34" charset="0"/>
                <a:ea typeface="Calibri" pitchFamily="34" charset="-122"/>
                <a:cs typeface="Calibri" pitchFamily="34" charset="-120"/>
              </a:rPr>
              <a:t>an ESLint boundary rule (import/no-restricted-paths) forbids feature code from importing transport or env modules. The dependency direction is validated by CI in both worlds — that is what makes “swap by configuration” actually true at integration time.</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algn="l" indent="0" marL="0">
              <a:buNone/>
            </a:pPr>
            <a:r>
              <a:rPr lang="en-US" sz="900" dirty="0">
                <a:solidFill>
                  <a:srgbClr val="5A6B8C"/>
                </a:solidFill>
                <a:latin typeface="Calibri" pitchFamily="34" charset="0"/>
                <a:ea typeface="Calibri" pitchFamily="34" charset="-122"/>
                <a:cs typeface="Calibri" pitchFamily="34" charset="-120"/>
              </a:rPr>
              <a:t>Internet-First, Airgap-Final</a:t>
            </a:r>
            <a:endParaRPr lang="en-US" sz="900" dirty="0"/>
          </a:p>
        </p:txBody>
      </p:sp>
      <p:sp>
        <p:nvSpPr>
          <p:cNvPr id="3" name="Text 1"/>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A6B8C"/>
                </a:solidFill>
                <a:latin typeface="Calibri" pitchFamily="34" charset="0"/>
                <a:ea typeface="Calibri" pitchFamily="34" charset="-122"/>
                <a:cs typeface="Calibri" pitchFamily="34" charset="-120"/>
              </a:rPr>
              <a:t>12</a:t>
            </a:r>
            <a:endParaRPr lang="en-US" sz="900" dirty="0"/>
          </a:p>
        </p:txBody>
      </p:sp>
      <p:sp>
        <p:nvSpPr>
          <p:cNvPr id="4" name="Text 2"/>
          <p:cNvSpPr/>
          <p:nvPr/>
        </p:nvSpPr>
        <p:spPr>
          <a:xfrm>
            <a:off x="548640" y="384048"/>
            <a:ext cx="11094415" cy="274320"/>
          </a:xfrm>
          <a:prstGeom prst="rect">
            <a:avLst/>
          </a:prstGeom>
          <a:noFill/>
          <a:ln/>
        </p:spPr>
        <p:txBody>
          <a:bodyPr wrap="square" lIns="0" tIns="0" rIns="0" bIns="0" rtlCol="0" anchor="ctr"/>
          <a:lstStyle/>
          <a:p>
            <a:pPr indent="0" marL="0">
              <a:buNone/>
            </a:pPr>
            <a:r>
              <a:rPr lang="en-US" sz="1200" b="1" spc="300" kern="0" dirty="0">
                <a:solidFill>
                  <a:srgbClr val="5A6B8C"/>
                </a:solidFill>
                <a:latin typeface="Calibri" pitchFamily="34" charset="0"/>
                <a:ea typeface="Calibri" pitchFamily="34" charset="-122"/>
                <a:cs typeface="Calibri" pitchFamily="34" charset="-120"/>
              </a:rPr>
              <a:t>PHASE 2 · THE ANGULAR-TO-REACT FACTORY</a:t>
            </a:r>
            <a:endParaRPr lang="en-US" sz="1200" dirty="0"/>
          </a:p>
        </p:txBody>
      </p:sp>
      <p:sp>
        <p:nvSpPr>
          <p:cNvPr id="5" name="Text 3"/>
          <p:cNvSpPr/>
          <p:nvPr/>
        </p:nvSpPr>
        <p:spPr>
          <a:xfrm>
            <a:off x="548640" y="658368"/>
            <a:ext cx="11094415" cy="621792"/>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One feature, end-to-end, at a time</a:t>
            </a:r>
            <a:endParaRPr lang="en-US" sz="3000" dirty="0"/>
          </a:p>
        </p:txBody>
      </p:sp>
      <p:sp>
        <p:nvSpPr>
          <p:cNvPr id="6" name="Shape 4"/>
          <p:cNvSpPr/>
          <p:nvPr/>
        </p:nvSpPr>
        <p:spPr>
          <a:xfrm>
            <a:off x="548640" y="1691640"/>
            <a:ext cx="2602154" cy="3017520"/>
          </a:xfrm>
          <a:prstGeom prst="roundRect">
            <a:avLst>
              <a:gd name="adj" fmla="val 2811"/>
            </a:avLst>
          </a:prstGeom>
          <a:solidFill>
            <a:srgbClr val="EDF3FC"/>
          </a:solidFill>
          <a:ln/>
          <a:effectLst>
            <a:outerShdw sx="100000" sy="100000" kx="0" ky="0" algn="bl" rotWithShape="0" blurRad="76200" dist="12700" dir="5400000">
              <a:srgbClr val="9AA7C4">
                <a:alpha val="25000"/>
              </a:srgbClr>
            </a:outerShdw>
          </a:effectLst>
        </p:spPr>
      </p:sp>
      <p:sp>
        <p:nvSpPr>
          <p:cNvPr id="7" name="Text 5"/>
          <p:cNvSpPr/>
          <p:nvPr/>
        </p:nvSpPr>
        <p:spPr>
          <a:xfrm>
            <a:off x="731520" y="1828800"/>
            <a:ext cx="731520" cy="685800"/>
          </a:xfrm>
          <a:prstGeom prst="rect">
            <a:avLst/>
          </a:prstGeom>
          <a:noFill/>
          <a:ln/>
        </p:spPr>
        <p:txBody>
          <a:bodyPr wrap="square" lIns="0" tIns="0" rIns="0" bIns="0" rtlCol="0" anchor="ctr"/>
          <a:lstStyle/>
          <a:p>
            <a:pPr indent="0" marL="0">
              <a:buNone/>
            </a:pPr>
            <a:r>
              <a:rPr lang="en-US" sz="3600" b="1" dirty="0">
                <a:solidFill>
                  <a:srgbClr val="CADCFC"/>
                </a:solidFill>
                <a:latin typeface="Cambria" pitchFamily="34" charset="0"/>
                <a:ea typeface="Cambria" pitchFamily="34" charset="-122"/>
                <a:cs typeface="Cambria" pitchFamily="34" charset="-120"/>
              </a:rPr>
              <a:t>1</a:t>
            </a:r>
            <a:endParaRPr lang="en-US" sz="3600" dirty="0"/>
          </a:p>
        </p:txBody>
      </p:sp>
      <p:sp>
        <p:nvSpPr>
          <p:cNvPr id="8" name="Text 6"/>
          <p:cNvSpPr/>
          <p:nvPr/>
        </p:nvSpPr>
        <p:spPr>
          <a:xfrm>
            <a:off x="731520" y="2468880"/>
            <a:ext cx="2236394" cy="32004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Inventory</a:t>
            </a:r>
            <a:endParaRPr lang="en-US" sz="1500" dirty="0"/>
          </a:p>
        </p:txBody>
      </p:sp>
      <p:sp>
        <p:nvSpPr>
          <p:cNvPr id="9" name="Text 7"/>
          <p:cNvSpPr/>
          <p:nvPr/>
        </p:nvSpPr>
        <p:spPr>
          <a:xfrm>
            <a:off x="731520" y="2834640"/>
            <a:ext cx="2236394" cy="1691640"/>
          </a:xfrm>
          <a:prstGeom prst="rect">
            <a:avLst/>
          </a:prstGeom>
          <a:noFill/>
          <a:ln/>
        </p:spPr>
        <p:txBody>
          <a:bodyPr wrap="square" lIns="0" tIns="0" rIns="0" bIns="0" rtlCol="0" anchor="ctr"/>
          <a:lstStyle/>
          <a:p>
            <a:pPr indent="0" marL="0">
              <a:buNone/>
            </a:pPr>
            <a:r>
              <a:rPr lang="en-US" sz="1050" dirty="0">
                <a:solidFill>
                  <a:srgbClr val="1B2440"/>
                </a:solidFill>
                <a:latin typeface="Calibri" pitchFamily="34" charset="0"/>
                <a:ea typeface="Calibri" pitchFamily="34" charset="-122"/>
                <a:cs typeface="Calibri" pitchFamily="34" charset="-120"/>
              </a:rPr>
              <a:t>Catalog every Angular feature: routes, screens, API calls, rule touchpoints, complexity, usage. One tracker row per feature — this IS the program backlog and the parity scoreboard.</a:t>
            </a:r>
            <a:endParaRPr lang="en-US" sz="1050" dirty="0"/>
          </a:p>
        </p:txBody>
      </p:sp>
      <p:sp>
        <p:nvSpPr>
          <p:cNvPr id="10" name="Text 8"/>
          <p:cNvSpPr/>
          <p:nvPr/>
        </p:nvSpPr>
        <p:spPr>
          <a:xfrm>
            <a:off x="3132506" y="3017520"/>
            <a:ext cx="274320" cy="365760"/>
          </a:xfrm>
          <a:prstGeom prst="rect">
            <a:avLst/>
          </a:prstGeom>
          <a:noFill/>
          <a:ln/>
        </p:spPr>
        <p:txBody>
          <a:bodyPr wrap="square" lIns="0" tIns="0" rIns="0" bIns="0" rtlCol="0" anchor="ctr"/>
          <a:lstStyle/>
          <a:p>
            <a:pPr algn="ctr" indent="0" marL="0">
              <a:buNone/>
            </a:pPr>
            <a:r>
              <a:rPr lang="en-US" sz="1800" dirty="0">
                <a:solidFill>
                  <a:srgbClr val="5A6B8C"/>
                </a:solidFill>
              </a:rPr>
              <a:t>▸</a:t>
            </a:r>
            <a:endParaRPr lang="en-US" sz="1800" dirty="0"/>
          </a:p>
        </p:txBody>
      </p:sp>
      <p:sp>
        <p:nvSpPr>
          <p:cNvPr id="11" name="Shape 9"/>
          <p:cNvSpPr/>
          <p:nvPr/>
        </p:nvSpPr>
        <p:spPr>
          <a:xfrm>
            <a:off x="3379394" y="1691640"/>
            <a:ext cx="2602154" cy="3017520"/>
          </a:xfrm>
          <a:prstGeom prst="roundRect">
            <a:avLst>
              <a:gd name="adj" fmla="val 2811"/>
            </a:avLst>
          </a:prstGeom>
          <a:solidFill>
            <a:srgbClr val="EDF3FC"/>
          </a:solidFill>
          <a:ln/>
          <a:effectLst>
            <a:outerShdw sx="100000" sy="100000" kx="0" ky="0" algn="bl" rotWithShape="0" blurRad="76200" dist="12700" dir="5400000">
              <a:srgbClr val="9AA7C4">
                <a:alpha val="25000"/>
              </a:srgbClr>
            </a:outerShdw>
          </a:effectLst>
        </p:spPr>
      </p:sp>
      <p:sp>
        <p:nvSpPr>
          <p:cNvPr id="12" name="Text 10"/>
          <p:cNvSpPr/>
          <p:nvPr/>
        </p:nvSpPr>
        <p:spPr>
          <a:xfrm>
            <a:off x="3562274" y="1828800"/>
            <a:ext cx="731520" cy="685800"/>
          </a:xfrm>
          <a:prstGeom prst="rect">
            <a:avLst/>
          </a:prstGeom>
          <a:noFill/>
          <a:ln/>
        </p:spPr>
        <p:txBody>
          <a:bodyPr wrap="square" lIns="0" tIns="0" rIns="0" bIns="0" rtlCol="0" anchor="ctr"/>
          <a:lstStyle/>
          <a:p>
            <a:pPr indent="0" marL="0">
              <a:buNone/>
            </a:pPr>
            <a:r>
              <a:rPr lang="en-US" sz="3600" b="1" dirty="0">
                <a:solidFill>
                  <a:srgbClr val="CADCFC"/>
                </a:solidFill>
                <a:latin typeface="Cambria" pitchFamily="34" charset="0"/>
                <a:ea typeface="Cambria" pitchFamily="34" charset="-122"/>
                <a:cs typeface="Cambria" pitchFamily="34" charset="-120"/>
              </a:rPr>
              <a:t>2</a:t>
            </a:r>
            <a:endParaRPr lang="en-US" sz="3600" dirty="0"/>
          </a:p>
        </p:txBody>
      </p:sp>
      <p:sp>
        <p:nvSpPr>
          <p:cNvPr id="13" name="Text 11"/>
          <p:cNvSpPr/>
          <p:nvPr/>
        </p:nvSpPr>
        <p:spPr>
          <a:xfrm>
            <a:off x="3562274" y="2468880"/>
            <a:ext cx="2236394" cy="32004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Contract</a:t>
            </a:r>
            <a:endParaRPr lang="en-US" sz="1500" dirty="0"/>
          </a:p>
        </p:txBody>
      </p:sp>
      <p:sp>
        <p:nvSpPr>
          <p:cNvPr id="14" name="Text 12"/>
          <p:cNvSpPr/>
          <p:nvPr/>
        </p:nvSpPr>
        <p:spPr>
          <a:xfrm>
            <a:off x="3562274" y="2834640"/>
            <a:ext cx="2236394" cy="1691640"/>
          </a:xfrm>
          <a:prstGeom prst="rect">
            <a:avLst/>
          </a:prstGeom>
          <a:noFill/>
          <a:ln/>
        </p:spPr>
        <p:txBody>
          <a:bodyPr wrap="square" lIns="0" tIns="0" rIns="0" bIns="0" rtlCol="0" anchor="ctr"/>
          <a:lstStyle/>
          <a:p>
            <a:pPr indent="0" marL="0">
              <a:buNone/>
            </a:pPr>
            <a:r>
              <a:rPr lang="en-US" sz="1050" dirty="0">
                <a:solidFill>
                  <a:srgbClr val="1B2440"/>
                </a:solidFill>
                <a:latin typeface="Calibri" pitchFamily="34" charset="0"/>
                <a:ea typeface="Calibri" pitchFamily="34" charset="-122"/>
                <a:cs typeface="Calibri" pitchFamily="34" charset="-120"/>
              </a:rPr>
              <a:t>Write the feature's spec inside: OpenAPI slice, rule keys, fixtures, flow notes. Desensitize, gate, egress. Timebox it — a spec that takes a week is being over-written.</a:t>
            </a:r>
            <a:endParaRPr lang="en-US" sz="1050" dirty="0"/>
          </a:p>
        </p:txBody>
      </p:sp>
      <p:sp>
        <p:nvSpPr>
          <p:cNvPr id="15" name="Text 13"/>
          <p:cNvSpPr/>
          <p:nvPr/>
        </p:nvSpPr>
        <p:spPr>
          <a:xfrm>
            <a:off x="5963260" y="3017520"/>
            <a:ext cx="274320" cy="365760"/>
          </a:xfrm>
          <a:prstGeom prst="rect">
            <a:avLst/>
          </a:prstGeom>
          <a:noFill/>
          <a:ln/>
        </p:spPr>
        <p:txBody>
          <a:bodyPr wrap="square" lIns="0" tIns="0" rIns="0" bIns="0" rtlCol="0" anchor="ctr"/>
          <a:lstStyle/>
          <a:p>
            <a:pPr algn="ctr" indent="0" marL="0">
              <a:buNone/>
            </a:pPr>
            <a:r>
              <a:rPr lang="en-US" sz="1800" dirty="0">
                <a:solidFill>
                  <a:srgbClr val="5A6B8C"/>
                </a:solidFill>
              </a:rPr>
              <a:t>▸</a:t>
            </a:r>
            <a:endParaRPr lang="en-US" sz="1800" dirty="0"/>
          </a:p>
        </p:txBody>
      </p:sp>
      <p:sp>
        <p:nvSpPr>
          <p:cNvPr id="16" name="Shape 14"/>
          <p:cNvSpPr/>
          <p:nvPr/>
        </p:nvSpPr>
        <p:spPr>
          <a:xfrm>
            <a:off x="6210148" y="1691640"/>
            <a:ext cx="2602154" cy="3017520"/>
          </a:xfrm>
          <a:prstGeom prst="roundRect">
            <a:avLst>
              <a:gd name="adj" fmla="val 2811"/>
            </a:avLst>
          </a:prstGeom>
          <a:solidFill>
            <a:srgbClr val="EDF3FC"/>
          </a:solidFill>
          <a:ln/>
          <a:effectLst>
            <a:outerShdw sx="100000" sy="100000" kx="0" ky="0" algn="bl" rotWithShape="0" blurRad="76200" dist="12700" dir="5400000">
              <a:srgbClr val="9AA7C4">
                <a:alpha val="25000"/>
              </a:srgbClr>
            </a:outerShdw>
          </a:effectLst>
        </p:spPr>
      </p:sp>
      <p:sp>
        <p:nvSpPr>
          <p:cNvPr id="17" name="Text 15"/>
          <p:cNvSpPr/>
          <p:nvPr/>
        </p:nvSpPr>
        <p:spPr>
          <a:xfrm>
            <a:off x="6393028" y="1828800"/>
            <a:ext cx="731520" cy="685800"/>
          </a:xfrm>
          <a:prstGeom prst="rect">
            <a:avLst/>
          </a:prstGeom>
          <a:noFill/>
          <a:ln/>
        </p:spPr>
        <p:txBody>
          <a:bodyPr wrap="square" lIns="0" tIns="0" rIns="0" bIns="0" rtlCol="0" anchor="ctr"/>
          <a:lstStyle/>
          <a:p>
            <a:pPr indent="0" marL="0">
              <a:buNone/>
            </a:pPr>
            <a:r>
              <a:rPr lang="en-US" sz="3600" b="1" dirty="0">
                <a:solidFill>
                  <a:srgbClr val="CADCFC"/>
                </a:solidFill>
                <a:latin typeface="Cambria" pitchFamily="34" charset="0"/>
                <a:ea typeface="Cambria" pitchFamily="34" charset="-122"/>
                <a:cs typeface="Cambria" pitchFamily="34" charset="-120"/>
              </a:rPr>
              <a:t>3</a:t>
            </a:r>
            <a:endParaRPr lang="en-US" sz="3600" dirty="0"/>
          </a:p>
        </p:txBody>
      </p:sp>
      <p:sp>
        <p:nvSpPr>
          <p:cNvPr id="18" name="Text 16"/>
          <p:cNvSpPr/>
          <p:nvPr/>
        </p:nvSpPr>
        <p:spPr>
          <a:xfrm>
            <a:off x="6393028" y="2468880"/>
            <a:ext cx="2236394" cy="32004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Build</a:t>
            </a:r>
            <a:endParaRPr lang="en-US" sz="1500" dirty="0"/>
          </a:p>
        </p:txBody>
      </p:sp>
      <p:sp>
        <p:nvSpPr>
          <p:cNvPr id="19" name="Text 17"/>
          <p:cNvSpPr/>
          <p:nvPr/>
        </p:nvSpPr>
        <p:spPr>
          <a:xfrm>
            <a:off x="6393028" y="2834640"/>
            <a:ext cx="2236394" cy="1691640"/>
          </a:xfrm>
          <a:prstGeom prst="rect">
            <a:avLst/>
          </a:prstGeom>
          <a:noFill/>
          <a:ln/>
        </p:spPr>
        <p:txBody>
          <a:bodyPr wrap="square" lIns="0" tIns="0" rIns="0" bIns="0" rtlCol="0" anchor="ctr"/>
          <a:lstStyle/>
          <a:p>
            <a:pPr indent="0" marL="0">
              <a:buNone/>
            </a:pPr>
            <a:r>
              <a:rPr lang="en-US" sz="1050" dirty="0">
                <a:solidFill>
                  <a:srgbClr val="1B2440"/>
                </a:solidFill>
                <a:latin typeface="Calibri" pitchFamily="34" charset="0"/>
                <a:ea typeface="Calibri" pitchFamily="34" charset="-122"/>
                <a:cs typeface="Calibri" pitchFamily="34" charset="-120"/>
              </a:rPr>
              <a:t>Implement outside as a passive shell against MSW. Port end-to-end (UI + tests + docs), never all-UI-first. Escape-hatch modules stubbed and flagged for inside work.</a:t>
            </a:r>
            <a:endParaRPr lang="en-US" sz="1050" dirty="0"/>
          </a:p>
        </p:txBody>
      </p:sp>
      <p:sp>
        <p:nvSpPr>
          <p:cNvPr id="20" name="Text 18"/>
          <p:cNvSpPr/>
          <p:nvPr/>
        </p:nvSpPr>
        <p:spPr>
          <a:xfrm>
            <a:off x="8794013" y="3017520"/>
            <a:ext cx="274320" cy="365760"/>
          </a:xfrm>
          <a:prstGeom prst="rect">
            <a:avLst/>
          </a:prstGeom>
          <a:noFill/>
          <a:ln/>
        </p:spPr>
        <p:txBody>
          <a:bodyPr wrap="square" lIns="0" tIns="0" rIns="0" bIns="0" rtlCol="0" anchor="ctr"/>
          <a:lstStyle/>
          <a:p>
            <a:pPr algn="ctr" indent="0" marL="0">
              <a:buNone/>
            </a:pPr>
            <a:r>
              <a:rPr lang="en-US" sz="1800" dirty="0">
                <a:solidFill>
                  <a:srgbClr val="5A6B8C"/>
                </a:solidFill>
              </a:rPr>
              <a:t>▸</a:t>
            </a:r>
            <a:endParaRPr lang="en-US" sz="1800" dirty="0"/>
          </a:p>
        </p:txBody>
      </p:sp>
      <p:sp>
        <p:nvSpPr>
          <p:cNvPr id="21" name="Shape 19"/>
          <p:cNvSpPr/>
          <p:nvPr/>
        </p:nvSpPr>
        <p:spPr>
          <a:xfrm>
            <a:off x="9040901" y="1691640"/>
            <a:ext cx="2602154" cy="3017520"/>
          </a:xfrm>
          <a:prstGeom prst="roundRect">
            <a:avLst>
              <a:gd name="adj" fmla="val 2811"/>
            </a:avLst>
          </a:prstGeom>
          <a:solidFill>
            <a:srgbClr val="EDF3FC"/>
          </a:solidFill>
          <a:ln/>
          <a:effectLst>
            <a:outerShdw sx="100000" sy="100000" kx="0" ky="0" algn="bl" rotWithShape="0" blurRad="76200" dist="12700" dir="5400000">
              <a:srgbClr val="9AA7C4">
                <a:alpha val="25000"/>
              </a:srgbClr>
            </a:outerShdw>
          </a:effectLst>
        </p:spPr>
      </p:sp>
      <p:sp>
        <p:nvSpPr>
          <p:cNvPr id="22" name="Text 20"/>
          <p:cNvSpPr/>
          <p:nvPr/>
        </p:nvSpPr>
        <p:spPr>
          <a:xfrm>
            <a:off x="9223781" y="1828800"/>
            <a:ext cx="731520" cy="685800"/>
          </a:xfrm>
          <a:prstGeom prst="rect">
            <a:avLst/>
          </a:prstGeom>
          <a:noFill/>
          <a:ln/>
        </p:spPr>
        <p:txBody>
          <a:bodyPr wrap="square" lIns="0" tIns="0" rIns="0" bIns="0" rtlCol="0" anchor="ctr"/>
          <a:lstStyle/>
          <a:p>
            <a:pPr indent="0" marL="0">
              <a:buNone/>
            </a:pPr>
            <a:r>
              <a:rPr lang="en-US" sz="3600" b="1" dirty="0">
                <a:solidFill>
                  <a:srgbClr val="CADCFC"/>
                </a:solidFill>
                <a:latin typeface="Cambria" pitchFamily="34" charset="0"/>
                <a:ea typeface="Cambria" pitchFamily="34" charset="-122"/>
                <a:cs typeface="Cambria" pitchFamily="34" charset="-120"/>
              </a:rPr>
              <a:t>4</a:t>
            </a:r>
            <a:endParaRPr lang="en-US" sz="3600" dirty="0"/>
          </a:p>
        </p:txBody>
      </p:sp>
      <p:sp>
        <p:nvSpPr>
          <p:cNvPr id="23" name="Text 21"/>
          <p:cNvSpPr/>
          <p:nvPr/>
        </p:nvSpPr>
        <p:spPr>
          <a:xfrm>
            <a:off x="9223781" y="2468880"/>
            <a:ext cx="2236394" cy="32004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Verify &amp; ship</a:t>
            </a:r>
            <a:endParaRPr lang="en-US" sz="1500" dirty="0"/>
          </a:p>
        </p:txBody>
      </p:sp>
      <p:sp>
        <p:nvSpPr>
          <p:cNvPr id="24" name="Text 22"/>
          <p:cNvSpPr/>
          <p:nvPr/>
        </p:nvSpPr>
        <p:spPr>
          <a:xfrm>
            <a:off x="9223781" y="2834640"/>
            <a:ext cx="2236394" cy="1691640"/>
          </a:xfrm>
          <a:prstGeom prst="rect">
            <a:avLst/>
          </a:prstGeom>
          <a:noFill/>
          <a:ln/>
        </p:spPr>
        <p:txBody>
          <a:bodyPr wrap="square" lIns="0" tIns="0" rIns="0" bIns="0" rtlCol="0" anchor="ctr"/>
          <a:lstStyle/>
          <a:p>
            <a:pPr indent="0" marL="0">
              <a:buNone/>
            </a:pPr>
            <a:r>
              <a:rPr lang="en-US" sz="1050" dirty="0">
                <a:solidFill>
                  <a:srgbClr val="1B2440"/>
                </a:solidFill>
                <a:latin typeface="Calibri" pitchFamily="34" charset="0"/>
                <a:ea typeface="Calibri" pitchFamily="34" charset="-122"/>
                <a:cs typeface="Calibri" pitchFamily="34" charset="-120"/>
              </a:rPr>
              <a:t>Tag release. Inside: reverse-map, bind real config + logic pack, implement stubs, re-run the same Playwright suite against the real backend. Gap found ⇒ fix the SPEC first, then the code.</a:t>
            </a:r>
            <a:endParaRPr lang="en-US" sz="1050" dirty="0"/>
          </a:p>
        </p:txBody>
      </p:sp>
      <p:sp>
        <p:nvSpPr>
          <p:cNvPr id="25" name="Shape 23"/>
          <p:cNvSpPr/>
          <p:nvPr/>
        </p:nvSpPr>
        <p:spPr>
          <a:xfrm>
            <a:off x="548640" y="4983480"/>
            <a:ext cx="11094415" cy="1143000"/>
          </a:xfrm>
          <a:prstGeom prst="roundRect">
            <a:avLst>
              <a:gd name="adj" fmla="val 6400"/>
            </a:avLst>
          </a:prstGeom>
          <a:solidFill>
            <a:srgbClr val="EAF4EF"/>
          </a:solidFill>
          <a:ln/>
          <a:effectLst>
            <a:outerShdw sx="100000" sy="100000" kx="0" ky="0" algn="bl" rotWithShape="0" blurRad="76200" dist="12700" dir="5400000">
              <a:srgbClr val="9AA7C4">
                <a:alpha val="25000"/>
              </a:srgbClr>
            </a:outerShdw>
          </a:effectLst>
        </p:spPr>
      </p:sp>
      <p:sp>
        <p:nvSpPr>
          <p:cNvPr id="26" name="Shape 24"/>
          <p:cNvSpPr/>
          <p:nvPr/>
        </p:nvSpPr>
        <p:spPr>
          <a:xfrm>
            <a:off x="777240" y="5230368"/>
            <a:ext cx="594360" cy="594360"/>
          </a:xfrm>
          <a:prstGeom prst="ellipse">
            <a:avLst/>
          </a:prstGeom>
          <a:solidFill>
            <a:srgbClr val="2E7D5B"/>
          </a:solidFill>
          <a:ln/>
        </p:spPr>
      </p:sp>
      <p:pic>
        <p:nvPicPr>
          <p:cNvPr id="27" name="Image 0" descr="preencoded.png">    </p:cNvPr>
          <p:cNvPicPr>
            <a:picLocks noChangeAspect="1"/>
          </p:cNvPicPr>
          <p:nvPr/>
        </p:nvPicPr>
        <p:blipFill>
          <a:blip r:embed="rId1"/>
          <a:stretch>
            <a:fillRect/>
          </a:stretch>
        </p:blipFill>
        <p:spPr>
          <a:xfrm>
            <a:off x="931774" y="5384902"/>
            <a:ext cx="285293" cy="285293"/>
          </a:xfrm>
          <a:prstGeom prst="rect">
            <a:avLst/>
          </a:prstGeom>
        </p:spPr>
      </p:pic>
      <p:sp>
        <p:nvSpPr>
          <p:cNvPr id="28" name="Text 25"/>
          <p:cNvSpPr/>
          <p:nvPr/>
        </p:nvSpPr>
        <p:spPr>
          <a:xfrm>
            <a:off x="1554480" y="5120640"/>
            <a:ext cx="9814255" cy="868680"/>
          </a:xfrm>
          <a:prstGeom prst="rect">
            <a:avLst/>
          </a:prstGeom>
          <a:noFill/>
          <a:ln/>
        </p:spPr>
        <p:txBody>
          <a:bodyPr wrap="square" lIns="0" tIns="0" rIns="0" bIns="0" rtlCol="0" anchor="ctr"/>
          <a:lstStyle/>
          <a:p>
            <a:pPr indent="0" marL="0">
              <a:buNone/>
            </a:pPr>
            <a:r>
              <a:rPr lang="en-US" sz="1350" b="1" dirty="0">
                <a:solidFill>
                  <a:srgbClr val="2E7D5B"/>
                </a:solidFill>
                <a:latin typeface="Calibri" pitchFamily="34" charset="0"/>
                <a:ea typeface="Calibri" pitchFamily="34" charset="-122"/>
                <a:cs typeface="Calibri" pitchFamily="34" charset="-120"/>
              </a:rPr>
              <a:t>Pick the pilot deliberately: </a:t>
            </a:r>
            <a:pPr indent="0" marL="0">
              <a:buNone/>
            </a:pPr>
            <a:r>
              <a:rPr lang="en-US" sz="1350" dirty="0">
                <a:solidFill>
                  <a:srgbClr val="1B2440"/>
                </a:solidFill>
                <a:latin typeface="Calibri" pitchFamily="34" charset="0"/>
                <a:ea typeface="Calibri" pitchFamily="34" charset="-122"/>
                <a:cs typeface="Calibri" pitchFamily="34" charset="-120"/>
              </a:rPr>
              <a:t>medium complexity, low classification-density, real users — not the hardest MFE and not a toy. Its job is to calibrate the whole pipeline: spec effort, gate SLAs, integration cost, logic-pack coverage. Instrument everything; the pilot's metrics are the business case for Phase 3.</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algn="l" indent="0" marL="0">
              <a:buNone/>
            </a:pPr>
            <a:r>
              <a:rPr lang="en-US" sz="900" dirty="0">
                <a:solidFill>
                  <a:srgbClr val="CADCFC"/>
                </a:solidFill>
                <a:latin typeface="Calibri" pitchFamily="34" charset="0"/>
                <a:ea typeface="Calibri" pitchFamily="34" charset="-122"/>
                <a:cs typeface="Calibri" pitchFamily="34" charset="-120"/>
              </a:rPr>
              <a:t>Internet-First, Airgap-Final</a:t>
            </a:r>
            <a:endParaRPr lang="en-US" sz="900" dirty="0"/>
          </a:p>
        </p:txBody>
      </p:sp>
      <p:sp>
        <p:nvSpPr>
          <p:cNvPr id="3" name="Text 1"/>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CADCFC"/>
                </a:solidFill>
                <a:latin typeface="Calibri" pitchFamily="34" charset="0"/>
                <a:ea typeface="Calibri" pitchFamily="34" charset="-122"/>
                <a:cs typeface="Calibri" pitchFamily="34" charset="-120"/>
              </a:rPr>
              <a:t>13</a:t>
            </a:r>
            <a:endParaRPr lang="en-US" sz="900" dirty="0"/>
          </a:p>
        </p:txBody>
      </p:sp>
      <p:sp>
        <p:nvSpPr>
          <p:cNvPr id="4" name="Text 2"/>
          <p:cNvSpPr/>
          <p:nvPr/>
        </p:nvSpPr>
        <p:spPr>
          <a:xfrm>
            <a:off x="548640" y="384048"/>
            <a:ext cx="11094415" cy="274320"/>
          </a:xfrm>
          <a:prstGeom prst="rect">
            <a:avLst/>
          </a:prstGeom>
          <a:noFill/>
          <a:ln/>
        </p:spPr>
        <p:txBody>
          <a:bodyPr wrap="square" lIns="0" tIns="0" rIns="0" bIns="0" rtlCol="0" anchor="ctr"/>
          <a:lstStyle/>
          <a:p>
            <a:pPr indent="0" marL="0">
              <a:buNone/>
            </a:pPr>
            <a:r>
              <a:rPr lang="en-US" sz="1200" b="1" spc="300" kern="0" dirty="0">
                <a:solidFill>
                  <a:srgbClr val="CADCFC"/>
                </a:solidFill>
                <a:latin typeface="Calibri" pitchFamily="34" charset="0"/>
                <a:ea typeface="Calibri" pitchFamily="34" charset="-122"/>
                <a:cs typeface="Calibri" pitchFamily="34" charset="-120"/>
              </a:rPr>
              <a:t>HONEST AUDIT</a:t>
            </a:r>
            <a:endParaRPr lang="en-US" sz="1200" dirty="0"/>
          </a:p>
        </p:txBody>
      </p:sp>
      <p:sp>
        <p:nvSpPr>
          <p:cNvPr id="5" name="Text 3"/>
          <p:cNvSpPr/>
          <p:nvPr/>
        </p:nvSpPr>
        <p:spPr>
          <a:xfrm>
            <a:off x="548640" y="658368"/>
            <a:ext cx="11094415" cy="621792"/>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Where this plan is currently exposed</a:t>
            </a:r>
            <a:endParaRPr lang="en-US" sz="3000" dirty="0"/>
          </a:p>
        </p:txBody>
      </p:sp>
      <p:sp>
        <p:nvSpPr>
          <p:cNvPr id="6" name="Shape 4"/>
          <p:cNvSpPr/>
          <p:nvPr/>
        </p:nvSpPr>
        <p:spPr>
          <a:xfrm>
            <a:off x="548640" y="1600200"/>
            <a:ext cx="5387188" cy="2103120"/>
          </a:xfrm>
          <a:prstGeom prst="roundRect">
            <a:avLst>
              <a:gd name="adj" fmla="val 3478"/>
            </a:avLst>
          </a:prstGeom>
          <a:solidFill>
            <a:srgbClr val="2A3A7A"/>
          </a:solidFill>
          <a:ln/>
        </p:spPr>
      </p:sp>
      <p:sp>
        <p:nvSpPr>
          <p:cNvPr id="7" name="Shape 5"/>
          <p:cNvSpPr/>
          <p:nvPr/>
        </p:nvSpPr>
        <p:spPr>
          <a:xfrm>
            <a:off x="731520" y="1783080"/>
            <a:ext cx="457200" cy="457200"/>
          </a:xfrm>
          <a:prstGeom prst="ellipse">
            <a:avLst/>
          </a:prstGeom>
          <a:solidFill>
            <a:srgbClr val="C0392B"/>
          </a:solidFill>
          <a:ln/>
        </p:spPr>
      </p:sp>
      <p:pic>
        <p:nvPicPr>
          <p:cNvPr id="8" name="Image 0" descr="preencoded.png">    </p:cNvPr>
          <p:cNvPicPr>
            <a:picLocks noChangeAspect="1"/>
          </p:cNvPicPr>
          <p:nvPr/>
        </p:nvPicPr>
        <p:blipFill>
          <a:blip r:embed="rId1"/>
          <a:stretch>
            <a:fillRect/>
          </a:stretch>
        </p:blipFill>
        <p:spPr>
          <a:xfrm>
            <a:off x="850392" y="1901952"/>
            <a:ext cx="219456" cy="219456"/>
          </a:xfrm>
          <a:prstGeom prst="rect">
            <a:avLst/>
          </a:prstGeom>
        </p:spPr>
      </p:pic>
      <p:sp>
        <p:nvSpPr>
          <p:cNvPr id="9" name="Text 6"/>
          <p:cNvSpPr/>
          <p:nvPr/>
        </p:nvSpPr>
        <p:spPr>
          <a:xfrm>
            <a:off x="1325880" y="1819656"/>
            <a:ext cx="4472788" cy="365760"/>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It started as shadow IT</a:t>
            </a:r>
            <a:endParaRPr lang="en-US" sz="1450" dirty="0"/>
          </a:p>
        </p:txBody>
      </p:sp>
      <p:sp>
        <p:nvSpPr>
          <p:cNvPr id="10" name="Text 7"/>
          <p:cNvSpPr/>
          <p:nvPr/>
        </p:nvSpPr>
        <p:spPr>
          <a:xfrm>
            <a:off x="777240" y="2258568"/>
            <a:ext cx="4929988" cy="1280160"/>
          </a:xfrm>
          <a:prstGeom prst="rect">
            <a:avLst/>
          </a:prstGeom>
          <a:noFill/>
          <a:ln/>
        </p:spPr>
        <p:txBody>
          <a:bodyPr wrap="square" lIns="0" tIns="0" rIns="0" bIns="0" rtlCol="0" anchor="ctr"/>
          <a:lstStyle/>
          <a:p>
            <a:pPr indent="0" marL="0">
              <a:buNone/>
            </a:pPr>
            <a:r>
              <a:rPr lang="en-US" sz="1080" dirty="0">
                <a:solidFill>
                  <a:srgbClr val="CADCFC"/>
                </a:solidFill>
                <a:latin typeface="Calibri" pitchFamily="34" charset="0"/>
                <a:ea typeface="Calibri" pitchFamily="34" charset="-122"/>
                <a:cs typeface="Calibri" pitchFamily="34" charset="-120"/>
              </a:rPr>
              <a:t>Building outside “secretly” is the plan's biggest vulnerability. Discovered before sanctioned, the whole paradigm — and its authors — lose credibility permanently. Legitimize FIRST: brief supervisor &amp; cyber, get written authorization for a bounded pilot. This is Phase 0, and it blocks everything.</a:t>
            </a:r>
            <a:endParaRPr lang="en-US" sz="1080" dirty="0"/>
          </a:p>
        </p:txBody>
      </p:sp>
      <p:sp>
        <p:nvSpPr>
          <p:cNvPr id="11" name="Shape 8"/>
          <p:cNvSpPr/>
          <p:nvPr/>
        </p:nvSpPr>
        <p:spPr>
          <a:xfrm>
            <a:off x="6255868" y="1600200"/>
            <a:ext cx="5387188" cy="2103120"/>
          </a:xfrm>
          <a:prstGeom prst="roundRect">
            <a:avLst>
              <a:gd name="adj" fmla="val 3478"/>
            </a:avLst>
          </a:prstGeom>
          <a:solidFill>
            <a:srgbClr val="2A3A7A"/>
          </a:solidFill>
          <a:ln/>
        </p:spPr>
      </p:sp>
      <p:sp>
        <p:nvSpPr>
          <p:cNvPr id="12" name="Shape 9"/>
          <p:cNvSpPr/>
          <p:nvPr/>
        </p:nvSpPr>
        <p:spPr>
          <a:xfrm>
            <a:off x="6438748" y="1783080"/>
            <a:ext cx="457200" cy="457200"/>
          </a:xfrm>
          <a:prstGeom prst="ellipse">
            <a:avLst/>
          </a:prstGeom>
          <a:solidFill>
            <a:srgbClr val="C0392B"/>
          </a:solidFill>
          <a:ln/>
        </p:spPr>
      </p:sp>
      <p:pic>
        <p:nvPicPr>
          <p:cNvPr id="13" name="Image 1" descr="preencoded.png">    </p:cNvPr>
          <p:cNvPicPr>
            <a:picLocks noChangeAspect="1"/>
          </p:cNvPicPr>
          <p:nvPr/>
        </p:nvPicPr>
        <p:blipFill>
          <a:blip r:embed="rId2"/>
          <a:stretch>
            <a:fillRect/>
          </a:stretch>
        </p:blipFill>
        <p:spPr>
          <a:xfrm>
            <a:off x="6557620" y="1901952"/>
            <a:ext cx="219456" cy="219456"/>
          </a:xfrm>
          <a:prstGeom prst="rect">
            <a:avLst/>
          </a:prstGeom>
        </p:spPr>
      </p:pic>
      <p:sp>
        <p:nvSpPr>
          <p:cNvPr id="14" name="Text 10"/>
          <p:cNvSpPr/>
          <p:nvPr/>
        </p:nvSpPr>
        <p:spPr>
          <a:xfrm>
            <a:off x="7033108" y="1819656"/>
            <a:ext cx="4472788" cy="365760"/>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Desensitizer ≠ DLP</a:t>
            </a:r>
            <a:endParaRPr lang="en-US" sz="1450" dirty="0"/>
          </a:p>
        </p:txBody>
      </p:sp>
      <p:sp>
        <p:nvSpPr>
          <p:cNvPr id="15" name="Text 11"/>
          <p:cNvSpPr/>
          <p:nvPr/>
        </p:nvSpPr>
        <p:spPr>
          <a:xfrm>
            <a:off x="6484468" y="2258568"/>
            <a:ext cx="4929988" cy="1280160"/>
          </a:xfrm>
          <a:prstGeom prst="rect">
            <a:avLst/>
          </a:prstGeom>
          <a:noFill/>
          <a:ln/>
        </p:spPr>
        <p:txBody>
          <a:bodyPr wrap="square" lIns="0" tIns="0" rIns="0" bIns="0" rtlCol="0" anchor="ctr"/>
          <a:lstStyle/>
          <a:p>
            <a:pPr indent="0" marL="0">
              <a:buNone/>
            </a:pPr>
            <a:r>
              <a:rPr lang="en-US" sz="1080" dirty="0">
                <a:solidFill>
                  <a:srgbClr val="CADCFC"/>
                </a:solidFill>
                <a:latin typeface="Calibri" pitchFamily="34" charset="0"/>
                <a:ea typeface="Calibri" pitchFamily="34" charset="-122"/>
                <a:cs typeface="Calibri" pitchFamily="34" charset="-120"/>
              </a:rPr>
              <a:t>code_extractor only removes what mapping.json names, and its own README lists bypasses (template literals, regex literals, CSS). Domain knowledge also leaks through structure, comments and fixture shapes. It must be treated as a productivity aid inside a gated process — never as the control itself.</a:t>
            </a:r>
            <a:endParaRPr lang="en-US" sz="1080" dirty="0"/>
          </a:p>
        </p:txBody>
      </p:sp>
      <p:sp>
        <p:nvSpPr>
          <p:cNvPr id="16" name="Shape 12"/>
          <p:cNvSpPr/>
          <p:nvPr/>
        </p:nvSpPr>
        <p:spPr>
          <a:xfrm>
            <a:off x="548640" y="3886200"/>
            <a:ext cx="5387188" cy="2103120"/>
          </a:xfrm>
          <a:prstGeom prst="roundRect">
            <a:avLst>
              <a:gd name="adj" fmla="val 3478"/>
            </a:avLst>
          </a:prstGeom>
          <a:solidFill>
            <a:srgbClr val="2A3A7A"/>
          </a:solidFill>
          <a:ln/>
        </p:spPr>
      </p:sp>
      <p:sp>
        <p:nvSpPr>
          <p:cNvPr id="17" name="Shape 13"/>
          <p:cNvSpPr/>
          <p:nvPr/>
        </p:nvSpPr>
        <p:spPr>
          <a:xfrm>
            <a:off x="731520" y="4069080"/>
            <a:ext cx="457200" cy="457200"/>
          </a:xfrm>
          <a:prstGeom prst="ellipse">
            <a:avLst/>
          </a:prstGeom>
          <a:solidFill>
            <a:srgbClr val="C0392B"/>
          </a:solidFill>
          <a:ln/>
        </p:spPr>
      </p:sp>
      <p:pic>
        <p:nvPicPr>
          <p:cNvPr id="18" name="Image 2" descr="preencoded.png">    </p:cNvPr>
          <p:cNvPicPr>
            <a:picLocks noChangeAspect="1"/>
          </p:cNvPicPr>
          <p:nvPr/>
        </p:nvPicPr>
        <p:blipFill>
          <a:blip r:embed="rId3"/>
          <a:stretch>
            <a:fillRect/>
          </a:stretch>
        </p:blipFill>
        <p:spPr>
          <a:xfrm>
            <a:off x="850392" y="4187952"/>
            <a:ext cx="219456" cy="219456"/>
          </a:xfrm>
          <a:prstGeom prst="rect">
            <a:avLst/>
          </a:prstGeom>
        </p:spPr>
      </p:pic>
      <p:sp>
        <p:nvSpPr>
          <p:cNvPr id="19" name="Text 14"/>
          <p:cNvSpPr/>
          <p:nvPr/>
        </p:nvSpPr>
        <p:spPr>
          <a:xfrm>
            <a:off x="1325880" y="4105656"/>
            <a:ext cx="4472788" cy="365760"/>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Split-brain &amp; drift</a:t>
            </a:r>
            <a:endParaRPr lang="en-US" sz="1450" dirty="0"/>
          </a:p>
        </p:txBody>
      </p:sp>
      <p:sp>
        <p:nvSpPr>
          <p:cNvPr id="20" name="Text 15"/>
          <p:cNvSpPr/>
          <p:nvPr/>
        </p:nvSpPr>
        <p:spPr>
          <a:xfrm>
            <a:off x="777240" y="4544568"/>
            <a:ext cx="4929988" cy="1280160"/>
          </a:xfrm>
          <a:prstGeom prst="rect">
            <a:avLst/>
          </a:prstGeom>
          <a:noFill/>
          <a:ln/>
        </p:spPr>
        <p:txBody>
          <a:bodyPr wrap="square" lIns="0" tIns="0" rIns="0" bIns="0" rtlCol="0" anchor="ctr"/>
          <a:lstStyle/>
          <a:p>
            <a:pPr indent="0" marL="0">
              <a:buNone/>
            </a:pPr>
            <a:r>
              <a:rPr lang="en-US" sz="1080" dirty="0">
                <a:solidFill>
                  <a:srgbClr val="CADCFC"/>
                </a:solidFill>
                <a:latin typeface="Calibri" pitchFamily="34" charset="0"/>
                <a:ea typeface="Calibri" pitchFamily="34" charset="-122"/>
                <a:cs typeface="Calibri" pitchFamily="34" charset="-120"/>
              </a:rPr>
              <a:t>Two repos, one truth problem: hotfixes made inside never flow back out, so the factory drifts from the product. Mapping versions, contract versions and pack versions must be pinned together per release — and “inside-only patches” need a scheduled re-sync ritual, or the outside repo quietly dies.</a:t>
            </a:r>
            <a:endParaRPr lang="en-US" sz="1080" dirty="0"/>
          </a:p>
        </p:txBody>
      </p:sp>
      <p:sp>
        <p:nvSpPr>
          <p:cNvPr id="21" name="Shape 16"/>
          <p:cNvSpPr/>
          <p:nvPr/>
        </p:nvSpPr>
        <p:spPr>
          <a:xfrm>
            <a:off x="6255868" y="3886200"/>
            <a:ext cx="5387188" cy="2103120"/>
          </a:xfrm>
          <a:prstGeom prst="roundRect">
            <a:avLst>
              <a:gd name="adj" fmla="val 3478"/>
            </a:avLst>
          </a:prstGeom>
          <a:solidFill>
            <a:srgbClr val="2A3A7A"/>
          </a:solidFill>
          <a:ln/>
        </p:spPr>
      </p:sp>
      <p:sp>
        <p:nvSpPr>
          <p:cNvPr id="22" name="Shape 17"/>
          <p:cNvSpPr/>
          <p:nvPr/>
        </p:nvSpPr>
        <p:spPr>
          <a:xfrm>
            <a:off x="6438748" y="4069080"/>
            <a:ext cx="457200" cy="457200"/>
          </a:xfrm>
          <a:prstGeom prst="ellipse">
            <a:avLst/>
          </a:prstGeom>
          <a:solidFill>
            <a:srgbClr val="C0392B"/>
          </a:solidFill>
          <a:ln/>
        </p:spPr>
      </p:sp>
      <p:pic>
        <p:nvPicPr>
          <p:cNvPr id="23" name="Image 3" descr="preencoded.png">    </p:cNvPr>
          <p:cNvPicPr>
            <a:picLocks noChangeAspect="1"/>
          </p:cNvPicPr>
          <p:nvPr/>
        </p:nvPicPr>
        <p:blipFill>
          <a:blip r:embed="rId4"/>
          <a:stretch>
            <a:fillRect/>
          </a:stretch>
        </p:blipFill>
        <p:spPr>
          <a:xfrm>
            <a:off x="6557620" y="4187952"/>
            <a:ext cx="219456" cy="219456"/>
          </a:xfrm>
          <a:prstGeom prst="rect">
            <a:avLst/>
          </a:prstGeom>
        </p:spPr>
      </p:pic>
      <p:sp>
        <p:nvSpPr>
          <p:cNvPr id="24" name="Text 18"/>
          <p:cNvSpPr/>
          <p:nvPr/>
        </p:nvSpPr>
        <p:spPr>
          <a:xfrm>
            <a:off x="7033108" y="4105656"/>
            <a:ext cx="4472788" cy="365760"/>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People, not tooling</a:t>
            </a:r>
            <a:endParaRPr lang="en-US" sz="1450" dirty="0"/>
          </a:p>
        </p:txBody>
      </p:sp>
      <p:sp>
        <p:nvSpPr>
          <p:cNvPr id="25" name="Text 19"/>
          <p:cNvSpPr/>
          <p:nvPr/>
        </p:nvSpPr>
        <p:spPr>
          <a:xfrm>
            <a:off x="6484468" y="4544568"/>
            <a:ext cx="4929988" cy="1280160"/>
          </a:xfrm>
          <a:prstGeom prst="rect">
            <a:avLst/>
          </a:prstGeom>
          <a:noFill/>
          <a:ln/>
        </p:spPr>
        <p:txBody>
          <a:bodyPr wrap="square" lIns="0" tIns="0" rIns="0" bIns="0" rtlCol="0" anchor="ctr"/>
          <a:lstStyle/>
          <a:p>
            <a:pPr indent="0" marL="0">
              <a:buNone/>
            </a:pPr>
            <a:r>
              <a:rPr lang="en-US" sz="1080" dirty="0">
                <a:solidFill>
                  <a:srgbClr val="CADCFC"/>
                </a:solidFill>
                <a:latin typeface="Calibri" pitchFamily="34" charset="0"/>
                <a:ea typeface="Calibri" pitchFamily="34" charset="-122"/>
                <a:cs typeface="Calibri" pitchFamily="34" charset="-120"/>
              </a:rPr>
              <a:t>Contractors are being asked to excel at roles that automate them away — expect quiet attrition of the best ones. And the plan silently assumes contractors currently do the backend: who builds Java/Spring features in the new model? Name it, budget it, and be straight with people about timelines.</a:t>
            </a:r>
            <a:endParaRPr lang="en-US" sz="1080" dirty="0"/>
          </a:p>
        </p:txBody>
      </p:sp>
      <p:sp>
        <p:nvSpPr>
          <p:cNvPr id="26" name="Text 20"/>
          <p:cNvSpPr/>
          <p:nvPr/>
        </p:nvSpPr>
        <p:spPr>
          <a:xfrm>
            <a:off x="548640" y="6263640"/>
            <a:ext cx="11094415" cy="320040"/>
          </a:xfrm>
          <a:prstGeom prst="rect">
            <a:avLst/>
          </a:prstGeom>
          <a:noFill/>
          <a:ln/>
        </p:spPr>
        <p:txBody>
          <a:bodyPr wrap="square" lIns="0" tIns="0" rIns="0" bIns="0" rtlCol="0" anchor="ctr"/>
          <a:lstStyle/>
          <a:p>
            <a:pPr algn="ctr" indent="0" marL="0">
              <a:buNone/>
            </a:pPr>
            <a:r>
              <a:rPr lang="en-US" sz="1300" i="1" dirty="0">
                <a:solidFill>
                  <a:srgbClr val="CADCFC"/>
                </a:solidFill>
                <a:latin typeface="Calibri" pitchFamily="34" charset="0"/>
                <a:ea typeface="Calibri" pitchFamily="34" charset="-122"/>
                <a:cs typeface="Calibri" pitchFamily="34" charset="-120"/>
              </a:rPr>
              <a:t>None of these kill the strategy — every one of them kills it if ignored.</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algn="l" indent="0" marL="0">
              <a:buNone/>
            </a:pPr>
            <a:r>
              <a:rPr lang="en-US" sz="900" dirty="0">
                <a:solidFill>
                  <a:srgbClr val="5A6B8C"/>
                </a:solidFill>
                <a:latin typeface="Calibri" pitchFamily="34" charset="0"/>
                <a:ea typeface="Calibri" pitchFamily="34" charset="-122"/>
                <a:cs typeface="Calibri" pitchFamily="34" charset="-120"/>
              </a:rPr>
              <a:t>Internet-First, Airgap-Final</a:t>
            </a:r>
            <a:endParaRPr lang="en-US" sz="900" dirty="0"/>
          </a:p>
        </p:txBody>
      </p:sp>
      <p:sp>
        <p:nvSpPr>
          <p:cNvPr id="3" name="Text 1"/>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A6B8C"/>
                </a:solidFill>
                <a:latin typeface="Calibri" pitchFamily="34" charset="0"/>
                <a:ea typeface="Calibri" pitchFamily="34" charset="-122"/>
                <a:cs typeface="Calibri" pitchFamily="34" charset="-120"/>
              </a:rPr>
              <a:t>14</a:t>
            </a:r>
            <a:endParaRPr lang="en-US" sz="900" dirty="0"/>
          </a:p>
        </p:txBody>
      </p:sp>
      <p:sp>
        <p:nvSpPr>
          <p:cNvPr id="4" name="Text 2"/>
          <p:cNvSpPr/>
          <p:nvPr/>
        </p:nvSpPr>
        <p:spPr>
          <a:xfrm>
            <a:off x="548640" y="384048"/>
            <a:ext cx="11094415" cy="274320"/>
          </a:xfrm>
          <a:prstGeom prst="rect">
            <a:avLst/>
          </a:prstGeom>
          <a:noFill/>
          <a:ln/>
        </p:spPr>
        <p:txBody>
          <a:bodyPr wrap="square" lIns="0" tIns="0" rIns="0" bIns="0" rtlCol="0" anchor="ctr"/>
          <a:lstStyle/>
          <a:p>
            <a:pPr indent="0" marL="0">
              <a:buNone/>
            </a:pPr>
            <a:r>
              <a:rPr lang="en-US" sz="1200" b="1" spc="300" kern="0" dirty="0">
                <a:solidFill>
                  <a:srgbClr val="5A6B8C"/>
                </a:solidFill>
                <a:latin typeface="Calibri" pitchFamily="34" charset="0"/>
                <a:ea typeface="Calibri" pitchFamily="34" charset="-122"/>
                <a:cs typeface="Calibri" pitchFamily="34" charset="-120"/>
              </a:rPr>
              <a:t>SECOND LOOK · BEYOND THE FOUNDING VISION</a:t>
            </a:r>
            <a:endParaRPr lang="en-US" sz="1200" dirty="0"/>
          </a:p>
        </p:txBody>
      </p:sp>
      <p:sp>
        <p:nvSpPr>
          <p:cNvPr id="5" name="Text 3"/>
          <p:cNvSpPr/>
          <p:nvPr/>
        </p:nvSpPr>
        <p:spPr>
          <a:xfrm>
            <a:off x="548640" y="658368"/>
            <a:ext cx="11094415" cy="621792"/>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Six gaps the current plan does not cover</a:t>
            </a:r>
            <a:endParaRPr lang="en-US" sz="3000" dirty="0"/>
          </a:p>
        </p:txBody>
      </p:sp>
      <p:sp>
        <p:nvSpPr>
          <p:cNvPr id="6" name="Shape 4"/>
          <p:cNvSpPr/>
          <p:nvPr/>
        </p:nvSpPr>
        <p:spPr>
          <a:xfrm>
            <a:off x="548640" y="1572768"/>
            <a:ext cx="3527450" cy="2139696"/>
          </a:xfrm>
          <a:prstGeom prst="roundRect">
            <a:avLst>
              <a:gd name="adj" fmla="val 3419"/>
            </a:avLst>
          </a:prstGeom>
          <a:solidFill>
            <a:srgbClr val="EDF3FC"/>
          </a:solidFill>
          <a:ln/>
          <a:effectLst>
            <a:outerShdw sx="100000" sy="100000" kx="0" ky="0" algn="bl" rotWithShape="0" blurRad="76200" dist="12700" dir="5400000">
              <a:srgbClr val="9AA7C4">
                <a:alpha val="25000"/>
              </a:srgbClr>
            </a:outerShdw>
          </a:effectLst>
        </p:spPr>
      </p:sp>
      <p:sp>
        <p:nvSpPr>
          <p:cNvPr id="7" name="Shape 5"/>
          <p:cNvSpPr/>
          <p:nvPr/>
        </p:nvSpPr>
        <p:spPr>
          <a:xfrm>
            <a:off x="731520" y="1737360"/>
            <a:ext cx="457200" cy="457200"/>
          </a:xfrm>
          <a:prstGeom prst="ellipse">
            <a:avLst/>
          </a:prstGeom>
          <a:solidFill>
            <a:srgbClr val="1E2761"/>
          </a:solidFill>
          <a:ln/>
        </p:spPr>
      </p:sp>
      <p:pic>
        <p:nvPicPr>
          <p:cNvPr id="8" name="Image 0" descr="preencoded.png">    </p:cNvPr>
          <p:cNvPicPr>
            <a:picLocks noChangeAspect="1"/>
          </p:cNvPicPr>
          <p:nvPr/>
        </p:nvPicPr>
        <p:blipFill>
          <a:blip r:embed="rId1"/>
          <a:stretch>
            <a:fillRect/>
          </a:stretch>
        </p:blipFill>
        <p:spPr>
          <a:xfrm>
            <a:off x="850392" y="1856232"/>
            <a:ext cx="219456" cy="219456"/>
          </a:xfrm>
          <a:prstGeom prst="rect">
            <a:avLst/>
          </a:prstGeom>
        </p:spPr>
      </p:pic>
      <p:sp>
        <p:nvSpPr>
          <p:cNvPr id="9" name="Text 6"/>
          <p:cNvSpPr/>
          <p:nvPr/>
        </p:nvSpPr>
        <p:spPr>
          <a:xfrm>
            <a:off x="1298448" y="1773936"/>
            <a:ext cx="2658770" cy="384048"/>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Inbound is ungoverned</a:t>
            </a:r>
            <a:endParaRPr lang="en-US" sz="1300" dirty="0"/>
          </a:p>
        </p:txBody>
      </p:sp>
      <p:sp>
        <p:nvSpPr>
          <p:cNvPr id="10" name="Text 7"/>
          <p:cNvSpPr/>
          <p:nvPr/>
        </p:nvSpPr>
        <p:spPr>
          <a:xfrm>
            <a:off x="749808" y="2231136"/>
            <a:ext cx="3125114" cy="1335024"/>
          </a:xfrm>
          <a:prstGeom prst="rect">
            <a:avLst/>
          </a:prstGeom>
          <a:noFill/>
          <a:ln/>
        </p:spPr>
        <p:txBody>
          <a:bodyPr wrap="square" lIns="0" tIns="0" rIns="0" bIns="0" rtlCol="0" anchor="ctr"/>
          <a:lstStyle/>
          <a:p>
            <a:pPr indent="0" marL="0">
              <a:buNone/>
            </a:pPr>
            <a:r>
              <a:rPr lang="en-US" sz="930" dirty="0">
                <a:solidFill>
                  <a:srgbClr val="1B2440"/>
                </a:solidFill>
                <a:latin typeface="Calibri" pitchFamily="34" charset="0"/>
                <a:ea typeface="Calibri" pitchFamily="34" charset="-122"/>
                <a:cs typeface="Calibri" pitchFamily="34" charset="-120"/>
              </a:rPr>
              <a:t>All gate energy is outbound, but this is a standing channel INTO a classified network: compromised internet org, poisoned AI code, license contamination. Mirror the gates inbound: signed tags, SCA + license scan, inside diff-review vs. previous tag, rebuild from source, inbound ledger.</a:t>
            </a:r>
            <a:endParaRPr lang="en-US" sz="930" dirty="0"/>
          </a:p>
        </p:txBody>
      </p:sp>
      <p:sp>
        <p:nvSpPr>
          <p:cNvPr id="11" name="Shape 8"/>
          <p:cNvSpPr/>
          <p:nvPr/>
        </p:nvSpPr>
        <p:spPr>
          <a:xfrm>
            <a:off x="4332122" y="1572768"/>
            <a:ext cx="3527450" cy="2139696"/>
          </a:xfrm>
          <a:prstGeom prst="roundRect">
            <a:avLst>
              <a:gd name="adj" fmla="val 3419"/>
            </a:avLst>
          </a:prstGeom>
          <a:solidFill>
            <a:srgbClr val="EDF3FC"/>
          </a:solidFill>
          <a:ln/>
          <a:effectLst>
            <a:outerShdw sx="100000" sy="100000" kx="0" ky="0" algn="bl" rotWithShape="0" blurRad="76200" dist="12700" dir="5400000">
              <a:srgbClr val="9AA7C4">
                <a:alpha val="25000"/>
              </a:srgbClr>
            </a:outerShdw>
          </a:effectLst>
        </p:spPr>
      </p:sp>
      <p:sp>
        <p:nvSpPr>
          <p:cNvPr id="12" name="Shape 9"/>
          <p:cNvSpPr/>
          <p:nvPr/>
        </p:nvSpPr>
        <p:spPr>
          <a:xfrm>
            <a:off x="4515002" y="1737360"/>
            <a:ext cx="457200" cy="457200"/>
          </a:xfrm>
          <a:prstGeom prst="ellipse">
            <a:avLst/>
          </a:prstGeom>
          <a:solidFill>
            <a:srgbClr val="1E2761"/>
          </a:solidFill>
          <a:ln/>
        </p:spPr>
      </p:sp>
      <p:pic>
        <p:nvPicPr>
          <p:cNvPr id="13" name="Image 1" descr="preencoded.png">    </p:cNvPr>
          <p:cNvPicPr>
            <a:picLocks noChangeAspect="1"/>
          </p:cNvPicPr>
          <p:nvPr/>
        </p:nvPicPr>
        <p:blipFill>
          <a:blip r:embed="rId2"/>
          <a:stretch>
            <a:fillRect/>
          </a:stretch>
        </p:blipFill>
        <p:spPr>
          <a:xfrm>
            <a:off x="4633874" y="1856232"/>
            <a:ext cx="219456" cy="219456"/>
          </a:xfrm>
          <a:prstGeom prst="rect">
            <a:avLst/>
          </a:prstGeom>
        </p:spPr>
      </p:pic>
      <p:sp>
        <p:nvSpPr>
          <p:cNvPr id="14" name="Text 10"/>
          <p:cNvSpPr/>
          <p:nvPr/>
        </p:nvSpPr>
        <p:spPr>
          <a:xfrm>
            <a:off x="5081930" y="1773936"/>
            <a:ext cx="2658770" cy="384048"/>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The clipboard channel</a:t>
            </a:r>
            <a:endParaRPr lang="en-US" sz="1300" dirty="0"/>
          </a:p>
        </p:txBody>
      </p:sp>
      <p:sp>
        <p:nvSpPr>
          <p:cNvPr id="15" name="Text 11"/>
          <p:cNvSpPr/>
          <p:nvPr/>
        </p:nvSpPr>
        <p:spPr>
          <a:xfrm>
            <a:off x="4533290" y="2231136"/>
            <a:ext cx="3125114" cy="1335024"/>
          </a:xfrm>
          <a:prstGeom prst="rect">
            <a:avLst/>
          </a:prstGeom>
          <a:noFill/>
          <a:ln/>
        </p:spPr>
        <p:txBody>
          <a:bodyPr wrap="square" lIns="0" tIns="0" rIns="0" bIns="0" rtlCol="0" anchor="ctr"/>
          <a:lstStyle/>
          <a:p>
            <a:pPr indent="0" marL="0">
              <a:buNone/>
            </a:pPr>
            <a:r>
              <a:rPr lang="en-US" sz="930" dirty="0">
                <a:solidFill>
                  <a:srgbClr val="1B2440"/>
                </a:solidFill>
                <a:latin typeface="Calibri" pitchFamily="34" charset="0"/>
                <a:ea typeface="Calibri" pitchFamily="34" charset="-122"/>
                <a:cs typeface="Calibri" pitchFamily="34" charset="-120"/>
              </a:rPr>
              <a:t>Gates govern packages; daily work is ad-hoc AI chats. The realistic leak is a dev pasting an error or rule “from memory”. Policy: only Gate-3-cleared content in any prompt; org accounts with zero-retention terms; world bible baked into assistant context so the AI speaks the fiction.</a:t>
            </a:r>
            <a:endParaRPr lang="en-US" sz="930" dirty="0"/>
          </a:p>
        </p:txBody>
      </p:sp>
      <p:sp>
        <p:nvSpPr>
          <p:cNvPr id="16" name="Shape 12"/>
          <p:cNvSpPr/>
          <p:nvPr/>
        </p:nvSpPr>
        <p:spPr>
          <a:xfrm>
            <a:off x="8115605" y="1572768"/>
            <a:ext cx="3527450" cy="2139696"/>
          </a:xfrm>
          <a:prstGeom prst="roundRect">
            <a:avLst>
              <a:gd name="adj" fmla="val 3419"/>
            </a:avLst>
          </a:prstGeom>
          <a:solidFill>
            <a:srgbClr val="EDF3FC"/>
          </a:solidFill>
          <a:ln/>
          <a:effectLst>
            <a:outerShdw sx="100000" sy="100000" kx="0" ky="0" algn="bl" rotWithShape="0" blurRad="76200" dist="12700" dir="5400000">
              <a:srgbClr val="9AA7C4">
                <a:alpha val="25000"/>
              </a:srgbClr>
            </a:outerShdw>
          </a:effectLst>
        </p:spPr>
      </p:sp>
      <p:sp>
        <p:nvSpPr>
          <p:cNvPr id="17" name="Shape 13"/>
          <p:cNvSpPr/>
          <p:nvPr/>
        </p:nvSpPr>
        <p:spPr>
          <a:xfrm>
            <a:off x="8298485" y="1737360"/>
            <a:ext cx="457200" cy="457200"/>
          </a:xfrm>
          <a:prstGeom prst="ellipse">
            <a:avLst/>
          </a:prstGeom>
          <a:solidFill>
            <a:srgbClr val="1E2761"/>
          </a:solidFill>
          <a:ln/>
        </p:spPr>
      </p:sp>
      <p:pic>
        <p:nvPicPr>
          <p:cNvPr id="18" name="Image 2" descr="preencoded.png">    </p:cNvPr>
          <p:cNvPicPr>
            <a:picLocks noChangeAspect="1"/>
          </p:cNvPicPr>
          <p:nvPr/>
        </p:nvPicPr>
        <p:blipFill>
          <a:blip r:embed="rId3"/>
          <a:stretch>
            <a:fillRect/>
          </a:stretch>
        </p:blipFill>
        <p:spPr>
          <a:xfrm>
            <a:off x="8417357" y="1856232"/>
            <a:ext cx="219456" cy="219456"/>
          </a:xfrm>
          <a:prstGeom prst="rect">
            <a:avLst/>
          </a:prstGeom>
        </p:spPr>
      </p:pic>
      <p:sp>
        <p:nvSpPr>
          <p:cNvPr id="19" name="Text 14"/>
          <p:cNvSpPr/>
          <p:nvPr/>
        </p:nvSpPr>
        <p:spPr>
          <a:xfrm>
            <a:off x="8865413" y="1773936"/>
            <a:ext cx="2658770" cy="384048"/>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Angular keeps running</a:t>
            </a:r>
            <a:endParaRPr lang="en-US" sz="1300" dirty="0"/>
          </a:p>
        </p:txBody>
      </p:sp>
      <p:sp>
        <p:nvSpPr>
          <p:cNvPr id="20" name="Text 15"/>
          <p:cNvSpPr/>
          <p:nvPr/>
        </p:nvSpPr>
        <p:spPr>
          <a:xfrm>
            <a:off x="8316773" y="2231136"/>
            <a:ext cx="3125114" cy="1335024"/>
          </a:xfrm>
          <a:prstGeom prst="rect">
            <a:avLst/>
          </a:prstGeom>
          <a:noFill/>
          <a:ln/>
        </p:spPr>
        <p:txBody>
          <a:bodyPr wrap="square" lIns="0" tIns="0" rIns="0" bIns="0" rtlCol="0" anchor="ctr"/>
          <a:lstStyle/>
          <a:p>
            <a:pPr indent="0" marL="0">
              <a:buNone/>
            </a:pPr>
            <a:r>
              <a:rPr lang="en-US" sz="930" dirty="0">
                <a:solidFill>
                  <a:srgbClr val="1B2440"/>
                </a:solidFill>
                <a:latin typeface="Calibri" pitchFamily="34" charset="0"/>
                <a:ea typeface="Calibri" pitchFamily="34" charset="-122"/>
                <a:cs typeface="Calibri" pitchFamily="34" charset="-120"/>
              </a:rPr>
              <a:t>The legacy app needs bugfixes and changes for 1–3 more years — unmanaged, it re-absorbs the core team. Strangler policy per feature at inventory: frozen / sustained (a real contractor role) / in-migration (Angular side feature-frozen once the contract egresses). Swap route-by-route via SSPA.</a:t>
            </a:r>
            <a:endParaRPr lang="en-US" sz="930" dirty="0"/>
          </a:p>
        </p:txBody>
      </p:sp>
      <p:sp>
        <p:nvSpPr>
          <p:cNvPr id="21" name="Shape 16"/>
          <p:cNvSpPr/>
          <p:nvPr/>
        </p:nvSpPr>
        <p:spPr>
          <a:xfrm>
            <a:off x="548640" y="3858768"/>
            <a:ext cx="3527450" cy="2139696"/>
          </a:xfrm>
          <a:prstGeom prst="roundRect">
            <a:avLst>
              <a:gd name="adj" fmla="val 3419"/>
            </a:avLst>
          </a:prstGeom>
          <a:solidFill>
            <a:srgbClr val="EDF3FC"/>
          </a:solidFill>
          <a:ln/>
          <a:effectLst>
            <a:outerShdw sx="100000" sy="100000" kx="0" ky="0" algn="bl" rotWithShape="0" blurRad="76200" dist="12700" dir="5400000">
              <a:srgbClr val="9AA7C4">
                <a:alpha val="25000"/>
              </a:srgbClr>
            </a:outerShdw>
          </a:effectLst>
        </p:spPr>
      </p:sp>
      <p:sp>
        <p:nvSpPr>
          <p:cNvPr id="22" name="Shape 17"/>
          <p:cNvSpPr/>
          <p:nvPr/>
        </p:nvSpPr>
        <p:spPr>
          <a:xfrm>
            <a:off x="731520" y="4023360"/>
            <a:ext cx="457200" cy="457200"/>
          </a:xfrm>
          <a:prstGeom prst="ellipse">
            <a:avLst/>
          </a:prstGeom>
          <a:solidFill>
            <a:srgbClr val="1E2761"/>
          </a:solidFill>
          <a:ln/>
        </p:spPr>
      </p:sp>
      <p:pic>
        <p:nvPicPr>
          <p:cNvPr id="23" name="Image 3" descr="preencoded.png">    </p:cNvPr>
          <p:cNvPicPr>
            <a:picLocks noChangeAspect="1"/>
          </p:cNvPicPr>
          <p:nvPr/>
        </p:nvPicPr>
        <p:blipFill>
          <a:blip r:embed="rId4"/>
          <a:stretch>
            <a:fillRect/>
          </a:stretch>
        </p:blipFill>
        <p:spPr>
          <a:xfrm>
            <a:off x="850392" y="4142232"/>
            <a:ext cx="219456" cy="219456"/>
          </a:xfrm>
          <a:prstGeom prst="rect">
            <a:avLst/>
          </a:prstGeom>
        </p:spPr>
      </p:pic>
      <p:sp>
        <p:nvSpPr>
          <p:cNvPr id="24" name="Text 18"/>
          <p:cNvSpPr/>
          <p:nvPr/>
        </p:nvSpPr>
        <p:spPr>
          <a:xfrm>
            <a:off x="1298448" y="4059936"/>
            <a:ext cx="2658770" cy="384048"/>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Mapping at team scale</a:t>
            </a:r>
            <a:endParaRPr lang="en-US" sz="1300" dirty="0"/>
          </a:p>
        </p:txBody>
      </p:sp>
      <p:sp>
        <p:nvSpPr>
          <p:cNvPr id="25" name="Text 19"/>
          <p:cNvSpPr/>
          <p:nvPr/>
        </p:nvSpPr>
        <p:spPr>
          <a:xfrm>
            <a:off x="749808" y="4517136"/>
            <a:ext cx="3125114" cy="1335024"/>
          </a:xfrm>
          <a:prstGeom prst="rect">
            <a:avLst/>
          </a:prstGeom>
          <a:noFill/>
          <a:ln/>
        </p:spPr>
        <p:txBody>
          <a:bodyPr wrap="square" lIns="0" tIns="0" rIns="0" bIns="0" rtlCol="0" anchor="ctr"/>
          <a:lstStyle/>
          <a:p>
            <a:pPr indent="0" marL="0">
              <a:buNone/>
            </a:pPr>
            <a:r>
              <a:rPr lang="en-US" sz="930" dirty="0">
                <a:solidFill>
                  <a:srgbClr val="1B2440"/>
                </a:solidFill>
                <a:latin typeface="Calibri" pitchFamily="34" charset="0"/>
                <a:ea typeface="Calibri" pitchFamily="34" charset="-122"/>
                <a:cs typeface="Calibri" pitchFamily="34" charset="-120"/>
              </a:rPr>
              <a:t>Per-extraction artisanal mappings will collide (two features → “Item”) and contradict, silently corrupting reversals. Build ONE governed mapping registry inside: owner, versioned superset, blocking collision checks, every egress pinned to a registry version.</a:t>
            </a:r>
            <a:endParaRPr lang="en-US" sz="930" dirty="0"/>
          </a:p>
        </p:txBody>
      </p:sp>
      <p:sp>
        <p:nvSpPr>
          <p:cNvPr id="26" name="Shape 20"/>
          <p:cNvSpPr/>
          <p:nvPr/>
        </p:nvSpPr>
        <p:spPr>
          <a:xfrm>
            <a:off x="4332122" y="3858768"/>
            <a:ext cx="3527450" cy="2139696"/>
          </a:xfrm>
          <a:prstGeom prst="roundRect">
            <a:avLst>
              <a:gd name="adj" fmla="val 3419"/>
            </a:avLst>
          </a:prstGeom>
          <a:solidFill>
            <a:srgbClr val="EDF3FC"/>
          </a:solidFill>
          <a:ln/>
          <a:effectLst>
            <a:outerShdw sx="100000" sy="100000" kx="0" ky="0" algn="bl" rotWithShape="0" blurRad="76200" dist="12700" dir="5400000">
              <a:srgbClr val="9AA7C4">
                <a:alpha val="25000"/>
              </a:srgbClr>
            </a:outerShdw>
          </a:effectLst>
        </p:spPr>
      </p:sp>
      <p:sp>
        <p:nvSpPr>
          <p:cNvPr id="27" name="Shape 21"/>
          <p:cNvSpPr/>
          <p:nvPr/>
        </p:nvSpPr>
        <p:spPr>
          <a:xfrm>
            <a:off x="4515002" y="4023360"/>
            <a:ext cx="457200" cy="457200"/>
          </a:xfrm>
          <a:prstGeom prst="ellipse">
            <a:avLst/>
          </a:prstGeom>
          <a:solidFill>
            <a:srgbClr val="1E2761"/>
          </a:solidFill>
          <a:ln/>
        </p:spPr>
      </p:sp>
      <p:pic>
        <p:nvPicPr>
          <p:cNvPr id="28" name="Image 4" descr="preencoded.png">    </p:cNvPr>
          <p:cNvPicPr>
            <a:picLocks noChangeAspect="1"/>
          </p:cNvPicPr>
          <p:nvPr/>
        </p:nvPicPr>
        <p:blipFill>
          <a:blip r:embed="rId5"/>
          <a:stretch>
            <a:fillRect/>
          </a:stretch>
        </p:blipFill>
        <p:spPr>
          <a:xfrm>
            <a:off x="4633874" y="4142232"/>
            <a:ext cx="219456" cy="219456"/>
          </a:xfrm>
          <a:prstGeom prst="rect">
            <a:avLst/>
          </a:prstGeom>
        </p:spPr>
      </p:pic>
      <p:sp>
        <p:nvSpPr>
          <p:cNvPr id="29" name="Text 22"/>
          <p:cNvSpPr/>
          <p:nvPr/>
        </p:nvSpPr>
        <p:spPr>
          <a:xfrm>
            <a:off x="5081930" y="4059936"/>
            <a:ext cx="2658770" cy="384048"/>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Paradigm bus factor = 2</a:t>
            </a:r>
            <a:endParaRPr lang="en-US" sz="1300" dirty="0"/>
          </a:p>
        </p:txBody>
      </p:sp>
      <p:sp>
        <p:nvSpPr>
          <p:cNvPr id="30" name="Text 23"/>
          <p:cNvSpPr/>
          <p:nvPr/>
        </p:nvSpPr>
        <p:spPr>
          <a:xfrm>
            <a:off x="4533290" y="4517136"/>
            <a:ext cx="3125114" cy="1335024"/>
          </a:xfrm>
          <a:prstGeom prst="rect">
            <a:avLst/>
          </a:prstGeom>
          <a:noFill/>
          <a:ln/>
        </p:spPr>
        <p:txBody>
          <a:bodyPr wrap="square" lIns="0" tIns="0" rIns="0" bIns="0" rtlCol="0" anchor="ctr"/>
          <a:lstStyle/>
          <a:p>
            <a:pPr indent="0" marL="0">
              <a:buNone/>
            </a:pPr>
            <a:r>
              <a:rPr lang="en-US" sz="930" dirty="0">
                <a:solidFill>
                  <a:srgbClr val="1B2440"/>
                </a:solidFill>
                <a:latin typeface="Calibri" pitchFamily="34" charset="0"/>
                <a:ea typeface="Calibri" pitchFamily="34" charset="-122"/>
                <a:cs typeface="Calibri" pitchFamily="34" charset="-120"/>
              </a:rPr>
              <a:t>The workflow lives in two heads while we carefully de-risk contractor knowledge — the irony. Phase 1 exit criterion: gates written into accredited security SOPs, runbooks for every step, and someone outside the founding pair runs a full loop solo.</a:t>
            </a:r>
            <a:endParaRPr lang="en-US" sz="930" dirty="0"/>
          </a:p>
        </p:txBody>
      </p:sp>
      <p:sp>
        <p:nvSpPr>
          <p:cNvPr id="31" name="Shape 24"/>
          <p:cNvSpPr/>
          <p:nvPr/>
        </p:nvSpPr>
        <p:spPr>
          <a:xfrm>
            <a:off x="8115605" y="3858768"/>
            <a:ext cx="3527450" cy="2139696"/>
          </a:xfrm>
          <a:prstGeom prst="roundRect">
            <a:avLst>
              <a:gd name="adj" fmla="val 3419"/>
            </a:avLst>
          </a:prstGeom>
          <a:solidFill>
            <a:srgbClr val="EDF3FC"/>
          </a:solidFill>
          <a:ln/>
          <a:effectLst>
            <a:outerShdw sx="100000" sy="100000" kx="0" ky="0" algn="bl" rotWithShape="0" blurRad="76200" dist="12700" dir="5400000">
              <a:srgbClr val="9AA7C4">
                <a:alpha val="25000"/>
              </a:srgbClr>
            </a:outerShdw>
          </a:effectLst>
        </p:spPr>
      </p:sp>
      <p:sp>
        <p:nvSpPr>
          <p:cNvPr id="32" name="Shape 25"/>
          <p:cNvSpPr/>
          <p:nvPr/>
        </p:nvSpPr>
        <p:spPr>
          <a:xfrm>
            <a:off x="8298485" y="4023360"/>
            <a:ext cx="457200" cy="457200"/>
          </a:xfrm>
          <a:prstGeom prst="ellipse">
            <a:avLst/>
          </a:prstGeom>
          <a:solidFill>
            <a:srgbClr val="1E2761"/>
          </a:solidFill>
          <a:ln/>
        </p:spPr>
      </p:sp>
      <p:pic>
        <p:nvPicPr>
          <p:cNvPr id="33" name="Image 5" descr="preencoded.png">    </p:cNvPr>
          <p:cNvPicPr>
            <a:picLocks noChangeAspect="1"/>
          </p:cNvPicPr>
          <p:nvPr/>
        </p:nvPicPr>
        <p:blipFill>
          <a:blip r:embed="rId6"/>
          <a:stretch>
            <a:fillRect/>
          </a:stretch>
        </p:blipFill>
        <p:spPr>
          <a:xfrm>
            <a:off x="8417357" y="4142232"/>
            <a:ext cx="219456" cy="219456"/>
          </a:xfrm>
          <a:prstGeom prst="rect">
            <a:avLst/>
          </a:prstGeom>
        </p:spPr>
      </p:pic>
      <p:sp>
        <p:nvSpPr>
          <p:cNvPr id="34" name="Text 26"/>
          <p:cNvSpPr/>
          <p:nvPr/>
        </p:nvSpPr>
        <p:spPr>
          <a:xfrm>
            <a:off x="8865413" y="4059936"/>
            <a:ext cx="2658770" cy="384048"/>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Fiction ≠ reality coverage</a:t>
            </a:r>
            <a:endParaRPr lang="en-US" sz="1300" dirty="0"/>
          </a:p>
        </p:txBody>
      </p:sp>
      <p:sp>
        <p:nvSpPr>
          <p:cNvPr id="35" name="Text 27"/>
          <p:cNvSpPr/>
          <p:nvPr/>
        </p:nvSpPr>
        <p:spPr>
          <a:xfrm>
            <a:off x="8316773" y="4517136"/>
            <a:ext cx="3125114" cy="1335024"/>
          </a:xfrm>
          <a:prstGeom prst="rect">
            <a:avLst/>
          </a:prstGeom>
          <a:noFill/>
          <a:ln/>
        </p:spPr>
        <p:txBody>
          <a:bodyPr wrap="square" lIns="0" tIns="0" rIns="0" bIns="0" rtlCol="0" anchor="ctr"/>
          <a:lstStyle/>
          <a:p>
            <a:pPr indent="0" marL="0">
              <a:buNone/>
            </a:pPr>
            <a:r>
              <a:rPr lang="en-US" sz="930" dirty="0">
                <a:solidFill>
                  <a:srgbClr val="1B2440"/>
                </a:solidFill>
                <a:latin typeface="Calibri" pitchFamily="34" charset="0"/>
                <a:ea typeface="Calibri" pitchFamily="34" charset="-122"/>
                <a:cs typeface="Calibri" pitchFamily="34" charset="-120"/>
              </a:rPr>
              <a:t>Playwright-green outside proves the FICTIONAL pack's branches, not the real ones. Require pack equivalence: same rule count, branch shapes, boundary classes — different values; generate both skeletons from one inside source; audit branch coverage inside on early integrations.</a:t>
            </a:r>
            <a:endParaRPr lang="en-US" sz="930" dirty="0"/>
          </a:p>
        </p:txBody>
      </p:sp>
      <p:sp>
        <p:nvSpPr>
          <p:cNvPr id="36" name="Text 28"/>
          <p:cNvSpPr/>
          <p:nvPr/>
        </p:nvSpPr>
        <p:spPr>
          <a:xfrm>
            <a:off x="548640" y="6199632"/>
            <a:ext cx="11094415" cy="320040"/>
          </a:xfrm>
          <a:prstGeom prst="rect">
            <a:avLst/>
          </a:prstGeom>
          <a:noFill/>
          <a:ln/>
        </p:spPr>
        <p:txBody>
          <a:bodyPr wrap="square" lIns="0" tIns="0" rIns="0" bIns="0" rtlCol="0" anchor="ctr"/>
          <a:lstStyle/>
          <a:p>
            <a:pPr algn="ctr" indent="0" marL="0">
              <a:buNone/>
            </a:pPr>
            <a:r>
              <a:rPr lang="en-US" sz="1200" i="1" dirty="0">
                <a:solidFill>
                  <a:srgbClr val="5A6B8C"/>
                </a:solidFill>
                <a:latin typeface="Calibri" pitchFamily="34" charset="0"/>
                <a:ea typeface="Calibri" pitchFamily="34" charset="-122"/>
                <a:cs typeface="Calibri" pitchFamily="34" charset="-120"/>
              </a:rPr>
              <a:t>Outbound gates protect the mission; inbound gates protect the network. Both directions, or neither is credible.</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algn="l" indent="0" marL="0">
              <a:buNone/>
            </a:pPr>
            <a:r>
              <a:rPr lang="en-US" sz="900" dirty="0">
                <a:solidFill>
                  <a:srgbClr val="5A6B8C"/>
                </a:solidFill>
                <a:latin typeface="Calibri" pitchFamily="34" charset="0"/>
                <a:ea typeface="Calibri" pitchFamily="34" charset="-122"/>
                <a:cs typeface="Calibri" pitchFamily="34" charset="-120"/>
              </a:rPr>
              <a:t>Internet-First, Airgap-Final</a:t>
            </a:r>
            <a:endParaRPr lang="en-US" sz="900" dirty="0"/>
          </a:p>
        </p:txBody>
      </p:sp>
      <p:sp>
        <p:nvSpPr>
          <p:cNvPr id="3" name="Text 1"/>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A6B8C"/>
                </a:solidFill>
                <a:latin typeface="Calibri" pitchFamily="34" charset="0"/>
                <a:ea typeface="Calibri" pitchFamily="34" charset="-122"/>
                <a:cs typeface="Calibri" pitchFamily="34" charset="-120"/>
              </a:rPr>
              <a:t>15</a:t>
            </a:r>
            <a:endParaRPr lang="en-US" sz="900" dirty="0"/>
          </a:p>
        </p:txBody>
      </p:sp>
      <p:sp>
        <p:nvSpPr>
          <p:cNvPr id="4" name="Text 2"/>
          <p:cNvSpPr/>
          <p:nvPr/>
        </p:nvSpPr>
        <p:spPr>
          <a:xfrm>
            <a:off x="548640" y="384048"/>
            <a:ext cx="11094415" cy="274320"/>
          </a:xfrm>
          <a:prstGeom prst="rect">
            <a:avLst/>
          </a:prstGeom>
          <a:noFill/>
          <a:ln/>
        </p:spPr>
        <p:txBody>
          <a:bodyPr wrap="square" lIns="0" tIns="0" rIns="0" bIns="0" rtlCol="0" anchor="ctr"/>
          <a:lstStyle/>
          <a:p>
            <a:pPr indent="0" marL="0">
              <a:buNone/>
            </a:pPr>
            <a:r>
              <a:rPr lang="en-US" sz="1200" b="1" spc="300" kern="0" dirty="0">
                <a:solidFill>
                  <a:srgbClr val="5A6B8C"/>
                </a:solidFill>
                <a:latin typeface="Calibri" pitchFamily="34" charset="0"/>
                <a:ea typeface="Calibri" pitchFamily="34" charset="-122"/>
                <a:cs typeface="Calibri" pitchFamily="34" charset="-120"/>
              </a:rPr>
              <a:t>SECOND LOOK · UPSIDE NOT YET CLAIMED</a:t>
            </a:r>
            <a:endParaRPr lang="en-US" sz="1200" dirty="0"/>
          </a:p>
        </p:txBody>
      </p:sp>
      <p:sp>
        <p:nvSpPr>
          <p:cNvPr id="5" name="Text 3"/>
          <p:cNvSpPr/>
          <p:nvPr/>
        </p:nvSpPr>
        <p:spPr>
          <a:xfrm>
            <a:off x="548640" y="658368"/>
            <a:ext cx="11094415" cy="621792"/>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Four opportunities on the table</a:t>
            </a:r>
            <a:endParaRPr lang="en-US" sz="3000" dirty="0"/>
          </a:p>
        </p:txBody>
      </p:sp>
      <p:sp>
        <p:nvSpPr>
          <p:cNvPr id="6" name="Shape 4"/>
          <p:cNvSpPr/>
          <p:nvPr/>
        </p:nvSpPr>
        <p:spPr>
          <a:xfrm>
            <a:off x="548640" y="1627632"/>
            <a:ext cx="5400904" cy="2121408"/>
          </a:xfrm>
          <a:prstGeom prst="roundRect">
            <a:avLst>
              <a:gd name="adj" fmla="val 3448"/>
            </a:avLst>
          </a:prstGeom>
          <a:solidFill>
            <a:srgbClr val="EAF4EF"/>
          </a:solidFill>
          <a:ln/>
          <a:effectLst>
            <a:outerShdw sx="100000" sy="100000" kx="0" ky="0" algn="bl" rotWithShape="0" blurRad="76200" dist="12700" dir="5400000">
              <a:srgbClr val="9AA7C4">
                <a:alpha val="25000"/>
              </a:srgbClr>
            </a:outerShdw>
          </a:effectLst>
        </p:spPr>
      </p:sp>
      <p:sp>
        <p:nvSpPr>
          <p:cNvPr id="7" name="Shape 5"/>
          <p:cNvSpPr/>
          <p:nvPr/>
        </p:nvSpPr>
        <p:spPr>
          <a:xfrm>
            <a:off x="749808" y="1810512"/>
            <a:ext cx="475488" cy="475488"/>
          </a:xfrm>
          <a:prstGeom prst="ellipse">
            <a:avLst/>
          </a:prstGeom>
          <a:solidFill>
            <a:srgbClr val="2E7D5B"/>
          </a:solidFill>
          <a:ln/>
        </p:spPr>
      </p:sp>
      <p:pic>
        <p:nvPicPr>
          <p:cNvPr id="8" name="Image 0" descr="preencoded.png">    </p:cNvPr>
          <p:cNvPicPr>
            <a:picLocks noChangeAspect="1"/>
          </p:cNvPicPr>
          <p:nvPr/>
        </p:nvPicPr>
        <p:blipFill>
          <a:blip r:embed="rId1"/>
          <a:stretch>
            <a:fillRect/>
          </a:stretch>
        </p:blipFill>
        <p:spPr>
          <a:xfrm>
            <a:off x="873435" y="1934139"/>
            <a:ext cx="228234" cy="228234"/>
          </a:xfrm>
          <a:prstGeom prst="rect">
            <a:avLst/>
          </a:prstGeom>
        </p:spPr>
      </p:pic>
      <p:sp>
        <p:nvSpPr>
          <p:cNvPr id="9" name="Text 6"/>
          <p:cNvSpPr/>
          <p:nvPr/>
        </p:nvSpPr>
        <p:spPr>
          <a:xfrm>
            <a:off x="1353312" y="1856232"/>
            <a:ext cx="4440784" cy="365760"/>
          </a:xfrm>
          <a:prstGeom prst="rect">
            <a:avLst/>
          </a:prstGeom>
          <a:noFill/>
          <a:ln/>
        </p:spPr>
        <p:txBody>
          <a:bodyPr wrap="square" lIns="0" tIns="0" rIns="0" bIns="0" rtlCol="0" anchor="ctr"/>
          <a:lstStyle/>
          <a:p>
            <a:pPr indent="0" marL="0">
              <a:buNone/>
            </a:pPr>
            <a:r>
              <a:rPr lang="en-US" sz="1450" b="1" dirty="0">
                <a:solidFill>
                  <a:srgbClr val="2E7D5B"/>
                </a:solidFill>
                <a:latin typeface="Calibri" pitchFamily="34" charset="0"/>
                <a:ea typeface="Calibri" pitchFamily="34" charset="-122"/>
                <a:cs typeface="Calibri" pitchFamily="34" charset="-120"/>
              </a:rPr>
              <a:t>Win at the production gate</a:t>
            </a:r>
            <a:endParaRPr lang="en-US" sz="1450" dirty="0"/>
          </a:p>
        </p:txBody>
      </p:sp>
      <p:sp>
        <p:nvSpPr>
          <p:cNvPr id="10" name="Text 7"/>
          <p:cNvSpPr/>
          <p:nvPr/>
        </p:nvSpPr>
        <p:spPr>
          <a:xfrm>
            <a:off x="777240" y="2313432"/>
            <a:ext cx="4943704" cy="1252728"/>
          </a:xfrm>
          <a:prstGeom prst="rect">
            <a:avLst/>
          </a:prstGeom>
          <a:noFill/>
          <a:ln/>
        </p:spPr>
        <p:txBody>
          <a:bodyPr wrap="square" lIns="0" tIns="0" rIns="0" bIns="0" rtlCol="0" anchor="ctr"/>
          <a:lstStyle/>
          <a:p>
            <a:pPr indent="0" marL="0">
              <a:buNone/>
            </a:pPr>
            <a:r>
              <a:rPr lang="en-US" sz="1060" dirty="0">
                <a:solidFill>
                  <a:srgbClr val="1B2440"/>
                </a:solidFill>
                <a:latin typeface="Calibri" pitchFamily="34" charset="0"/>
                <a:ea typeface="Calibri" pitchFamily="34" charset="-122"/>
                <a:cs typeface="Calibri" pitchFamily="34" charset="-120"/>
              </a:rPr>
              <a:t>The user teams are fearless-only BY DESIGN — they carry none of our security burden, so we can't out-sprint them on their scoreboard, and as direct competitors we can't absorb them. Move the finish line instead: publish a neutral onboarding standard for ANY MFE entering the production platform we operate (contracts, tests, SAST — the bar we already meet ourselves). Either they meet it (they've adopted our paradigm on our terms) or they stall at the one gate their model can't pass. Let production do the arguing — never badmouth the demos.</a:t>
            </a:r>
            <a:endParaRPr lang="en-US" sz="1060" dirty="0"/>
          </a:p>
        </p:txBody>
      </p:sp>
      <p:sp>
        <p:nvSpPr>
          <p:cNvPr id="11" name="Shape 8"/>
          <p:cNvSpPr/>
          <p:nvPr/>
        </p:nvSpPr>
        <p:spPr>
          <a:xfrm>
            <a:off x="6242152" y="1627632"/>
            <a:ext cx="5400904" cy="2121408"/>
          </a:xfrm>
          <a:prstGeom prst="roundRect">
            <a:avLst>
              <a:gd name="adj" fmla="val 3448"/>
            </a:avLst>
          </a:prstGeom>
          <a:solidFill>
            <a:srgbClr val="EAF4EF"/>
          </a:solidFill>
          <a:ln/>
          <a:effectLst>
            <a:outerShdw sx="100000" sy="100000" kx="0" ky="0" algn="bl" rotWithShape="0" blurRad="76200" dist="12700" dir="5400000">
              <a:srgbClr val="9AA7C4">
                <a:alpha val="25000"/>
              </a:srgbClr>
            </a:outerShdw>
          </a:effectLst>
        </p:spPr>
      </p:sp>
      <p:sp>
        <p:nvSpPr>
          <p:cNvPr id="12" name="Shape 9"/>
          <p:cNvSpPr/>
          <p:nvPr/>
        </p:nvSpPr>
        <p:spPr>
          <a:xfrm>
            <a:off x="6443320" y="1810512"/>
            <a:ext cx="475488" cy="475488"/>
          </a:xfrm>
          <a:prstGeom prst="ellipse">
            <a:avLst/>
          </a:prstGeom>
          <a:solidFill>
            <a:srgbClr val="2E7D5B"/>
          </a:solidFill>
          <a:ln/>
        </p:spPr>
      </p:sp>
      <p:pic>
        <p:nvPicPr>
          <p:cNvPr id="13" name="Image 1" descr="preencoded.png">    </p:cNvPr>
          <p:cNvPicPr>
            <a:picLocks noChangeAspect="1"/>
          </p:cNvPicPr>
          <p:nvPr/>
        </p:nvPicPr>
        <p:blipFill>
          <a:blip r:embed="rId2"/>
          <a:stretch>
            <a:fillRect/>
          </a:stretch>
        </p:blipFill>
        <p:spPr>
          <a:xfrm>
            <a:off x="6566946" y="1934139"/>
            <a:ext cx="228234" cy="228234"/>
          </a:xfrm>
          <a:prstGeom prst="rect">
            <a:avLst/>
          </a:prstGeom>
        </p:spPr>
      </p:pic>
      <p:sp>
        <p:nvSpPr>
          <p:cNvPr id="14" name="Text 10"/>
          <p:cNvSpPr/>
          <p:nvPr/>
        </p:nvSpPr>
        <p:spPr>
          <a:xfrm>
            <a:off x="7046824" y="1856232"/>
            <a:ext cx="4440784" cy="365760"/>
          </a:xfrm>
          <a:prstGeom prst="rect">
            <a:avLst/>
          </a:prstGeom>
          <a:noFill/>
          <a:ln/>
        </p:spPr>
        <p:txBody>
          <a:bodyPr wrap="square" lIns="0" tIns="0" rIns="0" bIns="0" rtlCol="0" anchor="ctr"/>
          <a:lstStyle/>
          <a:p>
            <a:pPr indent="0" marL="0">
              <a:buNone/>
            </a:pPr>
            <a:r>
              <a:rPr lang="en-US" sz="1450" b="1" dirty="0">
                <a:solidFill>
                  <a:srgbClr val="2E7D5B"/>
                </a:solidFill>
                <a:latin typeface="Calibri" pitchFamily="34" charset="0"/>
                <a:ea typeface="Calibri" pitchFamily="34" charset="-122"/>
                <a:cs typeface="Calibri" pitchFamily="34" charset="-120"/>
              </a:rPr>
              <a:t>Match them in demo-space</a:t>
            </a:r>
            <a:endParaRPr lang="en-US" sz="1450" dirty="0"/>
          </a:p>
        </p:txBody>
      </p:sp>
      <p:sp>
        <p:nvSpPr>
          <p:cNvPr id="15" name="Text 11"/>
          <p:cNvSpPr/>
          <p:nvPr/>
        </p:nvSpPr>
        <p:spPr>
          <a:xfrm>
            <a:off x="6470752" y="2313432"/>
            <a:ext cx="4943704" cy="1252728"/>
          </a:xfrm>
          <a:prstGeom prst="rect">
            <a:avLst/>
          </a:prstGeom>
          <a:noFill/>
          <a:ln/>
        </p:spPr>
        <p:txBody>
          <a:bodyPr wrap="square" lIns="0" tIns="0" rIns="0" bIns="0" rtlCol="0" anchor="ctr"/>
          <a:lstStyle/>
          <a:p>
            <a:pPr indent="0" marL="0">
              <a:buNone/>
            </a:pPr>
            <a:r>
              <a:rPr lang="en-US" sz="1060" dirty="0">
                <a:solidFill>
                  <a:srgbClr val="1B2440"/>
                </a:solidFill>
                <a:latin typeface="Calibri" pitchFamily="34" charset="0"/>
                <a:ea typeface="Calibri" pitchFamily="34" charset="-122"/>
                <a:cs typeface="Calibri" pitchFamily="34" charset="-120"/>
              </a:rPr>
              <a:t>The MSW-backed passive shell carries NONE of our security tax — mocks touch nothing classified — so on demos we are exactly as fast as the vibe-coders. Put clickable, realistic-data prototypes in front of stakeholders in week one: fearless demos, disciplined delivery. This also fixes the named root cause the plan otherwise skips — requirements gathering — because users react to behavior, not documents.</a:t>
            </a:r>
            <a:endParaRPr lang="en-US" sz="1060" dirty="0"/>
          </a:p>
        </p:txBody>
      </p:sp>
      <p:sp>
        <p:nvSpPr>
          <p:cNvPr id="16" name="Shape 12"/>
          <p:cNvSpPr/>
          <p:nvPr/>
        </p:nvSpPr>
        <p:spPr>
          <a:xfrm>
            <a:off x="548640" y="3913632"/>
            <a:ext cx="5400904" cy="2121408"/>
          </a:xfrm>
          <a:prstGeom prst="roundRect">
            <a:avLst>
              <a:gd name="adj" fmla="val 3448"/>
            </a:avLst>
          </a:prstGeom>
          <a:solidFill>
            <a:srgbClr val="EAF4EF"/>
          </a:solidFill>
          <a:ln/>
          <a:effectLst>
            <a:outerShdw sx="100000" sy="100000" kx="0" ky="0" algn="bl" rotWithShape="0" blurRad="76200" dist="12700" dir="5400000">
              <a:srgbClr val="9AA7C4">
                <a:alpha val="25000"/>
              </a:srgbClr>
            </a:outerShdw>
          </a:effectLst>
        </p:spPr>
      </p:sp>
      <p:sp>
        <p:nvSpPr>
          <p:cNvPr id="17" name="Shape 13"/>
          <p:cNvSpPr/>
          <p:nvPr/>
        </p:nvSpPr>
        <p:spPr>
          <a:xfrm>
            <a:off x="749808" y="4096512"/>
            <a:ext cx="475488" cy="475488"/>
          </a:xfrm>
          <a:prstGeom prst="ellipse">
            <a:avLst/>
          </a:prstGeom>
          <a:solidFill>
            <a:srgbClr val="2E7D5B"/>
          </a:solidFill>
          <a:ln/>
        </p:spPr>
      </p:sp>
      <p:pic>
        <p:nvPicPr>
          <p:cNvPr id="18" name="Image 2" descr="preencoded.png">    </p:cNvPr>
          <p:cNvPicPr>
            <a:picLocks noChangeAspect="1"/>
          </p:cNvPicPr>
          <p:nvPr/>
        </p:nvPicPr>
        <p:blipFill>
          <a:blip r:embed="rId3"/>
          <a:stretch>
            <a:fillRect/>
          </a:stretch>
        </p:blipFill>
        <p:spPr>
          <a:xfrm>
            <a:off x="873435" y="4220139"/>
            <a:ext cx="228234" cy="228234"/>
          </a:xfrm>
          <a:prstGeom prst="rect">
            <a:avLst/>
          </a:prstGeom>
        </p:spPr>
      </p:pic>
      <p:sp>
        <p:nvSpPr>
          <p:cNvPr id="19" name="Text 14"/>
          <p:cNvSpPr/>
          <p:nvPr/>
        </p:nvSpPr>
        <p:spPr>
          <a:xfrm>
            <a:off x="1353312" y="4142232"/>
            <a:ext cx="4440784" cy="365760"/>
          </a:xfrm>
          <a:prstGeom prst="rect">
            <a:avLst/>
          </a:prstGeom>
          <a:noFill/>
          <a:ln/>
        </p:spPr>
        <p:txBody>
          <a:bodyPr wrap="square" lIns="0" tIns="0" rIns="0" bIns="0" rtlCol="0" anchor="ctr"/>
          <a:lstStyle/>
          <a:p>
            <a:pPr indent="0" marL="0">
              <a:buNone/>
            </a:pPr>
            <a:r>
              <a:rPr lang="en-US" sz="1450" b="1" dirty="0">
                <a:solidFill>
                  <a:srgbClr val="2E7D5B"/>
                </a:solidFill>
                <a:latin typeface="Calibri" pitchFamily="34" charset="0"/>
                <a:ea typeface="Calibri" pitchFamily="34" charset="-122"/>
                <a:cs typeface="Calibri" pitchFamily="34" charset="-120"/>
              </a:rPr>
              <a:t>Extend to Spring early</a:t>
            </a:r>
            <a:endParaRPr lang="en-US" sz="1450" dirty="0"/>
          </a:p>
        </p:txBody>
      </p:sp>
      <p:sp>
        <p:nvSpPr>
          <p:cNvPr id="20" name="Text 15"/>
          <p:cNvSpPr/>
          <p:nvPr/>
        </p:nvSpPr>
        <p:spPr>
          <a:xfrm>
            <a:off x="777240" y="4599432"/>
            <a:ext cx="4943704" cy="1252728"/>
          </a:xfrm>
          <a:prstGeom prst="rect">
            <a:avLst/>
          </a:prstGeom>
          <a:noFill/>
          <a:ln/>
        </p:spPr>
        <p:txBody>
          <a:bodyPr wrap="square" lIns="0" tIns="0" rIns="0" bIns="0" rtlCol="0" anchor="ctr"/>
          <a:lstStyle/>
          <a:p>
            <a:pPr indent="0" marL="0">
              <a:buNone/>
            </a:pPr>
            <a:r>
              <a:rPr lang="en-US" sz="1060" dirty="0">
                <a:solidFill>
                  <a:srgbClr val="1B2440"/>
                </a:solidFill>
                <a:latin typeface="Calibri" pitchFamily="34" charset="0"/>
                <a:ea typeface="Calibri" pitchFamily="34" charset="-122"/>
                <a:cs typeface="Calibri" pitchFamily="34" charset="-120"/>
              </a:rPr>
              <a:t>The extractor already speaks Java, and “who builds backend in the new model?” is unanswered. Passive-shell has a clean server analogue: services built outside against the same OpenAPI contract, rule values externalized to Spring config, Testcontainers as the outside harness. One backend service through the loop in Phase 1 answers the workforce question with evidence.</a:t>
            </a:r>
            <a:endParaRPr lang="en-US" sz="1060" dirty="0"/>
          </a:p>
        </p:txBody>
      </p:sp>
      <p:sp>
        <p:nvSpPr>
          <p:cNvPr id="21" name="Shape 16"/>
          <p:cNvSpPr/>
          <p:nvPr/>
        </p:nvSpPr>
        <p:spPr>
          <a:xfrm>
            <a:off x="6242152" y="3913632"/>
            <a:ext cx="5400904" cy="2121408"/>
          </a:xfrm>
          <a:prstGeom prst="roundRect">
            <a:avLst>
              <a:gd name="adj" fmla="val 3448"/>
            </a:avLst>
          </a:prstGeom>
          <a:solidFill>
            <a:srgbClr val="EAF4EF"/>
          </a:solidFill>
          <a:ln/>
          <a:effectLst>
            <a:outerShdw sx="100000" sy="100000" kx="0" ky="0" algn="bl" rotWithShape="0" blurRad="76200" dist="12700" dir="5400000">
              <a:srgbClr val="9AA7C4">
                <a:alpha val="25000"/>
              </a:srgbClr>
            </a:outerShdw>
          </a:effectLst>
        </p:spPr>
      </p:sp>
      <p:sp>
        <p:nvSpPr>
          <p:cNvPr id="22" name="Shape 17"/>
          <p:cNvSpPr/>
          <p:nvPr/>
        </p:nvSpPr>
        <p:spPr>
          <a:xfrm>
            <a:off x="6443320" y="4096512"/>
            <a:ext cx="475488" cy="475488"/>
          </a:xfrm>
          <a:prstGeom prst="ellipse">
            <a:avLst/>
          </a:prstGeom>
          <a:solidFill>
            <a:srgbClr val="2E7D5B"/>
          </a:solidFill>
          <a:ln/>
        </p:spPr>
      </p:sp>
      <p:pic>
        <p:nvPicPr>
          <p:cNvPr id="23" name="Image 3" descr="preencoded.png">    </p:cNvPr>
          <p:cNvPicPr>
            <a:picLocks noChangeAspect="1"/>
          </p:cNvPicPr>
          <p:nvPr/>
        </p:nvPicPr>
        <p:blipFill>
          <a:blip r:embed="rId4"/>
          <a:stretch>
            <a:fillRect/>
          </a:stretch>
        </p:blipFill>
        <p:spPr>
          <a:xfrm>
            <a:off x="6566946" y="4220139"/>
            <a:ext cx="228234" cy="228234"/>
          </a:xfrm>
          <a:prstGeom prst="rect">
            <a:avLst/>
          </a:prstGeom>
        </p:spPr>
      </p:pic>
      <p:sp>
        <p:nvSpPr>
          <p:cNvPr id="24" name="Text 18"/>
          <p:cNvSpPr/>
          <p:nvPr/>
        </p:nvSpPr>
        <p:spPr>
          <a:xfrm>
            <a:off x="7046824" y="4142232"/>
            <a:ext cx="4440784" cy="365760"/>
          </a:xfrm>
          <a:prstGeom prst="rect">
            <a:avLst/>
          </a:prstGeom>
          <a:noFill/>
          <a:ln/>
        </p:spPr>
        <p:txBody>
          <a:bodyPr wrap="square" lIns="0" tIns="0" rIns="0" bIns="0" rtlCol="0" anchor="ctr"/>
          <a:lstStyle/>
          <a:p>
            <a:pPr indent="0" marL="0">
              <a:buNone/>
            </a:pPr>
            <a:r>
              <a:rPr lang="en-US" sz="1450" b="1" dirty="0">
                <a:solidFill>
                  <a:srgbClr val="2E7D5B"/>
                </a:solidFill>
                <a:latin typeface="Calibri" pitchFamily="34" charset="0"/>
                <a:ea typeface="Calibri" pitchFamily="34" charset="-122"/>
                <a:cs typeface="Calibri" pitchFamily="34" charset="-120"/>
              </a:rPr>
              <a:t>Desensitizer as a product</a:t>
            </a:r>
            <a:endParaRPr lang="en-US" sz="1450" dirty="0"/>
          </a:p>
        </p:txBody>
      </p:sp>
      <p:sp>
        <p:nvSpPr>
          <p:cNvPr id="25" name="Text 19"/>
          <p:cNvSpPr/>
          <p:nvPr/>
        </p:nvSpPr>
        <p:spPr>
          <a:xfrm>
            <a:off x="6470752" y="4599432"/>
            <a:ext cx="4943704" cy="1252728"/>
          </a:xfrm>
          <a:prstGeom prst="rect">
            <a:avLst/>
          </a:prstGeom>
          <a:noFill/>
          <a:ln/>
        </p:spPr>
        <p:txBody>
          <a:bodyPr wrap="square" lIns="0" tIns="0" rIns="0" bIns="0" rtlCol="0" anchor="ctr"/>
          <a:lstStyle/>
          <a:p>
            <a:pPr indent="0" marL="0">
              <a:buNone/>
            </a:pPr>
            <a:r>
              <a:rPr lang="en-US" sz="1060" dirty="0">
                <a:solidFill>
                  <a:srgbClr val="1B2440"/>
                </a:solidFill>
                <a:latin typeface="Calibri" pitchFamily="34" charset="0"/>
                <a:ea typeface="Calibri" pitchFamily="34" charset="-122"/>
                <a:cs typeface="Calibri" pitchFamily="34" charset="-120"/>
              </a:rPr>
              <a:t>Other teams face the same “on-prem models are weak, code can't leave” problem. A sanctioned internal platform earns budget, allies, and makes security a CO-OWNER of the workflow instead of its auditor — co-owned controls get improved; audited workarounds get shut down. It reframes us from rule-benders to the team that built the org's answer.</a:t>
            </a:r>
            <a:endParaRPr lang="en-US" sz="1060" dirty="0"/>
          </a:p>
        </p:txBody>
      </p:sp>
      <p:sp>
        <p:nvSpPr>
          <p:cNvPr id="26" name="Text 20"/>
          <p:cNvSpPr/>
          <p:nvPr/>
        </p:nvSpPr>
        <p:spPr>
          <a:xfrm>
            <a:off x="548640" y="6263640"/>
            <a:ext cx="11094415" cy="320040"/>
          </a:xfrm>
          <a:prstGeom prst="rect">
            <a:avLst/>
          </a:prstGeom>
          <a:noFill/>
          <a:ln/>
        </p:spPr>
        <p:txBody>
          <a:bodyPr wrap="square" lIns="0" tIns="0" rIns="0" bIns="0" rtlCol="0" anchor="ctr"/>
          <a:lstStyle/>
          <a:p>
            <a:pPr algn="ctr" indent="0" marL="0">
              <a:buNone/>
            </a:pPr>
            <a:r>
              <a:rPr lang="en-US" sz="1200" i="1" dirty="0">
                <a:solidFill>
                  <a:srgbClr val="5A6B8C"/>
                </a:solidFill>
                <a:latin typeface="Calibri" pitchFamily="34" charset="0"/>
                <a:ea typeface="Calibri" pitchFamily="34" charset="-122"/>
                <a:cs typeface="Calibri" pitchFamily="34" charset="-120"/>
              </a:rPr>
              <a:t>Each converts a defensive posture into an offensive one — governance as the product, not the tax.</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algn="l" indent="0" marL="0">
              <a:buNone/>
            </a:pPr>
            <a:r>
              <a:rPr lang="en-US" sz="900" dirty="0">
                <a:solidFill>
                  <a:srgbClr val="5A6B8C"/>
                </a:solidFill>
                <a:latin typeface="Calibri" pitchFamily="34" charset="0"/>
                <a:ea typeface="Calibri" pitchFamily="34" charset="-122"/>
                <a:cs typeface="Calibri" pitchFamily="34" charset="-120"/>
              </a:rPr>
              <a:t>Internet-First, Airgap-Final</a:t>
            </a:r>
            <a:endParaRPr lang="en-US" sz="900" dirty="0"/>
          </a:p>
        </p:txBody>
      </p:sp>
      <p:sp>
        <p:nvSpPr>
          <p:cNvPr id="3" name="Text 1"/>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A6B8C"/>
                </a:solidFill>
                <a:latin typeface="Calibri" pitchFamily="34" charset="0"/>
                <a:ea typeface="Calibri" pitchFamily="34" charset="-122"/>
                <a:cs typeface="Calibri" pitchFamily="34" charset="-120"/>
              </a:rPr>
              <a:t>16</a:t>
            </a:r>
            <a:endParaRPr lang="en-US" sz="900" dirty="0"/>
          </a:p>
        </p:txBody>
      </p:sp>
      <p:sp>
        <p:nvSpPr>
          <p:cNvPr id="4" name="Text 2"/>
          <p:cNvSpPr/>
          <p:nvPr/>
        </p:nvSpPr>
        <p:spPr>
          <a:xfrm>
            <a:off x="548640" y="384048"/>
            <a:ext cx="11094415" cy="274320"/>
          </a:xfrm>
          <a:prstGeom prst="rect">
            <a:avLst/>
          </a:prstGeom>
          <a:noFill/>
          <a:ln/>
        </p:spPr>
        <p:txBody>
          <a:bodyPr wrap="square" lIns="0" tIns="0" rIns="0" bIns="0" rtlCol="0" anchor="ctr"/>
          <a:lstStyle/>
          <a:p>
            <a:pPr indent="0" marL="0">
              <a:buNone/>
            </a:pPr>
            <a:r>
              <a:rPr lang="en-US" sz="1200" b="1" spc="300" kern="0" dirty="0">
                <a:solidFill>
                  <a:srgbClr val="5A6B8C"/>
                </a:solidFill>
                <a:latin typeface="Calibri" pitchFamily="34" charset="0"/>
                <a:ea typeface="Calibri" pitchFamily="34" charset="-122"/>
                <a:cs typeface="Calibri" pitchFamily="34" charset="-120"/>
              </a:rPr>
              <a:t>THE DEPARTMENT DIMENSION · SIBLING CORE TEAMS ARE DOING THIS TOO</a:t>
            </a:r>
            <a:endParaRPr lang="en-US" sz="1200" dirty="0"/>
          </a:p>
        </p:txBody>
      </p:sp>
      <p:sp>
        <p:nvSpPr>
          <p:cNvPr id="5" name="Text 3"/>
          <p:cNvSpPr/>
          <p:nvPr/>
        </p:nvSpPr>
        <p:spPr>
          <a:xfrm>
            <a:off x="548640" y="658368"/>
            <a:ext cx="11094415" cy="621792"/>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One paradigm, many teams — federate or fragment</a:t>
            </a:r>
            <a:endParaRPr lang="en-US" sz="3000" dirty="0"/>
          </a:p>
        </p:txBody>
      </p:sp>
      <p:sp>
        <p:nvSpPr>
          <p:cNvPr id="6" name="Shape 4"/>
          <p:cNvSpPr/>
          <p:nvPr/>
        </p:nvSpPr>
        <p:spPr>
          <a:xfrm>
            <a:off x="548640" y="1627632"/>
            <a:ext cx="5400904" cy="2121408"/>
          </a:xfrm>
          <a:prstGeom prst="roundRect">
            <a:avLst>
              <a:gd name="adj" fmla="val 3448"/>
            </a:avLst>
          </a:prstGeom>
          <a:solidFill>
            <a:srgbClr val="EDF3FC"/>
          </a:solidFill>
          <a:ln/>
          <a:effectLst>
            <a:outerShdw sx="100000" sy="100000" kx="0" ky="0" algn="bl" rotWithShape="0" blurRad="76200" dist="12700" dir="5400000">
              <a:srgbClr val="9AA7C4">
                <a:alpha val="25000"/>
              </a:srgbClr>
            </a:outerShdw>
          </a:effectLst>
        </p:spPr>
      </p:sp>
      <p:sp>
        <p:nvSpPr>
          <p:cNvPr id="7" name="Shape 5"/>
          <p:cNvSpPr/>
          <p:nvPr/>
        </p:nvSpPr>
        <p:spPr>
          <a:xfrm>
            <a:off x="749808" y="1810512"/>
            <a:ext cx="475488" cy="475488"/>
          </a:xfrm>
          <a:prstGeom prst="ellipse">
            <a:avLst/>
          </a:prstGeom>
          <a:solidFill>
            <a:srgbClr val="1E2761"/>
          </a:solidFill>
          <a:ln/>
        </p:spPr>
      </p:sp>
      <p:pic>
        <p:nvPicPr>
          <p:cNvPr id="8" name="Image 0" descr="preencoded.png">    </p:cNvPr>
          <p:cNvPicPr>
            <a:picLocks noChangeAspect="1"/>
          </p:cNvPicPr>
          <p:nvPr/>
        </p:nvPicPr>
        <p:blipFill>
          <a:blip r:embed="rId1"/>
          <a:stretch>
            <a:fillRect/>
          </a:stretch>
        </p:blipFill>
        <p:spPr>
          <a:xfrm>
            <a:off x="873435" y="1934139"/>
            <a:ext cx="228234" cy="228234"/>
          </a:xfrm>
          <a:prstGeom prst="rect">
            <a:avLst/>
          </a:prstGeom>
        </p:spPr>
      </p:pic>
      <p:sp>
        <p:nvSpPr>
          <p:cNvPr id="9" name="Text 6"/>
          <p:cNvSpPr/>
          <p:nvPr/>
        </p:nvSpPr>
        <p:spPr>
          <a:xfrm>
            <a:off x="1353312" y="1856232"/>
            <a:ext cx="4440784" cy="36576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Shared fate on incidents</a:t>
            </a:r>
            <a:endParaRPr lang="en-US" sz="1400" dirty="0"/>
          </a:p>
        </p:txBody>
      </p:sp>
      <p:sp>
        <p:nvSpPr>
          <p:cNvPr id="10" name="Text 7"/>
          <p:cNvSpPr/>
          <p:nvPr/>
        </p:nvSpPr>
        <p:spPr>
          <a:xfrm>
            <a:off x="777240" y="2286000"/>
            <a:ext cx="4943704" cy="1280160"/>
          </a:xfrm>
          <a:prstGeom prst="rect">
            <a:avLst/>
          </a:prstGeom>
          <a:noFill/>
          <a:ln/>
        </p:spPr>
        <p:txBody>
          <a:bodyPr wrap="square" lIns="0" tIns="0" rIns="0" bIns="0" rtlCol="0" anchor="ctr"/>
          <a:lstStyle/>
          <a:p>
            <a:pPr indent="0" marL="0">
              <a:buNone/>
            </a:pPr>
            <a:r>
              <a:rPr lang="en-US" sz="960" dirty="0">
                <a:solidFill>
                  <a:srgbClr val="1B2440"/>
                </a:solidFill>
                <a:latin typeface="Calibri" pitchFamily="34" charset="0"/>
                <a:ea typeface="Calibri" pitchFamily="34" charset="-122"/>
                <a:cs typeface="Calibri" pitchFamily="34" charset="-120"/>
              </a:rPr>
              <a:t>With N teams running parallel egress workflows, ONE team's leak ends the paradigm for ALL — leadership will not distinguish whose gate failed. The weakest gate in the department now defines our risk. Propose a common department gate standard (gates 0–3, tiers, ledgers), shared scanner + denylist infrastructure, and a JOINT incident-response playbook: who is notified, blast-radius assessment from the egress ledger, remediation (retire aliases, quarantine repos), reporting channel. No team should be inventing IR mid-incident.</a:t>
            </a:r>
            <a:endParaRPr lang="en-US" sz="960" dirty="0"/>
          </a:p>
        </p:txBody>
      </p:sp>
      <p:sp>
        <p:nvSpPr>
          <p:cNvPr id="11" name="Shape 8"/>
          <p:cNvSpPr/>
          <p:nvPr/>
        </p:nvSpPr>
        <p:spPr>
          <a:xfrm>
            <a:off x="6242152" y="1627632"/>
            <a:ext cx="5400904" cy="2121408"/>
          </a:xfrm>
          <a:prstGeom prst="roundRect">
            <a:avLst>
              <a:gd name="adj" fmla="val 3448"/>
            </a:avLst>
          </a:prstGeom>
          <a:solidFill>
            <a:srgbClr val="EDF3FC"/>
          </a:solidFill>
          <a:ln/>
          <a:effectLst>
            <a:outerShdw sx="100000" sy="100000" kx="0" ky="0" algn="bl" rotWithShape="0" blurRad="76200" dist="12700" dir="5400000">
              <a:srgbClr val="9AA7C4">
                <a:alpha val="25000"/>
              </a:srgbClr>
            </a:outerShdw>
          </a:effectLst>
        </p:spPr>
      </p:sp>
      <p:sp>
        <p:nvSpPr>
          <p:cNvPr id="12" name="Shape 9"/>
          <p:cNvSpPr/>
          <p:nvPr/>
        </p:nvSpPr>
        <p:spPr>
          <a:xfrm>
            <a:off x="6443320" y="1810512"/>
            <a:ext cx="475488" cy="475488"/>
          </a:xfrm>
          <a:prstGeom prst="ellipse">
            <a:avLst/>
          </a:prstGeom>
          <a:solidFill>
            <a:srgbClr val="1E2761"/>
          </a:solidFill>
          <a:ln/>
        </p:spPr>
      </p:sp>
      <p:pic>
        <p:nvPicPr>
          <p:cNvPr id="13" name="Image 1" descr="preencoded.png">    </p:cNvPr>
          <p:cNvPicPr>
            <a:picLocks noChangeAspect="1"/>
          </p:cNvPicPr>
          <p:nvPr/>
        </p:nvPicPr>
        <p:blipFill>
          <a:blip r:embed="rId2"/>
          <a:stretch>
            <a:fillRect/>
          </a:stretch>
        </p:blipFill>
        <p:spPr>
          <a:xfrm>
            <a:off x="6566946" y="1934139"/>
            <a:ext cx="228234" cy="228234"/>
          </a:xfrm>
          <a:prstGeom prst="rect">
            <a:avLst/>
          </a:prstGeom>
        </p:spPr>
      </p:pic>
      <p:sp>
        <p:nvSpPr>
          <p:cNvPr id="14" name="Text 10"/>
          <p:cNvSpPr/>
          <p:nvPr/>
        </p:nvSpPr>
        <p:spPr>
          <a:xfrm>
            <a:off x="7046824" y="1856232"/>
            <a:ext cx="4440784" cy="36576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Fiction hygiene across teams</a:t>
            </a:r>
            <a:endParaRPr lang="en-US" sz="1400" dirty="0"/>
          </a:p>
        </p:txBody>
      </p:sp>
      <p:sp>
        <p:nvSpPr>
          <p:cNvPr id="15" name="Text 11"/>
          <p:cNvSpPr/>
          <p:nvPr/>
        </p:nvSpPr>
        <p:spPr>
          <a:xfrm>
            <a:off x="6470752" y="2286000"/>
            <a:ext cx="4943704" cy="1280160"/>
          </a:xfrm>
          <a:prstGeom prst="rect">
            <a:avLst/>
          </a:prstGeom>
          <a:noFill/>
          <a:ln/>
        </p:spPr>
        <p:txBody>
          <a:bodyPr wrap="square" lIns="0" tIns="0" rIns="0" bIns="0" rtlCol="0" anchor="ctr"/>
          <a:lstStyle/>
          <a:p>
            <a:pPr indent="0" marL="0">
              <a:buNone/>
            </a:pPr>
            <a:r>
              <a:rPr lang="en-US" sz="960" dirty="0">
                <a:solidFill>
                  <a:srgbClr val="1B2440"/>
                </a:solidFill>
                <a:latin typeface="Calibri" pitchFamily="34" charset="0"/>
                <a:ea typeface="Calibri" pitchFamily="34" charset="-122"/>
                <a:cs typeface="Calibri" pitchFamily="34" charset="-120"/>
              </a:rPr>
              <a:t>Multiple fictional universes from the same population of people and orgs is a triangulation gift: shared contributors, shared CI templates, and structurally similar repos let an observer correlate universes and back out the real domain. Rules: one fiction per team, never shared; separate internet orgs; no cross-referencing between universes; share world-BUILDING lessons inside the airgap, never world content outside it.</a:t>
            </a:r>
            <a:endParaRPr lang="en-US" sz="960" dirty="0"/>
          </a:p>
        </p:txBody>
      </p:sp>
      <p:sp>
        <p:nvSpPr>
          <p:cNvPr id="16" name="Shape 12"/>
          <p:cNvSpPr/>
          <p:nvPr/>
        </p:nvSpPr>
        <p:spPr>
          <a:xfrm>
            <a:off x="548640" y="3913632"/>
            <a:ext cx="5400904" cy="2121408"/>
          </a:xfrm>
          <a:prstGeom prst="roundRect">
            <a:avLst>
              <a:gd name="adj" fmla="val 3448"/>
            </a:avLst>
          </a:prstGeom>
          <a:solidFill>
            <a:srgbClr val="EAF4EF"/>
          </a:solidFill>
          <a:ln/>
          <a:effectLst>
            <a:outerShdw sx="100000" sy="100000" kx="0" ky="0" algn="bl" rotWithShape="0" blurRad="76200" dist="12700" dir="5400000">
              <a:srgbClr val="9AA7C4">
                <a:alpha val="25000"/>
              </a:srgbClr>
            </a:outerShdw>
          </a:effectLst>
        </p:spPr>
      </p:sp>
      <p:sp>
        <p:nvSpPr>
          <p:cNvPr id="17" name="Shape 13"/>
          <p:cNvSpPr/>
          <p:nvPr/>
        </p:nvSpPr>
        <p:spPr>
          <a:xfrm>
            <a:off x="749808" y="4096512"/>
            <a:ext cx="475488" cy="475488"/>
          </a:xfrm>
          <a:prstGeom prst="ellipse">
            <a:avLst/>
          </a:prstGeom>
          <a:solidFill>
            <a:srgbClr val="2E7D5B"/>
          </a:solidFill>
          <a:ln/>
        </p:spPr>
      </p:sp>
      <p:pic>
        <p:nvPicPr>
          <p:cNvPr id="18" name="Image 2" descr="preencoded.png">    </p:cNvPr>
          <p:cNvPicPr>
            <a:picLocks noChangeAspect="1"/>
          </p:cNvPicPr>
          <p:nvPr/>
        </p:nvPicPr>
        <p:blipFill>
          <a:blip r:embed="rId3"/>
          <a:stretch>
            <a:fillRect/>
          </a:stretch>
        </p:blipFill>
        <p:spPr>
          <a:xfrm>
            <a:off x="873435" y="4220139"/>
            <a:ext cx="228234" cy="228234"/>
          </a:xfrm>
          <a:prstGeom prst="rect">
            <a:avLst/>
          </a:prstGeom>
        </p:spPr>
      </p:pic>
      <p:sp>
        <p:nvSpPr>
          <p:cNvPr id="19" name="Text 14"/>
          <p:cNvSpPr/>
          <p:nvPr/>
        </p:nvSpPr>
        <p:spPr>
          <a:xfrm>
            <a:off x="1353312" y="4142232"/>
            <a:ext cx="4440784" cy="365760"/>
          </a:xfrm>
          <a:prstGeom prst="rect">
            <a:avLst/>
          </a:prstGeom>
          <a:noFill/>
          <a:ln/>
        </p:spPr>
        <p:txBody>
          <a:bodyPr wrap="square" lIns="0" tIns="0" rIns="0" bIns="0" rtlCol="0" anchor="ctr"/>
          <a:lstStyle/>
          <a:p>
            <a:pPr indent="0" marL="0">
              <a:buNone/>
            </a:pPr>
            <a:r>
              <a:rPr lang="en-US" sz="1400" b="1" dirty="0">
                <a:solidFill>
                  <a:srgbClr val="2E7D5B"/>
                </a:solidFill>
                <a:latin typeface="Calibri" pitchFamily="34" charset="0"/>
                <a:ea typeface="Calibri" pitchFamily="34" charset="-122"/>
                <a:cs typeface="Calibri" pitchFamily="34" charset="-120"/>
              </a:rPr>
              <a:t>Write the standard first</a:t>
            </a:r>
            <a:endParaRPr lang="en-US" sz="1400" dirty="0"/>
          </a:p>
        </p:txBody>
      </p:sp>
      <p:sp>
        <p:nvSpPr>
          <p:cNvPr id="20" name="Text 15"/>
          <p:cNvSpPr/>
          <p:nvPr/>
        </p:nvSpPr>
        <p:spPr>
          <a:xfrm>
            <a:off x="777240" y="4572000"/>
            <a:ext cx="4943704" cy="1280160"/>
          </a:xfrm>
          <a:prstGeom prst="rect">
            <a:avLst/>
          </a:prstGeom>
          <a:noFill/>
          <a:ln/>
        </p:spPr>
        <p:txBody>
          <a:bodyPr wrap="square" lIns="0" tIns="0" rIns="0" bIns="0" rtlCol="0" anchor="ctr"/>
          <a:lstStyle/>
          <a:p>
            <a:pPr indent="0" marL="0">
              <a:buNone/>
            </a:pPr>
            <a:r>
              <a:rPr lang="en-US" sz="960" dirty="0">
                <a:solidFill>
                  <a:srgbClr val="1B2440"/>
                </a:solidFill>
                <a:latin typeface="Calibri" pitchFamily="34" charset="0"/>
                <a:ea typeface="Calibri" pitchFamily="34" charset="-122"/>
                <a:cs typeface="Calibri" pitchFamily="34" charset="-120"/>
              </a:rPr>
              <a:t>Whoever formalizes their gate process first will effectively write the department SOP — everyone else gets audited against it later. We have the head start: the desensitizer exists, the gate design exists. Co-author the standard with cyber NOW and the “desensitizer as internal product” play gains real customers: sibling teams adopt our tooling, and we become the paradigm's platform team rather than one of N users of someone else's rules.</a:t>
            </a:r>
            <a:endParaRPr lang="en-US" sz="960" dirty="0"/>
          </a:p>
        </p:txBody>
      </p:sp>
      <p:sp>
        <p:nvSpPr>
          <p:cNvPr id="21" name="Shape 16"/>
          <p:cNvSpPr/>
          <p:nvPr/>
        </p:nvSpPr>
        <p:spPr>
          <a:xfrm>
            <a:off x="6242152" y="3913632"/>
            <a:ext cx="5400904" cy="2121408"/>
          </a:xfrm>
          <a:prstGeom prst="roundRect">
            <a:avLst>
              <a:gd name="adj" fmla="val 3448"/>
            </a:avLst>
          </a:prstGeom>
          <a:solidFill>
            <a:srgbClr val="EAF4EF"/>
          </a:solidFill>
          <a:ln/>
          <a:effectLst>
            <a:outerShdw sx="100000" sy="100000" kx="0" ky="0" algn="bl" rotWithShape="0" blurRad="76200" dist="12700" dir="5400000">
              <a:srgbClr val="9AA7C4">
                <a:alpha val="25000"/>
              </a:srgbClr>
            </a:outerShdw>
          </a:effectLst>
        </p:spPr>
      </p:sp>
      <p:sp>
        <p:nvSpPr>
          <p:cNvPr id="22" name="Shape 17"/>
          <p:cNvSpPr/>
          <p:nvPr/>
        </p:nvSpPr>
        <p:spPr>
          <a:xfrm>
            <a:off x="6443320" y="4096512"/>
            <a:ext cx="475488" cy="475488"/>
          </a:xfrm>
          <a:prstGeom prst="ellipse">
            <a:avLst/>
          </a:prstGeom>
          <a:solidFill>
            <a:srgbClr val="2E7D5B"/>
          </a:solidFill>
          <a:ln/>
        </p:spPr>
      </p:sp>
      <p:pic>
        <p:nvPicPr>
          <p:cNvPr id="23" name="Image 3" descr="preencoded.png">    </p:cNvPr>
          <p:cNvPicPr>
            <a:picLocks noChangeAspect="1"/>
          </p:cNvPicPr>
          <p:nvPr/>
        </p:nvPicPr>
        <p:blipFill>
          <a:blip r:embed="rId4"/>
          <a:stretch>
            <a:fillRect/>
          </a:stretch>
        </p:blipFill>
        <p:spPr>
          <a:xfrm>
            <a:off x="6566946" y="4220139"/>
            <a:ext cx="228234" cy="228234"/>
          </a:xfrm>
          <a:prstGeom prst="rect">
            <a:avLst/>
          </a:prstGeom>
        </p:spPr>
      </p:pic>
      <p:sp>
        <p:nvSpPr>
          <p:cNvPr id="24" name="Text 18"/>
          <p:cNvSpPr/>
          <p:nvPr/>
        </p:nvSpPr>
        <p:spPr>
          <a:xfrm>
            <a:off x="7046824" y="4142232"/>
            <a:ext cx="4440784" cy="365760"/>
          </a:xfrm>
          <a:prstGeom prst="rect">
            <a:avLst/>
          </a:prstGeom>
          <a:noFill/>
          <a:ln/>
        </p:spPr>
        <p:txBody>
          <a:bodyPr wrap="square" lIns="0" tIns="0" rIns="0" bIns="0" rtlCol="0" anchor="ctr"/>
          <a:lstStyle/>
          <a:p>
            <a:pPr indent="0" marL="0">
              <a:buNone/>
            </a:pPr>
            <a:r>
              <a:rPr lang="en-US" sz="1400" b="1" dirty="0">
                <a:solidFill>
                  <a:srgbClr val="2E7D5B"/>
                </a:solidFill>
                <a:latin typeface="Calibri" pitchFamily="34" charset="0"/>
                <a:ea typeface="Calibri" pitchFamily="34" charset="-122"/>
                <a:cs typeface="Calibri" pitchFamily="34" charset="-120"/>
              </a:rPr>
              <a:t>Cross-team leverage</a:t>
            </a:r>
            <a:endParaRPr lang="en-US" sz="1400" dirty="0"/>
          </a:p>
        </p:txBody>
      </p:sp>
      <p:sp>
        <p:nvSpPr>
          <p:cNvPr id="25" name="Text 19"/>
          <p:cNvSpPr/>
          <p:nvPr/>
        </p:nvSpPr>
        <p:spPr>
          <a:xfrm>
            <a:off x="6470752" y="4572000"/>
            <a:ext cx="4943704" cy="1280160"/>
          </a:xfrm>
          <a:prstGeom prst="rect">
            <a:avLst/>
          </a:prstGeom>
          <a:noFill/>
          <a:ln/>
        </p:spPr>
        <p:txBody>
          <a:bodyPr wrap="square" lIns="0" tIns="0" rIns="0" bIns="0" rtlCol="0" anchor="ctr"/>
          <a:lstStyle/>
          <a:p>
            <a:pPr indent="0" marL="0">
              <a:buNone/>
            </a:pPr>
            <a:r>
              <a:rPr lang="en-US" sz="960" dirty="0">
                <a:solidFill>
                  <a:srgbClr val="1B2440"/>
                </a:solidFill>
                <a:latin typeface="Calibri" pitchFamily="34" charset="0"/>
                <a:ea typeface="Calibri" pitchFamily="34" charset="-122"/>
                <a:cs typeface="Calibri" pitchFamily="34" charset="-120"/>
              </a:rPr>
              <a:t>Sibling teams solve our hardest staffing problems: Gate-2 reviewers borrowed across teams are GENUINELY fresh eyes (they don't share our context, so residual meaning jumps out); shared inner-source tooling (passive-shell engine, MSW scaffolds, dependency-delta job, mapping registry) amortizes platform cost across the department; and KPI benchmarking across teams will happen anyway — co-defining the metrics beats being measured by someone else's.</a:t>
            </a:r>
            <a:endParaRPr lang="en-US" sz="960" dirty="0"/>
          </a:p>
        </p:txBody>
      </p:sp>
      <p:sp>
        <p:nvSpPr>
          <p:cNvPr id="26" name="Text 20"/>
          <p:cNvSpPr/>
          <p:nvPr/>
        </p:nvSpPr>
        <p:spPr>
          <a:xfrm>
            <a:off x="548640" y="6236208"/>
            <a:ext cx="11094415" cy="320040"/>
          </a:xfrm>
          <a:prstGeom prst="rect">
            <a:avLst/>
          </a:prstGeom>
          <a:noFill/>
          <a:ln/>
        </p:spPr>
        <p:txBody>
          <a:bodyPr wrap="square" lIns="0" tIns="0" rIns="0" bIns="0" rtlCol="0" anchor="ctr"/>
          <a:lstStyle/>
          <a:p>
            <a:pPr algn="ctr" indent="0" marL="0">
              <a:buNone/>
            </a:pPr>
            <a:r>
              <a:rPr lang="en-US" sz="1100" i="1" dirty="0">
                <a:solidFill>
                  <a:srgbClr val="5A6B8C"/>
                </a:solidFill>
                <a:latin typeface="Calibri" pitchFamily="34" charset="0"/>
                <a:ea typeface="Calibri" pitchFamily="34" charset="-122"/>
                <a:cs typeface="Calibri" pitchFamily="34" charset="-120"/>
              </a:rPr>
              <a:t>Blue = risks to close jointly · Green = advantages of moving first. And scale the approvers: N teams need a cyber rota, not a named hero.</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algn="l" indent="0" marL="0">
              <a:buNone/>
            </a:pPr>
            <a:r>
              <a:rPr lang="en-US" sz="900" dirty="0">
                <a:solidFill>
                  <a:srgbClr val="5A6B8C"/>
                </a:solidFill>
                <a:latin typeface="Calibri" pitchFamily="34" charset="0"/>
                <a:ea typeface="Calibri" pitchFamily="34" charset="-122"/>
                <a:cs typeface="Calibri" pitchFamily="34" charset="-120"/>
              </a:rPr>
              <a:t>Internet-First, Airgap-Final</a:t>
            </a:r>
            <a:endParaRPr lang="en-US" sz="900" dirty="0"/>
          </a:p>
        </p:txBody>
      </p:sp>
      <p:sp>
        <p:nvSpPr>
          <p:cNvPr id="3" name="Text 1"/>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A6B8C"/>
                </a:solidFill>
                <a:latin typeface="Calibri" pitchFamily="34" charset="0"/>
                <a:ea typeface="Calibri" pitchFamily="34" charset="-122"/>
                <a:cs typeface="Calibri" pitchFamily="34" charset="-120"/>
              </a:rPr>
              <a:t>17</a:t>
            </a:r>
            <a:endParaRPr lang="en-US" sz="900" dirty="0"/>
          </a:p>
        </p:txBody>
      </p:sp>
      <p:sp>
        <p:nvSpPr>
          <p:cNvPr id="4" name="Text 2"/>
          <p:cNvSpPr/>
          <p:nvPr/>
        </p:nvSpPr>
        <p:spPr>
          <a:xfrm>
            <a:off x="548640" y="384048"/>
            <a:ext cx="11094415" cy="274320"/>
          </a:xfrm>
          <a:prstGeom prst="rect">
            <a:avLst/>
          </a:prstGeom>
          <a:noFill/>
          <a:ln/>
        </p:spPr>
        <p:txBody>
          <a:bodyPr wrap="square" lIns="0" tIns="0" rIns="0" bIns="0" rtlCol="0" anchor="ctr"/>
          <a:lstStyle/>
          <a:p>
            <a:pPr indent="0" marL="0">
              <a:buNone/>
            </a:pPr>
            <a:r>
              <a:rPr lang="en-US" sz="1200" b="1" spc="300" kern="0" dirty="0">
                <a:solidFill>
                  <a:srgbClr val="5A6B8C"/>
                </a:solidFill>
                <a:latin typeface="Calibri" pitchFamily="34" charset="0"/>
                <a:ea typeface="Calibri" pitchFamily="34" charset="-122"/>
                <a:cs typeface="Calibri" pitchFamily="34" charset="-120"/>
              </a:rPr>
              <a:t>EXECUTION · A PRAGMATIC TRANSITION TIMELINE</a:t>
            </a:r>
            <a:endParaRPr lang="en-US" sz="1200" dirty="0"/>
          </a:p>
        </p:txBody>
      </p:sp>
      <p:sp>
        <p:nvSpPr>
          <p:cNvPr id="5" name="Text 3"/>
          <p:cNvSpPr/>
          <p:nvPr/>
        </p:nvSpPr>
        <p:spPr>
          <a:xfrm>
            <a:off x="548640" y="658368"/>
            <a:ext cx="11094415" cy="621792"/>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Phase exits are criteria, not dates</a:t>
            </a:r>
            <a:endParaRPr lang="en-US" sz="3000" dirty="0"/>
          </a:p>
        </p:txBody>
      </p:sp>
      <p:sp>
        <p:nvSpPr>
          <p:cNvPr id="6" name="Shape 4"/>
          <p:cNvSpPr/>
          <p:nvPr/>
        </p:nvSpPr>
        <p:spPr>
          <a:xfrm>
            <a:off x="548640" y="1691640"/>
            <a:ext cx="2602154" cy="4206240"/>
          </a:xfrm>
          <a:prstGeom prst="roundRect">
            <a:avLst>
              <a:gd name="adj" fmla="val 2811"/>
            </a:avLst>
          </a:prstGeom>
          <a:solidFill>
            <a:srgbClr val="EDF3FC"/>
          </a:solidFill>
          <a:ln/>
          <a:effectLst>
            <a:outerShdw sx="100000" sy="100000" kx="0" ky="0" algn="bl" rotWithShape="0" blurRad="76200" dist="12700" dir="5400000">
              <a:srgbClr val="9AA7C4">
                <a:alpha val="25000"/>
              </a:srgbClr>
            </a:outerShdw>
          </a:effectLst>
        </p:spPr>
      </p:sp>
      <p:sp>
        <p:nvSpPr>
          <p:cNvPr id="7" name="Text 5"/>
          <p:cNvSpPr/>
          <p:nvPr/>
        </p:nvSpPr>
        <p:spPr>
          <a:xfrm>
            <a:off x="731520" y="1828800"/>
            <a:ext cx="2236394" cy="274320"/>
          </a:xfrm>
          <a:prstGeom prst="rect">
            <a:avLst/>
          </a:prstGeom>
          <a:noFill/>
          <a:ln/>
        </p:spPr>
        <p:txBody>
          <a:bodyPr wrap="square" lIns="0" tIns="0" rIns="0" bIns="0" rtlCol="0" anchor="ctr"/>
          <a:lstStyle/>
          <a:p>
            <a:pPr indent="0" marL="0">
              <a:buNone/>
            </a:pPr>
            <a:r>
              <a:rPr lang="en-US" sz="1100" b="1" spc="200" kern="0" dirty="0">
                <a:solidFill>
                  <a:srgbClr val="5A6B8C"/>
                </a:solidFill>
                <a:latin typeface="Calibri" pitchFamily="34" charset="0"/>
                <a:ea typeface="Calibri" pitchFamily="34" charset="-122"/>
                <a:cs typeface="Calibri" pitchFamily="34" charset="-120"/>
              </a:rPr>
              <a:t>PHASE 0</a:t>
            </a:r>
            <a:endParaRPr lang="en-US" sz="1100" dirty="0"/>
          </a:p>
        </p:txBody>
      </p:sp>
      <p:sp>
        <p:nvSpPr>
          <p:cNvPr id="8" name="Text 6"/>
          <p:cNvSpPr/>
          <p:nvPr/>
        </p:nvSpPr>
        <p:spPr>
          <a:xfrm>
            <a:off x="731520" y="2103120"/>
            <a:ext cx="2236394" cy="68580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Legitimize &amp; pilot</a:t>
            </a:r>
            <a:endParaRPr lang="en-US" sz="1350" dirty="0"/>
          </a:p>
          <a:p>
            <a:pPr indent="0" marL="0">
              <a:buNone/>
            </a:pPr>
            <a:r>
              <a:rPr lang="en-US" sz="1350" b="1" dirty="0">
                <a:solidFill>
                  <a:srgbClr val="1E2761"/>
                </a:solidFill>
                <a:latin typeface="Calibri" pitchFamily="34" charset="0"/>
                <a:ea typeface="Calibri" pitchFamily="34" charset="-122"/>
                <a:cs typeface="Calibri" pitchFamily="34" charset="-120"/>
              </a:rPr>
              <a:t>(mo 0–2)</a:t>
            </a:r>
            <a:endParaRPr lang="en-US" sz="1350" dirty="0"/>
          </a:p>
        </p:txBody>
      </p:sp>
      <p:sp>
        <p:nvSpPr>
          <p:cNvPr id="9" name="Text 7"/>
          <p:cNvSpPr/>
          <p:nvPr/>
        </p:nvSpPr>
        <p:spPr>
          <a:xfrm>
            <a:off x="731520" y="2880360"/>
            <a:ext cx="2236394" cy="2834640"/>
          </a:xfrm>
          <a:prstGeom prst="rect">
            <a:avLst/>
          </a:prstGeom>
          <a:noFill/>
          <a:ln/>
        </p:spPr>
        <p:txBody>
          <a:bodyPr wrap="square" lIns="0" tIns="0" rIns="0" bIns="0" rtlCol="0" anchor="ctr"/>
          <a:lstStyle/>
          <a:p>
            <a:pPr marL="342900" indent="-342900">
              <a:spcAft>
                <a:spcPts val="600"/>
              </a:spcAft>
              <a:buSzPct val="100000"/>
              <a:buChar char="•"/>
            </a:pPr>
            <a:r>
              <a:rPr lang="en-US" sz="980" dirty="0">
                <a:solidFill>
                  <a:srgbClr val="1B2440"/>
                </a:solidFill>
                <a:latin typeface="Calibri" pitchFamily="34" charset="0"/>
                <a:ea typeface="Calibri" pitchFamily="34" charset="-122"/>
                <a:cs typeface="Calibri" pitchFamily="34" charset="-120"/>
              </a:rPr>
              <a:t>Written authorization: scope, egress channel, named approvers</a:t>
            </a:r>
            <a:endParaRPr lang="en-US" sz="980" dirty="0"/>
          </a:p>
          <a:p>
            <a:pPr marL="342900" indent="-342900">
              <a:spcAft>
                <a:spcPts val="600"/>
              </a:spcAft>
              <a:buSzPct val="100000"/>
              <a:buChar char="•"/>
            </a:pPr>
            <a:r>
              <a:rPr lang="en-US" sz="980" dirty="0">
                <a:solidFill>
                  <a:srgbClr val="1B2440"/>
                </a:solidFill>
                <a:latin typeface="Calibri" pitchFamily="34" charset="0"/>
                <a:ea typeface="Calibri" pitchFamily="34" charset="-122"/>
                <a:cs typeface="Calibri" pitchFamily="34" charset="-120"/>
              </a:rPr>
              <a:t>Gates 0–3 stood up; denylist co-authored with cyber</a:t>
            </a:r>
            <a:endParaRPr lang="en-US" sz="980" dirty="0"/>
          </a:p>
          <a:p>
            <a:pPr marL="342900" indent="-342900">
              <a:spcAft>
                <a:spcPts val="600"/>
              </a:spcAft>
              <a:buSzPct val="100000"/>
              <a:buChar char="•"/>
            </a:pPr>
            <a:r>
              <a:rPr lang="en-US" sz="980" dirty="0">
                <a:solidFill>
                  <a:srgbClr val="1B2440"/>
                </a:solidFill>
                <a:latin typeface="Calibri" pitchFamily="34" charset="0"/>
                <a:ea typeface="Calibri" pitchFamily="34" charset="-122"/>
                <a:cs typeface="Calibri" pitchFamily="34" charset="-120"/>
              </a:rPr>
              <a:t>World bible v1 + internet org &amp; repos with CI parity</a:t>
            </a:r>
            <a:endParaRPr lang="en-US" sz="980" dirty="0"/>
          </a:p>
          <a:p>
            <a:pPr marL="342900" indent="-342900">
              <a:spcAft>
                <a:spcPts val="600"/>
              </a:spcAft>
              <a:buSzPct val="100000"/>
              <a:buChar char="•"/>
            </a:pPr>
            <a:r>
              <a:rPr lang="en-US" sz="980" dirty="0">
                <a:solidFill>
                  <a:srgbClr val="1B2440"/>
                </a:solidFill>
                <a:latin typeface="Calibri" pitchFamily="34" charset="0"/>
                <a:ea typeface="Calibri" pitchFamily="34" charset="-122"/>
                <a:cs typeface="Calibri" pitchFamily="34" charset="-120"/>
              </a:rPr>
              <a:t>Pilot feature specced and egressed</a:t>
            </a:r>
            <a:endParaRPr lang="en-US" sz="980" dirty="0"/>
          </a:p>
        </p:txBody>
      </p:sp>
      <p:sp>
        <p:nvSpPr>
          <p:cNvPr id="10" name="Shape 8"/>
          <p:cNvSpPr/>
          <p:nvPr/>
        </p:nvSpPr>
        <p:spPr>
          <a:xfrm>
            <a:off x="3379394" y="1691640"/>
            <a:ext cx="2602154" cy="4206240"/>
          </a:xfrm>
          <a:prstGeom prst="roundRect">
            <a:avLst>
              <a:gd name="adj" fmla="val 2811"/>
            </a:avLst>
          </a:prstGeom>
          <a:solidFill>
            <a:srgbClr val="EDF3FC"/>
          </a:solidFill>
          <a:ln/>
          <a:effectLst>
            <a:outerShdw sx="100000" sy="100000" kx="0" ky="0" algn="bl" rotWithShape="0" blurRad="76200" dist="12700" dir="5400000">
              <a:srgbClr val="9AA7C4">
                <a:alpha val="25000"/>
              </a:srgbClr>
            </a:outerShdw>
          </a:effectLst>
        </p:spPr>
      </p:sp>
      <p:sp>
        <p:nvSpPr>
          <p:cNvPr id="11" name="Text 9"/>
          <p:cNvSpPr/>
          <p:nvPr/>
        </p:nvSpPr>
        <p:spPr>
          <a:xfrm>
            <a:off x="3562274" y="1828800"/>
            <a:ext cx="2236394" cy="274320"/>
          </a:xfrm>
          <a:prstGeom prst="rect">
            <a:avLst/>
          </a:prstGeom>
          <a:noFill/>
          <a:ln/>
        </p:spPr>
        <p:txBody>
          <a:bodyPr wrap="square" lIns="0" tIns="0" rIns="0" bIns="0" rtlCol="0" anchor="ctr"/>
          <a:lstStyle/>
          <a:p>
            <a:pPr indent="0" marL="0">
              <a:buNone/>
            </a:pPr>
            <a:r>
              <a:rPr lang="en-US" sz="1100" b="1" spc="200" kern="0" dirty="0">
                <a:solidFill>
                  <a:srgbClr val="5A6B8C"/>
                </a:solidFill>
                <a:latin typeface="Calibri" pitchFamily="34" charset="0"/>
                <a:ea typeface="Calibri" pitchFamily="34" charset="-122"/>
                <a:cs typeface="Calibri" pitchFamily="34" charset="-120"/>
              </a:rPr>
              <a:t>PHASE 1</a:t>
            </a:r>
            <a:endParaRPr lang="en-US" sz="1100" dirty="0"/>
          </a:p>
        </p:txBody>
      </p:sp>
      <p:sp>
        <p:nvSpPr>
          <p:cNvPr id="12" name="Text 10"/>
          <p:cNvSpPr/>
          <p:nvPr/>
        </p:nvSpPr>
        <p:spPr>
          <a:xfrm>
            <a:off x="3562274" y="2103120"/>
            <a:ext cx="2236394" cy="68580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Internet-first core team</a:t>
            </a:r>
            <a:endParaRPr lang="en-US" sz="1350" dirty="0"/>
          </a:p>
          <a:p>
            <a:pPr indent="0" marL="0">
              <a:buNone/>
            </a:pPr>
            <a:r>
              <a:rPr lang="en-US" sz="1350" b="1" dirty="0">
                <a:solidFill>
                  <a:srgbClr val="1E2761"/>
                </a:solidFill>
                <a:latin typeface="Calibri" pitchFamily="34" charset="0"/>
                <a:ea typeface="Calibri" pitchFamily="34" charset="-122"/>
                <a:cs typeface="Calibri" pitchFamily="34" charset="-120"/>
              </a:rPr>
              <a:t>(mo 2–8)</a:t>
            </a:r>
            <a:endParaRPr lang="en-US" sz="1350" dirty="0"/>
          </a:p>
        </p:txBody>
      </p:sp>
      <p:sp>
        <p:nvSpPr>
          <p:cNvPr id="13" name="Text 11"/>
          <p:cNvSpPr/>
          <p:nvPr/>
        </p:nvSpPr>
        <p:spPr>
          <a:xfrm>
            <a:off x="3562274" y="2880360"/>
            <a:ext cx="2236394" cy="2834640"/>
          </a:xfrm>
          <a:prstGeom prst="rect">
            <a:avLst/>
          </a:prstGeom>
          <a:noFill/>
          <a:ln/>
        </p:spPr>
        <p:txBody>
          <a:bodyPr wrap="square" lIns="0" tIns="0" rIns="0" bIns="0" rtlCol="0" anchor="ctr"/>
          <a:lstStyle/>
          <a:p>
            <a:pPr marL="342900" indent="-342900">
              <a:spcAft>
                <a:spcPts val="600"/>
              </a:spcAft>
              <a:buSzPct val="100000"/>
              <a:buChar char="•"/>
            </a:pPr>
            <a:r>
              <a:rPr lang="en-US" sz="980" dirty="0">
                <a:solidFill>
                  <a:srgbClr val="1B2440"/>
                </a:solidFill>
                <a:latin typeface="Calibri" pitchFamily="34" charset="0"/>
                <a:ea typeface="Calibri" pitchFamily="34" charset="-122"/>
                <a:cs typeface="Calibri" pitchFamily="34" charset="-120"/>
              </a:rPr>
              <a:t>Core team builds pilot + 2–3 MFEs outside; logic-pack engine v1</a:t>
            </a:r>
            <a:endParaRPr lang="en-US" sz="980" dirty="0"/>
          </a:p>
          <a:p>
            <a:pPr marL="342900" indent="-342900">
              <a:spcAft>
                <a:spcPts val="600"/>
              </a:spcAft>
              <a:buSzPct val="100000"/>
              <a:buChar char="•"/>
            </a:pPr>
            <a:r>
              <a:rPr lang="en-US" sz="980" dirty="0">
                <a:solidFill>
                  <a:srgbClr val="1B2440"/>
                </a:solidFill>
                <a:latin typeface="Calibri" pitchFamily="34" charset="0"/>
                <a:ea typeface="Calibri" pitchFamily="34" charset="-122"/>
                <a:cs typeface="Calibri" pitchFamily="34" charset="-120"/>
              </a:rPr>
              <a:t>Contractors own integration, mappings, env testing, config mgmt; some move to BA/spec roles</a:t>
            </a:r>
            <a:endParaRPr lang="en-US" sz="980" dirty="0"/>
          </a:p>
          <a:p>
            <a:pPr marL="342900" indent="-342900">
              <a:spcAft>
                <a:spcPts val="600"/>
              </a:spcAft>
              <a:buSzPct val="100000"/>
              <a:buChar char="•"/>
            </a:pPr>
            <a:r>
              <a:rPr lang="en-US" sz="980" dirty="0">
                <a:solidFill>
                  <a:srgbClr val="1B2440"/>
                </a:solidFill>
                <a:latin typeface="Calibri" pitchFamily="34" charset="0"/>
                <a:ea typeface="Calibri" pitchFamily="34" charset="-122"/>
                <a:cs typeface="Calibri" pitchFamily="34" charset="-120"/>
              </a:rPr>
              <a:t>Dependency-delta job feeding Confi registry requests</a:t>
            </a:r>
            <a:endParaRPr lang="en-US" sz="980" dirty="0"/>
          </a:p>
          <a:p>
            <a:pPr marL="342900" indent="-342900">
              <a:spcAft>
                <a:spcPts val="600"/>
              </a:spcAft>
              <a:buSzPct val="100000"/>
              <a:buChar char="•"/>
            </a:pPr>
            <a:r>
              <a:rPr lang="en-US" sz="980" dirty="0">
                <a:solidFill>
                  <a:srgbClr val="1B2440"/>
                </a:solidFill>
                <a:latin typeface="Calibri" pitchFamily="34" charset="0"/>
                <a:ea typeface="Calibri" pitchFamily="34" charset="-122"/>
                <a:cs typeface="Calibri" pitchFamily="34" charset="-120"/>
              </a:rPr>
              <a:t>Exit: 2 MFEs shipped through the full loop; integration ≤ 15% of feature effort</a:t>
            </a:r>
            <a:endParaRPr lang="en-US" sz="980" dirty="0"/>
          </a:p>
        </p:txBody>
      </p:sp>
      <p:sp>
        <p:nvSpPr>
          <p:cNvPr id="14" name="Shape 12"/>
          <p:cNvSpPr/>
          <p:nvPr/>
        </p:nvSpPr>
        <p:spPr>
          <a:xfrm>
            <a:off x="6210148" y="1691640"/>
            <a:ext cx="2602154" cy="4206240"/>
          </a:xfrm>
          <a:prstGeom prst="roundRect">
            <a:avLst>
              <a:gd name="adj" fmla="val 2811"/>
            </a:avLst>
          </a:prstGeom>
          <a:solidFill>
            <a:srgbClr val="EDF3FC"/>
          </a:solidFill>
          <a:ln/>
          <a:effectLst>
            <a:outerShdw sx="100000" sy="100000" kx="0" ky="0" algn="bl" rotWithShape="0" blurRad="76200" dist="12700" dir="5400000">
              <a:srgbClr val="9AA7C4">
                <a:alpha val="25000"/>
              </a:srgbClr>
            </a:outerShdw>
          </a:effectLst>
        </p:spPr>
      </p:sp>
      <p:sp>
        <p:nvSpPr>
          <p:cNvPr id="15" name="Text 13"/>
          <p:cNvSpPr/>
          <p:nvPr/>
        </p:nvSpPr>
        <p:spPr>
          <a:xfrm>
            <a:off x="6393028" y="1828800"/>
            <a:ext cx="2236394" cy="274320"/>
          </a:xfrm>
          <a:prstGeom prst="rect">
            <a:avLst/>
          </a:prstGeom>
          <a:noFill/>
          <a:ln/>
        </p:spPr>
        <p:txBody>
          <a:bodyPr wrap="square" lIns="0" tIns="0" rIns="0" bIns="0" rtlCol="0" anchor="ctr"/>
          <a:lstStyle/>
          <a:p>
            <a:pPr indent="0" marL="0">
              <a:buNone/>
            </a:pPr>
            <a:r>
              <a:rPr lang="en-US" sz="1100" b="1" spc="200" kern="0" dirty="0">
                <a:solidFill>
                  <a:srgbClr val="5A6B8C"/>
                </a:solidFill>
                <a:latin typeface="Calibri" pitchFamily="34" charset="0"/>
                <a:ea typeface="Calibri" pitchFamily="34" charset="-122"/>
                <a:cs typeface="Calibri" pitchFamily="34" charset="-120"/>
              </a:rPr>
              <a:t>PHASE 2</a:t>
            </a:r>
            <a:endParaRPr lang="en-US" sz="1100" dirty="0"/>
          </a:p>
        </p:txBody>
      </p:sp>
      <p:sp>
        <p:nvSpPr>
          <p:cNvPr id="16" name="Text 14"/>
          <p:cNvSpPr/>
          <p:nvPr/>
        </p:nvSpPr>
        <p:spPr>
          <a:xfrm>
            <a:off x="6393028" y="2103120"/>
            <a:ext cx="2236394" cy="68580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Outbound spec pipeline at scale</a:t>
            </a:r>
            <a:endParaRPr lang="en-US" sz="1350" dirty="0"/>
          </a:p>
          <a:p>
            <a:pPr indent="0" marL="0">
              <a:buNone/>
            </a:pPr>
            <a:r>
              <a:rPr lang="en-US" sz="1350" b="1" dirty="0">
                <a:solidFill>
                  <a:srgbClr val="1E2761"/>
                </a:solidFill>
                <a:latin typeface="Calibri" pitchFamily="34" charset="0"/>
                <a:ea typeface="Calibri" pitchFamily="34" charset="-122"/>
                <a:cs typeface="Calibri" pitchFamily="34" charset="-120"/>
              </a:rPr>
              <a:t>(mo 6–14, overlaps)</a:t>
            </a:r>
            <a:endParaRPr lang="en-US" sz="1350" dirty="0"/>
          </a:p>
        </p:txBody>
      </p:sp>
      <p:sp>
        <p:nvSpPr>
          <p:cNvPr id="17" name="Text 15"/>
          <p:cNvSpPr/>
          <p:nvPr/>
        </p:nvSpPr>
        <p:spPr>
          <a:xfrm>
            <a:off x="6393028" y="2880360"/>
            <a:ext cx="2236394" cy="2834640"/>
          </a:xfrm>
          <a:prstGeom prst="rect">
            <a:avLst/>
          </a:prstGeom>
          <a:noFill/>
          <a:ln/>
        </p:spPr>
        <p:txBody>
          <a:bodyPr wrap="square" lIns="0" tIns="0" rIns="0" bIns="0" rtlCol="0" anchor="ctr"/>
          <a:lstStyle/>
          <a:p>
            <a:pPr marL="342900" indent="-342900">
              <a:spcAft>
                <a:spcPts val="600"/>
              </a:spcAft>
              <a:buSzPct val="100000"/>
              <a:buChar char="•"/>
            </a:pPr>
            <a:r>
              <a:rPr lang="en-US" sz="980" dirty="0">
                <a:solidFill>
                  <a:srgbClr val="1B2440"/>
                </a:solidFill>
                <a:latin typeface="Calibri" pitchFamily="34" charset="0"/>
                <a:ea typeface="Calibri" pitchFamily="34" charset="-122"/>
                <a:cs typeface="Calibri" pitchFamily="34" charset="-120"/>
              </a:rPr>
              <a:t>Spec-package tooling hardened; Tier-0 standing approvals in force</a:t>
            </a:r>
            <a:endParaRPr lang="en-US" sz="980" dirty="0"/>
          </a:p>
          <a:p>
            <a:pPr marL="342900" indent="-342900">
              <a:spcAft>
                <a:spcPts val="600"/>
              </a:spcAft>
              <a:buSzPct val="100000"/>
              <a:buChar char="•"/>
            </a:pPr>
            <a:r>
              <a:rPr lang="en-US" sz="980" dirty="0">
                <a:solidFill>
                  <a:srgbClr val="1B2440"/>
                </a:solidFill>
                <a:latin typeface="Calibri" pitchFamily="34" charset="0"/>
                <a:ea typeface="Calibri" pitchFamily="34" charset="-122"/>
                <a:cs typeface="Calibri" pitchFamily="34" charset="-120"/>
              </a:rPr>
              <a:t>Angular inventory complete; migration factory running per-feature</a:t>
            </a:r>
            <a:endParaRPr lang="en-US" sz="980" dirty="0"/>
          </a:p>
          <a:p>
            <a:pPr marL="342900" indent="-342900">
              <a:spcAft>
                <a:spcPts val="600"/>
              </a:spcAft>
              <a:buSzPct val="100000"/>
              <a:buChar char="•"/>
            </a:pPr>
            <a:r>
              <a:rPr lang="en-US" sz="980" dirty="0">
                <a:solidFill>
                  <a:srgbClr val="1B2440"/>
                </a:solidFill>
                <a:latin typeface="Calibri" pitchFamily="34" charset="0"/>
                <a:ea typeface="Calibri" pitchFamily="34" charset="-122"/>
                <a:cs typeface="Calibri" pitchFamily="34" charset="-120"/>
              </a:rPr>
              <a:t>Sensitizer = logic-pack compiler + validators, fully inside</a:t>
            </a:r>
            <a:endParaRPr lang="en-US" sz="980" dirty="0"/>
          </a:p>
          <a:p>
            <a:pPr marL="342900" indent="-342900">
              <a:spcAft>
                <a:spcPts val="600"/>
              </a:spcAft>
              <a:buSzPct val="100000"/>
              <a:buChar char="•"/>
            </a:pPr>
            <a:r>
              <a:rPr lang="en-US" sz="980" dirty="0">
                <a:solidFill>
                  <a:srgbClr val="1B2440"/>
                </a:solidFill>
                <a:latin typeface="Calibri" pitchFamily="34" charset="0"/>
                <a:ea typeface="Calibri" pitchFamily="34" charset="-122"/>
                <a:cs typeface="Calibri" pitchFamily="34" charset="-120"/>
              </a:rPr>
              <a:t>Exit: egress SLA met 90%+; zero security incidents; parity scoreboard trending to done</a:t>
            </a:r>
            <a:endParaRPr lang="en-US" sz="980" dirty="0"/>
          </a:p>
        </p:txBody>
      </p:sp>
      <p:sp>
        <p:nvSpPr>
          <p:cNvPr id="18" name="Shape 16"/>
          <p:cNvSpPr/>
          <p:nvPr/>
        </p:nvSpPr>
        <p:spPr>
          <a:xfrm>
            <a:off x="9040901" y="1691640"/>
            <a:ext cx="2602154" cy="4206240"/>
          </a:xfrm>
          <a:prstGeom prst="roundRect">
            <a:avLst>
              <a:gd name="adj" fmla="val 2811"/>
            </a:avLst>
          </a:prstGeom>
          <a:solidFill>
            <a:srgbClr val="EAF4EF"/>
          </a:solidFill>
          <a:ln/>
          <a:effectLst>
            <a:outerShdw sx="100000" sy="100000" kx="0" ky="0" algn="bl" rotWithShape="0" blurRad="76200" dist="12700" dir="5400000">
              <a:srgbClr val="9AA7C4">
                <a:alpha val="25000"/>
              </a:srgbClr>
            </a:outerShdw>
          </a:effectLst>
        </p:spPr>
      </p:sp>
      <p:sp>
        <p:nvSpPr>
          <p:cNvPr id="19" name="Text 17"/>
          <p:cNvSpPr/>
          <p:nvPr/>
        </p:nvSpPr>
        <p:spPr>
          <a:xfrm>
            <a:off x="9223781" y="1828800"/>
            <a:ext cx="2236394" cy="274320"/>
          </a:xfrm>
          <a:prstGeom prst="rect">
            <a:avLst/>
          </a:prstGeom>
          <a:noFill/>
          <a:ln/>
        </p:spPr>
        <p:txBody>
          <a:bodyPr wrap="square" lIns="0" tIns="0" rIns="0" bIns="0" rtlCol="0" anchor="ctr"/>
          <a:lstStyle/>
          <a:p>
            <a:pPr indent="0" marL="0">
              <a:buNone/>
            </a:pPr>
            <a:r>
              <a:rPr lang="en-US" sz="1100" b="1" spc="200" kern="0" dirty="0">
                <a:solidFill>
                  <a:srgbClr val="2E7D5B"/>
                </a:solidFill>
                <a:latin typeface="Calibri" pitchFamily="34" charset="0"/>
                <a:ea typeface="Calibri" pitchFamily="34" charset="-122"/>
                <a:cs typeface="Calibri" pitchFamily="34" charset="-120"/>
              </a:rPr>
              <a:t>PHASE 3</a:t>
            </a:r>
            <a:endParaRPr lang="en-US" sz="1100" dirty="0"/>
          </a:p>
        </p:txBody>
      </p:sp>
      <p:sp>
        <p:nvSpPr>
          <p:cNvPr id="20" name="Text 18"/>
          <p:cNvSpPr/>
          <p:nvPr/>
        </p:nvSpPr>
        <p:spPr>
          <a:xfrm>
            <a:off x="9223781" y="2103120"/>
            <a:ext cx="2236394" cy="68580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Core-team absorption</a:t>
            </a:r>
            <a:endParaRPr lang="en-US" sz="1350" dirty="0"/>
          </a:p>
          <a:p>
            <a:pPr indent="0" marL="0">
              <a:buNone/>
            </a:pPr>
            <a:r>
              <a:rPr lang="en-US" sz="1350" b="1" dirty="0">
                <a:solidFill>
                  <a:srgbClr val="1E2761"/>
                </a:solidFill>
                <a:latin typeface="Calibri" pitchFamily="34" charset="0"/>
                <a:ea typeface="Calibri" pitchFamily="34" charset="-122"/>
                <a:cs typeface="Calibri" pitchFamily="34" charset="-120"/>
              </a:rPr>
              <a:t>(trigger-based)</a:t>
            </a:r>
            <a:endParaRPr lang="en-US" sz="1350" dirty="0"/>
          </a:p>
        </p:txBody>
      </p:sp>
      <p:sp>
        <p:nvSpPr>
          <p:cNvPr id="21" name="Text 19"/>
          <p:cNvSpPr/>
          <p:nvPr/>
        </p:nvSpPr>
        <p:spPr>
          <a:xfrm>
            <a:off x="9223781" y="2880360"/>
            <a:ext cx="2236394" cy="2834640"/>
          </a:xfrm>
          <a:prstGeom prst="rect">
            <a:avLst/>
          </a:prstGeom>
          <a:noFill/>
          <a:ln/>
        </p:spPr>
        <p:txBody>
          <a:bodyPr wrap="square" lIns="0" tIns="0" rIns="0" bIns="0" rtlCol="0" anchor="ctr"/>
          <a:lstStyle/>
          <a:p>
            <a:pPr marL="342900" indent="-342900">
              <a:spcAft>
                <a:spcPts val="600"/>
              </a:spcAft>
              <a:buSzPct val="100000"/>
              <a:buChar char="•"/>
            </a:pPr>
            <a:r>
              <a:rPr lang="en-US" sz="980" dirty="0">
                <a:solidFill>
                  <a:srgbClr val="1B2440"/>
                </a:solidFill>
                <a:latin typeface="Calibri" pitchFamily="34" charset="0"/>
                <a:ea typeface="Calibri" pitchFamily="34" charset="-122"/>
                <a:cs typeface="Calibri" pitchFamily="34" charset="-120"/>
              </a:rPr>
              <a:t>Trigger: contractor reduction mandate — readiness is built in Phases 1–2, not when the memo lands</a:t>
            </a:r>
            <a:endParaRPr lang="en-US" sz="980" dirty="0"/>
          </a:p>
          <a:p>
            <a:pPr marL="342900" indent="-342900">
              <a:spcAft>
                <a:spcPts val="600"/>
              </a:spcAft>
              <a:buSzPct val="100000"/>
              <a:buChar char="•"/>
            </a:pPr>
            <a:r>
              <a:rPr lang="en-US" sz="980" dirty="0">
                <a:solidFill>
                  <a:srgbClr val="1B2440"/>
                </a:solidFill>
                <a:latin typeface="Calibri" pitchFamily="34" charset="0"/>
                <a:ea typeface="Calibri" pitchFamily="34" charset="-122"/>
                <a:cs typeface="Calibri" pitchFamily="34" charset="-120"/>
              </a:rPr>
              <a:t>Every contractor duty has a documented runbook + a core-team owner who has already done it (rotation in Phase 2)</a:t>
            </a:r>
            <a:endParaRPr lang="en-US" sz="980" dirty="0"/>
          </a:p>
          <a:p>
            <a:pPr marL="342900" indent="-342900">
              <a:spcAft>
                <a:spcPts val="600"/>
              </a:spcAft>
              <a:buSzPct val="100000"/>
              <a:buChar char="•"/>
            </a:pPr>
            <a:r>
              <a:rPr lang="en-US" sz="980" dirty="0">
                <a:solidFill>
                  <a:srgbClr val="1B2440"/>
                </a:solidFill>
                <a:latin typeface="Calibri" pitchFamily="34" charset="0"/>
                <a:ea typeface="Calibri" pitchFamily="34" charset="-122"/>
                <a:cs typeface="Calibri" pitchFamily="34" charset="-120"/>
              </a:rPr>
              <a:t>Automate the residue: integration scripts, mapping validators, config lint</a:t>
            </a:r>
            <a:endParaRPr lang="en-US" sz="980" dirty="0"/>
          </a:p>
          <a:p>
            <a:pPr marL="342900" indent="-342900">
              <a:spcAft>
                <a:spcPts val="600"/>
              </a:spcAft>
              <a:buSzPct val="100000"/>
              <a:buChar char="•"/>
            </a:pPr>
            <a:r>
              <a:rPr lang="en-US" sz="980" dirty="0">
                <a:solidFill>
                  <a:srgbClr val="1B2440"/>
                </a:solidFill>
                <a:latin typeface="Calibri" pitchFamily="34" charset="0"/>
                <a:ea typeface="Calibri" pitchFamily="34" charset="-122"/>
                <a:cs typeface="Calibri" pitchFamily="34" charset="-120"/>
              </a:rPr>
              <a:t>Exit: full loop runs with core team only, one release proven</a:t>
            </a:r>
            <a:endParaRPr lang="en-US" sz="980" dirty="0"/>
          </a:p>
        </p:txBody>
      </p:sp>
      <p:sp>
        <p:nvSpPr>
          <p:cNvPr id="22" name="Text 20"/>
          <p:cNvSpPr/>
          <p:nvPr/>
        </p:nvSpPr>
        <p:spPr>
          <a:xfrm>
            <a:off x="548640" y="6035040"/>
            <a:ext cx="11094415" cy="411480"/>
          </a:xfrm>
          <a:prstGeom prst="rect">
            <a:avLst/>
          </a:prstGeom>
          <a:noFill/>
          <a:ln/>
        </p:spPr>
        <p:txBody>
          <a:bodyPr wrap="square" lIns="0" tIns="0" rIns="0" bIns="0" rtlCol="0" anchor="ctr"/>
          <a:lstStyle/>
          <a:p>
            <a:pPr algn="ctr" indent="0" marL="0">
              <a:buNone/>
            </a:pPr>
            <a:r>
              <a:rPr lang="en-US" sz="1250" b="1" dirty="0">
                <a:solidFill>
                  <a:srgbClr val="1E2761"/>
                </a:solidFill>
                <a:latin typeface="Calibri" pitchFamily="34" charset="0"/>
                <a:ea typeface="Calibri" pitchFamily="34" charset="-122"/>
                <a:cs typeface="Calibri" pitchFamily="34" charset="-120"/>
              </a:rPr>
              <a:t>Honest expectation: </a:t>
            </a:r>
            <a:pPr algn="ctr" indent="0" marL="0">
              <a:buNone/>
            </a:pPr>
            <a:r>
              <a:rPr lang="en-US" sz="1250" dirty="0">
                <a:solidFill>
                  <a:srgbClr val="1B2440"/>
                </a:solidFill>
                <a:latin typeface="Calibri" pitchFamily="34" charset="0"/>
                <a:ea typeface="Calibri" pitchFamily="34" charset="-122"/>
                <a:cs typeface="Calibri" pitchFamily="34" charset="-120"/>
              </a:rPr>
              <a:t>the first loop will be slower than today — you are building the factory while running it. Speed compounds from MFE #3 onward. Say this out loud on day one, or month 3 will be read as failure.</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algn="l" indent="0" marL="0">
              <a:buNone/>
            </a:pPr>
            <a:r>
              <a:rPr lang="en-US" sz="900" dirty="0">
                <a:solidFill>
                  <a:srgbClr val="5A6B8C"/>
                </a:solidFill>
                <a:latin typeface="Calibri" pitchFamily="34" charset="0"/>
                <a:ea typeface="Calibri" pitchFamily="34" charset="-122"/>
                <a:cs typeface="Calibri" pitchFamily="34" charset="-120"/>
              </a:rPr>
              <a:t>Internet-First, Airgap-Final</a:t>
            </a:r>
            <a:endParaRPr lang="en-US" sz="900" dirty="0"/>
          </a:p>
        </p:txBody>
      </p:sp>
      <p:sp>
        <p:nvSpPr>
          <p:cNvPr id="3" name="Text 1"/>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5A6B8C"/>
                </a:solidFill>
                <a:latin typeface="Calibri" pitchFamily="34" charset="0"/>
                <a:ea typeface="Calibri" pitchFamily="34" charset="-122"/>
                <a:cs typeface="Calibri" pitchFamily="34" charset="-120"/>
              </a:rPr>
              <a:t>18</a:t>
            </a:r>
            <a:endParaRPr lang="en-US" sz="900" dirty="0"/>
          </a:p>
        </p:txBody>
      </p:sp>
      <p:sp>
        <p:nvSpPr>
          <p:cNvPr id="4" name="Text 2"/>
          <p:cNvSpPr/>
          <p:nvPr/>
        </p:nvSpPr>
        <p:spPr>
          <a:xfrm>
            <a:off x="548640" y="384048"/>
            <a:ext cx="11094415" cy="274320"/>
          </a:xfrm>
          <a:prstGeom prst="rect">
            <a:avLst/>
          </a:prstGeom>
          <a:noFill/>
          <a:ln/>
        </p:spPr>
        <p:txBody>
          <a:bodyPr wrap="square" lIns="0" tIns="0" rIns="0" bIns="0" rtlCol="0" anchor="ctr"/>
          <a:lstStyle/>
          <a:p>
            <a:pPr indent="0" marL="0">
              <a:buNone/>
            </a:pPr>
            <a:r>
              <a:rPr lang="en-US" sz="1200" b="1" spc="300" kern="0" dirty="0">
                <a:solidFill>
                  <a:srgbClr val="5A6B8C"/>
                </a:solidFill>
                <a:latin typeface="Calibri" pitchFamily="34" charset="0"/>
                <a:ea typeface="Calibri" pitchFamily="34" charset="-122"/>
                <a:cs typeface="Calibri" pitchFamily="34" charset="-120"/>
              </a:rPr>
              <a:t>MEASURING IT · THE COUNTER-NARRATIVE</a:t>
            </a:r>
            <a:endParaRPr lang="en-US" sz="1200" dirty="0"/>
          </a:p>
        </p:txBody>
      </p:sp>
      <p:sp>
        <p:nvSpPr>
          <p:cNvPr id="5" name="Text 3"/>
          <p:cNvSpPr/>
          <p:nvPr/>
        </p:nvSpPr>
        <p:spPr>
          <a:xfrm>
            <a:off x="548640" y="658368"/>
            <a:ext cx="11094415" cy="621792"/>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The scoreboard that wins the argument</a:t>
            </a:r>
            <a:endParaRPr lang="en-US" sz="3000" dirty="0"/>
          </a:p>
        </p:txBody>
      </p:sp>
      <p:sp>
        <p:nvSpPr>
          <p:cNvPr id="6" name="Shape 4"/>
          <p:cNvSpPr/>
          <p:nvPr/>
        </p:nvSpPr>
        <p:spPr>
          <a:xfrm>
            <a:off x="548640" y="1691640"/>
            <a:ext cx="3515258" cy="2011680"/>
          </a:xfrm>
          <a:prstGeom prst="roundRect">
            <a:avLst>
              <a:gd name="adj" fmla="val 3636"/>
            </a:avLst>
          </a:prstGeom>
          <a:solidFill>
            <a:srgbClr val="EDF3FC"/>
          </a:solidFill>
          <a:ln/>
          <a:effectLst>
            <a:outerShdw sx="100000" sy="100000" kx="0" ky="0" algn="bl" rotWithShape="0" blurRad="76200" dist="12700" dir="5400000">
              <a:srgbClr val="9AA7C4">
                <a:alpha val="25000"/>
              </a:srgbClr>
            </a:outerShdw>
          </a:effectLst>
        </p:spPr>
      </p:sp>
      <p:sp>
        <p:nvSpPr>
          <p:cNvPr id="7" name="Shape 5"/>
          <p:cNvSpPr/>
          <p:nvPr/>
        </p:nvSpPr>
        <p:spPr>
          <a:xfrm>
            <a:off x="749808" y="1892808"/>
            <a:ext cx="502920" cy="502920"/>
          </a:xfrm>
          <a:prstGeom prst="ellipse">
            <a:avLst/>
          </a:prstGeom>
          <a:solidFill>
            <a:srgbClr val="1E2761"/>
          </a:solidFill>
          <a:ln/>
        </p:spPr>
      </p:sp>
      <p:pic>
        <p:nvPicPr>
          <p:cNvPr id="8" name="Image 0" descr="preencoded.png">    </p:cNvPr>
          <p:cNvPicPr>
            <a:picLocks noChangeAspect="1"/>
          </p:cNvPicPr>
          <p:nvPr/>
        </p:nvPicPr>
        <p:blipFill>
          <a:blip r:embed="rId1"/>
          <a:stretch>
            <a:fillRect/>
          </a:stretch>
        </p:blipFill>
        <p:spPr>
          <a:xfrm>
            <a:off x="880567" y="2023567"/>
            <a:ext cx="241402" cy="241402"/>
          </a:xfrm>
          <a:prstGeom prst="rect">
            <a:avLst/>
          </a:prstGeom>
        </p:spPr>
      </p:pic>
      <p:sp>
        <p:nvSpPr>
          <p:cNvPr id="9" name="Text 6"/>
          <p:cNvSpPr/>
          <p:nvPr/>
        </p:nvSpPr>
        <p:spPr>
          <a:xfrm>
            <a:off x="1389888" y="1947672"/>
            <a:ext cx="2509418" cy="384048"/>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Two clocks</a:t>
            </a:r>
            <a:endParaRPr lang="en-US" sz="1450" dirty="0"/>
          </a:p>
        </p:txBody>
      </p:sp>
      <p:sp>
        <p:nvSpPr>
          <p:cNvPr id="10" name="Text 7"/>
          <p:cNvSpPr/>
          <p:nvPr/>
        </p:nvSpPr>
        <p:spPr>
          <a:xfrm>
            <a:off x="777240" y="2468880"/>
            <a:ext cx="3058058" cy="1051560"/>
          </a:xfrm>
          <a:prstGeom prst="rect">
            <a:avLst/>
          </a:prstGeom>
          <a:noFill/>
          <a:ln/>
        </p:spPr>
        <p:txBody>
          <a:bodyPr wrap="square" lIns="0" tIns="0" rIns="0" bIns="0" rtlCol="0" anchor="ctr"/>
          <a:lstStyle/>
          <a:p>
            <a:pPr indent="0" marL="0">
              <a:buNone/>
            </a:pPr>
            <a:r>
              <a:rPr lang="en-US" sz="1100" dirty="0">
                <a:solidFill>
                  <a:srgbClr val="1B2440"/>
                </a:solidFill>
                <a:latin typeface="Calibri" pitchFamily="34" charset="0"/>
                <a:ea typeface="Calibri" pitchFamily="34" charset="-122"/>
                <a:cs typeface="Calibri" pitchFamily="34" charset="-120"/>
              </a:rPr>
              <a:t>Time-to-DEMO (spec → clickable mock) and time-to-PRODUCTION (spec → running in Confi), published side-by-side. The demo clock matches the vibe-coders; the production clock is the finish line only we reach.</a:t>
            </a:r>
            <a:endParaRPr lang="en-US" sz="1100" dirty="0"/>
          </a:p>
        </p:txBody>
      </p:sp>
      <p:sp>
        <p:nvSpPr>
          <p:cNvPr id="11" name="Shape 8"/>
          <p:cNvSpPr/>
          <p:nvPr/>
        </p:nvSpPr>
        <p:spPr>
          <a:xfrm>
            <a:off x="4338218" y="1691640"/>
            <a:ext cx="3515258" cy="2011680"/>
          </a:xfrm>
          <a:prstGeom prst="roundRect">
            <a:avLst>
              <a:gd name="adj" fmla="val 3636"/>
            </a:avLst>
          </a:prstGeom>
          <a:solidFill>
            <a:srgbClr val="EDF3FC"/>
          </a:solidFill>
          <a:ln/>
          <a:effectLst>
            <a:outerShdw sx="100000" sy="100000" kx="0" ky="0" algn="bl" rotWithShape="0" blurRad="76200" dist="12700" dir="5400000">
              <a:srgbClr val="9AA7C4">
                <a:alpha val="25000"/>
              </a:srgbClr>
            </a:outerShdw>
          </a:effectLst>
        </p:spPr>
      </p:sp>
      <p:sp>
        <p:nvSpPr>
          <p:cNvPr id="12" name="Shape 9"/>
          <p:cNvSpPr/>
          <p:nvPr/>
        </p:nvSpPr>
        <p:spPr>
          <a:xfrm>
            <a:off x="4539386" y="1892808"/>
            <a:ext cx="502920" cy="502920"/>
          </a:xfrm>
          <a:prstGeom prst="ellipse">
            <a:avLst/>
          </a:prstGeom>
          <a:solidFill>
            <a:srgbClr val="1E2761"/>
          </a:solidFill>
          <a:ln/>
        </p:spPr>
      </p:sp>
      <p:pic>
        <p:nvPicPr>
          <p:cNvPr id="13" name="Image 1" descr="preencoded.png">    </p:cNvPr>
          <p:cNvPicPr>
            <a:picLocks noChangeAspect="1"/>
          </p:cNvPicPr>
          <p:nvPr/>
        </p:nvPicPr>
        <p:blipFill>
          <a:blip r:embed="rId2"/>
          <a:stretch>
            <a:fillRect/>
          </a:stretch>
        </p:blipFill>
        <p:spPr>
          <a:xfrm>
            <a:off x="4670146" y="2023567"/>
            <a:ext cx="241402" cy="241402"/>
          </a:xfrm>
          <a:prstGeom prst="rect">
            <a:avLst/>
          </a:prstGeom>
        </p:spPr>
      </p:pic>
      <p:sp>
        <p:nvSpPr>
          <p:cNvPr id="14" name="Text 10"/>
          <p:cNvSpPr/>
          <p:nvPr/>
        </p:nvSpPr>
        <p:spPr>
          <a:xfrm>
            <a:off x="5179466" y="1947672"/>
            <a:ext cx="2509418" cy="384048"/>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Integration tax</a:t>
            </a:r>
            <a:endParaRPr lang="en-US" sz="1450" dirty="0"/>
          </a:p>
        </p:txBody>
      </p:sp>
      <p:sp>
        <p:nvSpPr>
          <p:cNvPr id="15" name="Text 11"/>
          <p:cNvSpPr/>
          <p:nvPr/>
        </p:nvSpPr>
        <p:spPr>
          <a:xfrm>
            <a:off x="4566818" y="2468880"/>
            <a:ext cx="3058058" cy="1051560"/>
          </a:xfrm>
          <a:prstGeom prst="rect">
            <a:avLst/>
          </a:prstGeom>
          <a:noFill/>
          <a:ln/>
        </p:spPr>
        <p:txBody>
          <a:bodyPr wrap="square" lIns="0" tIns="0" rIns="0" bIns="0" rtlCol="0" anchor="ctr"/>
          <a:lstStyle/>
          <a:p>
            <a:pPr indent="0" marL="0">
              <a:buNone/>
            </a:pPr>
            <a:r>
              <a:rPr lang="en-US" sz="1100" dirty="0">
                <a:solidFill>
                  <a:srgbClr val="1B2440"/>
                </a:solidFill>
                <a:latin typeface="Calibri" pitchFamily="34" charset="0"/>
                <a:ea typeface="Calibri" pitchFamily="34" charset="-122"/>
                <a:cs typeface="Calibri" pitchFamily="34" charset="-120"/>
              </a:rPr>
              <a:t>% of feature effort spent inside after the tag lands. The paradigm's core health metric. Target ≤ 15%; rising = spec/mock/pack drift.</a:t>
            </a:r>
            <a:endParaRPr lang="en-US" sz="1100" dirty="0"/>
          </a:p>
        </p:txBody>
      </p:sp>
      <p:sp>
        <p:nvSpPr>
          <p:cNvPr id="16" name="Shape 12"/>
          <p:cNvSpPr/>
          <p:nvPr/>
        </p:nvSpPr>
        <p:spPr>
          <a:xfrm>
            <a:off x="8127797" y="1691640"/>
            <a:ext cx="3515258" cy="2011680"/>
          </a:xfrm>
          <a:prstGeom prst="roundRect">
            <a:avLst>
              <a:gd name="adj" fmla="val 3636"/>
            </a:avLst>
          </a:prstGeom>
          <a:solidFill>
            <a:srgbClr val="EDF3FC"/>
          </a:solidFill>
          <a:ln/>
          <a:effectLst>
            <a:outerShdw sx="100000" sy="100000" kx="0" ky="0" algn="bl" rotWithShape="0" blurRad="76200" dist="12700" dir="5400000">
              <a:srgbClr val="9AA7C4">
                <a:alpha val="25000"/>
              </a:srgbClr>
            </a:outerShdw>
          </a:effectLst>
        </p:spPr>
      </p:sp>
      <p:sp>
        <p:nvSpPr>
          <p:cNvPr id="17" name="Shape 13"/>
          <p:cNvSpPr/>
          <p:nvPr/>
        </p:nvSpPr>
        <p:spPr>
          <a:xfrm>
            <a:off x="8328965" y="1892808"/>
            <a:ext cx="502920" cy="502920"/>
          </a:xfrm>
          <a:prstGeom prst="ellipse">
            <a:avLst/>
          </a:prstGeom>
          <a:solidFill>
            <a:srgbClr val="1E2761"/>
          </a:solidFill>
          <a:ln/>
        </p:spPr>
      </p:sp>
      <p:pic>
        <p:nvPicPr>
          <p:cNvPr id="18" name="Image 2" descr="preencoded.png">    </p:cNvPr>
          <p:cNvPicPr>
            <a:picLocks noChangeAspect="1"/>
          </p:cNvPicPr>
          <p:nvPr/>
        </p:nvPicPr>
        <p:blipFill>
          <a:blip r:embed="rId3"/>
          <a:stretch>
            <a:fillRect/>
          </a:stretch>
        </p:blipFill>
        <p:spPr>
          <a:xfrm>
            <a:off x="8459724" y="2023567"/>
            <a:ext cx="241402" cy="241402"/>
          </a:xfrm>
          <a:prstGeom prst="rect">
            <a:avLst/>
          </a:prstGeom>
        </p:spPr>
      </p:pic>
      <p:sp>
        <p:nvSpPr>
          <p:cNvPr id="19" name="Text 14"/>
          <p:cNvSpPr/>
          <p:nvPr/>
        </p:nvSpPr>
        <p:spPr>
          <a:xfrm>
            <a:off x="8969045" y="1947672"/>
            <a:ext cx="2509418" cy="384048"/>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Egress SLA &amp; yield</a:t>
            </a:r>
            <a:endParaRPr lang="en-US" sz="1450" dirty="0"/>
          </a:p>
        </p:txBody>
      </p:sp>
      <p:sp>
        <p:nvSpPr>
          <p:cNvPr id="20" name="Text 15"/>
          <p:cNvSpPr/>
          <p:nvPr/>
        </p:nvSpPr>
        <p:spPr>
          <a:xfrm>
            <a:off x="8356397" y="2468880"/>
            <a:ext cx="3058058" cy="1051560"/>
          </a:xfrm>
          <a:prstGeom prst="rect">
            <a:avLst/>
          </a:prstGeom>
          <a:noFill/>
          <a:ln/>
        </p:spPr>
        <p:txBody>
          <a:bodyPr wrap="square" lIns="0" tIns="0" rIns="0" bIns="0" rtlCol="0" anchor="ctr"/>
          <a:lstStyle/>
          <a:p>
            <a:pPr indent="0" marL="0">
              <a:buNone/>
            </a:pPr>
            <a:r>
              <a:rPr lang="en-US" sz="1100" dirty="0">
                <a:solidFill>
                  <a:srgbClr val="1B2440"/>
                </a:solidFill>
                <a:latin typeface="Calibri" pitchFamily="34" charset="0"/>
                <a:ea typeface="Calibri" pitchFamily="34" charset="-122"/>
                <a:cs typeface="Calibri" pitchFamily="34" charset="-120"/>
              </a:rPr>
              <a:t>Gate turnaround vs. matrix targets, and % of packages passing Gate 0 clean first try. Falling yield = checklist or tooling gap.</a:t>
            </a:r>
            <a:endParaRPr lang="en-US" sz="1100" dirty="0"/>
          </a:p>
        </p:txBody>
      </p:sp>
      <p:sp>
        <p:nvSpPr>
          <p:cNvPr id="21" name="Shape 16"/>
          <p:cNvSpPr/>
          <p:nvPr/>
        </p:nvSpPr>
        <p:spPr>
          <a:xfrm>
            <a:off x="548640" y="3886200"/>
            <a:ext cx="3515258" cy="2011680"/>
          </a:xfrm>
          <a:prstGeom prst="roundRect">
            <a:avLst>
              <a:gd name="adj" fmla="val 3636"/>
            </a:avLst>
          </a:prstGeom>
          <a:solidFill>
            <a:srgbClr val="EDF3FC"/>
          </a:solidFill>
          <a:ln/>
          <a:effectLst>
            <a:outerShdw sx="100000" sy="100000" kx="0" ky="0" algn="bl" rotWithShape="0" blurRad="76200" dist="12700" dir="5400000">
              <a:srgbClr val="9AA7C4">
                <a:alpha val="25000"/>
              </a:srgbClr>
            </a:outerShdw>
          </a:effectLst>
        </p:spPr>
      </p:sp>
      <p:sp>
        <p:nvSpPr>
          <p:cNvPr id="22" name="Shape 17"/>
          <p:cNvSpPr/>
          <p:nvPr/>
        </p:nvSpPr>
        <p:spPr>
          <a:xfrm>
            <a:off x="749808" y="4087368"/>
            <a:ext cx="502920" cy="502920"/>
          </a:xfrm>
          <a:prstGeom prst="ellipse">
            <a:avLst/>
          </a:prstGeom>
          <a:solidFill>
            <a:srgbClr val="1E2761"/>
          </a:solidFill>
          <a:ln/>
        </p:spPr>
      </p:sp>
      <p:pic>
        <p:nvPicPr>
          <p:cNvPr id="23" name="Image 3" descr="preencoded.png">    </p:cNvPr>
          <p:cNvPicPr>
            <a:picLocks noChangeAspect="1"/>
          </p:cNvPicPr>
          <p:nvPr/>
        </p:nvPicPr>
        <p:blipFill>
          <a:blip r:embed="rId4"/>
          <a:stretch>
            <a:fillRect/>
          </a:stretch>
        </p:blipFill>
        <p:spPr>
          <a:xfrm>
            <a:off x="880567" y="4218127"/>
            <a:ext cx="241402" cy="241402"/>
          </a:xfrm>
          <a:prstGeom prst="rect">
            <a:avLst/>
          </a:prstGeom>
        </p:spPr>
      </p:pic>
      <p:sp>
        <p:nvSpPr>
          <p:cNvPr id="24" name="Text 18"/>
          <p:cNvSpPr/>
          <p:nvPr/>
        </p:nvSpPr>
        <p:spPr>
          <a:xfrm>
            <a:off x="1389888" y="4142232"/>
            <a:ext cx="2509418" cy="384048"/>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Pack coverage</a:t>
            </a:r>
            <a:endParaRPr lang="en-US" sz="1450" dirty="0"/>
          </a:p>
        </p:txBody>
      </p:sp>
      <p:sp>
        <p:nvSpPr>
          <p:cNvPr id="25" name="Text 19"/>
          <p:cNvSpPr/>
          <p:nvPr/>
        </p:nvSpPr>
        <p:spPr>
          <a:xfrm>
            <a:off x="777240" y="4663440"/>
            <a:ext cx="3058058" cy="1051560"/>
          </a:xfrm>
          <a:prstGeom prst="rect">
            <a:avLst/>
          </a:prstGeom>
          <a:noFill/>
          <a:ln/>
        </p:spPr>
        <p:txBody>
          <a:bodyPr wrap="square" lIns="0" tIns="0" rIns="0" bIns="0" rtlCol="0" anchor="ctr"/>
          <a:lstStyle/>
          <a:p>
            <a:pPr indent="0" marL="0">
              <a:buNone/>
            </a:pPr>
            <a:r>
              <a:rPr lang="en-US" sz="1100" dirty="0">
                <a:solidFill>
                  <a:srgbClr val="1B2440"/>
                </a:solidFill>
                <a:latin typeface="Calibri" pitchFamily="34" charset="0"/>
                <a:ea typeface="Calibri" pitchFamily="34" charset="-122"/>
                <a:cs typeface="Calibri" pitchFamily="34" charset="-120"/>
              </a:rPr>
              <a:t>% of business rules expressed as logic-pack data vs. escape-hatch code. Higher = less inside-only work = Phase 3 readiness.</a:t>
            </a:r>
            <a:endParaRPr lang="en-US" sz="1100" dirty="0"/>
          </a:p>
        </p:txBody>
      </p:sp>
      <p:sp>
        <p:nvSpPr>
          <p:cNvPr id="26" name="Shape 20"/>
          <p:cNvSpPr/>
          <p:nvPr/>
        </p:nvSpPr>
        <p:spPr>
          <a:xfrm>
            <a:off x="4338218" y="3886200"/>
            <a:ext cx="3515258" cy="2011680"/>
          </a:xfrm>
          <a:prstGeom prst="roundRect">
            <a:avLst>
              <a:gd name="adj" fmla="val 3636"/>
            </a:avLst>
          </a:prstGeom>
          <a:solidFill>
            <a:srgbClr val="EDF3FC"/>
          </a:solidFill>
          <a:ln/>
          <a:effectLst>
            <a:outerShdw sx="100000" sy="100000" kx="0" ky="0" algn="bl" rotWithShape="0" blurRad="76200" dist="12700" dir="5400000">
              <a:srgbClr val="9AA7C4">
                <a:alpha val="25000"/>
              </a:srgbClr>
            </a:outerShdw>
          </a:effectLst>
        </p:spPr>
      </p:sp>
      <p:sp>
        <p:nvSpPr>
          <p:cNvPr id="27" name="Shape 21"/>
          <p:cNvSpPr/>
          <p:nvPr/>
        </p:nvSpPr>
        <p:spPr>
          <a:xfrm>
            <a:off x="4539386" y="4087368"/>
            <a:ext cx="502920" cy="502920"/>
          </a:xfrm>
          <a:prstGeom prst="ellipse">
            <a:avLst/>
          </a:prstGeom>
          <a:solidFill>
            <a:srgbClr val="1E2761"/>
          </a:solidFill>
          <a:ln/>
        </p:spPr>
      </p:sp>
      <p:pic>
        <p:nvPicPr>
          <p:cNvPr id="28" name="Image 4" descr="preencoded.png">    </p:cNvPr>
          <p:cNvPicPr>
            <a:picLocks noChangeAspect="1"/>
          </p:cNvPicPr>
          <p:nvPr/>
        </p:nvPicPr>
        <p:blipFill>
          <a:blip r:embed="rId5"/>
          <a:stretch>
            <a:fillRect/>
          </a:stretch>
        </p:blipFill>
        <p:spPr>
          <a:xfrm>
            <a:off x="4670146" y="4218127"/>
            <a:ext cx="241402" cy="241402"/>
          </a:xfrm>
          <a:prstGeom prst="rect">
            <a:avLst/>
          </a:prstGeom>
        </p:spPr>
      </p:pic>
      <p:sp>
        <p:nvSpPr>
          <p:cNvPr id="29" name="Text 22"/>
          <p:cNvSpPr/>
          <p:nvPr/>
        </p:nvSpPr>
        <p:spPr>
          <a:xfrm>
            <a:off x="5179466" y="4142232"/>
            <a:ext cx="2509418" cy="384048"/>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Security incidents</a:t>
            </a:r>
            <a:endParaRPr lang="en-US" sz="1450" dirty="0"/>
          </a:p>
        </p:txBody>
      </p:sp>
      <p:sp>
        <p:nvSpPr>
          <p:cNvPr id="30" name="Text 23"/>
          <p:cNvSpPr/>
          <p:nvPr/>
        </p:nvSpPr>
        <p:spPr>
          <a:xfrm>
            <a:off x="4566818" y="4663440"/>
            <a:ext cx="3058058" cy="1051560"/>
          </a:xfrm>
          <a:prstGeom prst="rect">
            <a:avLst/>
          </a:prstGeom>
          <a:noFill/>
          <a:ln/>
        </p:spPr>
        <p:txBody>
          <a:bodyPr wrap="square" lIns="0" tIns="0" rIns="0" bIns="0" rtlCol="0" anchor="ctr"/>
          <a:lstStyle/>
          <a:p>
            <a:pPr indent="0" marL="0">
              <a:buNone/>
            </a:pPr>
            <a:r>
              <a:rPr lang="en-US" sz="1100" dirty="0">
                <a:solidFill>
                  <a:srgbClr val="1B2440"/>
                </a:solidFill>
                <a:latin typeface="Calibri" pitchFamily="34" charset="0"/>
                <a:ea typeface="Calibri" pitchFamily="34" charset="-122"/>
                <a:cs typeface="Calibri" pitchFamily="34" charset="-120"/>
              </a:rPr>
              <a:t>Confirmed leakage events past Gate 3. The only acceptable number is zero; one incident likely ends the program.</a:t>
            </a:r>
            <a:endParaRPr lang="en-US" sz="1100" dirty="0"/>
          </a:p>
        </p:txBody>
      </p:sp>
      <p:sp>
        <p:nvSpPr>
          <p:cNvPr id="31" name="Shape 24"/>
          <p:cNvSpPr/>
          <p:nvPr/>
        </p:nvSpPr>
        <p:spPr>
          <a:xfrm>
            <a:off x="8127797" y="3886200"/>
            <a:ext cx="3515258" cy="2011680"/>
          </a:xfrm>
          <a:prstGeom prst="roundRect">
            <a:avLst>
              <a:gd name="adj" fmla="val 3636"/>
            </a:avLst>
          </a:prstGeom>
          <a:solidFill>
            <a:srgbClr val="EDF3FC"/>
          </a:solidFill>
          <a:ln/>
          <a:effectLst>
            <a:outerShdw sx="100000" sy="100000" kx="0" ky="0" algn="bl" rotWithShape="0" blurRad="76200" dist="12700" dir="5400000">
              <a:srgbClr val="9AA7C4">
                <a:alpha val="25000"/>
              </a:srgbClr>
            </a:outerShdw>
          </a:effectLst>
        </p:spPr>
      </p:sp>
      <p:sp>
        <p:nvSpPr>
          <p:cNvPr id="32" name="Shape 25"/>
          <p:cNvSpPr/>
          <p:nvPr/>
        </p:nvSpPr>
        <p:spPr>
          <a:xfrm>
            <a:off x="8328965" y="4087368"/>
            <a:ext cx="502920" cy="502920"/>
          </a:xfrm>
          <a:prstGeom prst="ellipse">
            <a:avLst/>
          </a:prstGeom>
          <a:solidFill>
            <a:srgbClr val="1E2761"/>
          </a:solidFill>
          <a:ln/>
        </p:spPr>
      </p:sp>
      <p:pic>
        <p:nvPicPr>
          <p:cNvPr id="33" name="Image 5" descr="preencoded.png">    </p:cNvPr>
          <p:cNvPicPr>
            <a:picLocks noChangeAspect="1"/>
          </p:cNvPicPr>
          <p:nvPr/>
        </p:nvPicPr>
        <p:blipFill>
          <a:blip r:embed="rId6"/>
          <a:stretch>
            <a:fillRect/>
          </a:stretch>
        </p:blipFill>
        <p:spPr>
          <a:xfrm>
            <a:off x="8459724" y="4218127"/>
            <a:ext cx="241402" cy="241402"/>
          </a:xfrm>
          <a:prstGeom prst="rect">
            <a:avLst/>
          </a:prstGeom>
        </p:spPr>
      </p:pic>
      <p:sp>
        <p:nvSpPr>
          <p:cNvPr id="34" name="Text 26"/>
          <p:cNvSpPr/>
          <p:nvPr/>
        </p:nvSpPr>
        <p:spPr>
          <a:xfrm>
            <a:off x="8969045" y="4142232"/>
            <a:ext cx="2509418" cy="384048"/>
          </a:xfrm>
          <a:prstGeom prst="rect">
            <a:avLst/>
          </a:prstGeom>
          <a:noFill/>
          <a:ln/>
        </p:spPr>
        <p:txBody>
          <a:bodyPr wrap="square" lIns="0" tIns="0" rIns="0" bIns="0" rtlCol="0" anchor="ctr"/>
          <a:lstStyle/>
          <a:p>
            <a:pPr indent="0" marL="0">
              <a:buNone/>
            </a:pPr>
            <a:r>
              <a:rPr lang="en-US" sz="1450" b="1" dirty="0">
                <a:solidFill>
                  <a:srgbClr val="1E2761"/>
                </a:solidFill>
                <a:latin typeface="Calibri" pitchFamily="34" charset="0"/>
                <a:ea typeface="Calibri" pitchFamily="34" charset="-122"/>
                <a:cs typeface="Calibri" pitchFamily="34" charset="-120"/>
              </a:rPr>
              <a:t>Bus-factor spread</a:t>
            </a:r>
            <a:endParaRPr lang="en-US" sz="1450" dirty="0"/>
          </a:p>
        </p:txBody>
      </p:sp>
      <p:sp>
        <p:nvSpPr>
          <p:cNvPr id="35" name="Text 27"/>
          <p:cNvSpPr/>
          <p:nvPr/>
        </p:nvSpPr>
        <p:spPr>
          <a:xfrm>
            <a:off x="8356397" y="4663440"/>
            <a:ext cx="3058058" cy="1051560"/>
          </a:xfrm>
          <a:prstGeom prst="rect">
            <a:avLst/>
          </a:prstGeom>
          <a:noFill/>
          <a:ln/>
        </p:spPr>
        <p:txBody>
          <a:bodyPr wrap="square" lIns="0" tIns="0" rIns="0" bIns="0" rtlCol="0" anchor="ctr"/>
          <a:lstStyle/>
          <a:p>
            <a:pPr indent="0" marL="0">
              <a:buNone/>
            </a:pPr>
            <a:r>
              <a:rPr lang="en-US" sz="1100" dirty="0">
                <a:solidFill>
                  <a:srgbClr val="1B2440"/>
                </a:solidFill>
                <a:latin typeface="Calibri" pitchFamily="34" charset="0"/>
                <a:ea typeface="Calibri" pitchFamily="34" charset="-122"/>
                <a:cs typeface="Calibri" pitchFamily="34" charset="-120"/>
              </a:rPr>
              <a:t>Per contractor duty: runbook exists + a core-team member has executed it this quarter. 100% = Phase 3 can trigger any day.</a:t>
            </a:r>
            <a:endParaRPr lang="en-US" sz="1100" dirty="0"/>
          </a:p>
        </p:txBody>
      </p:sp>
      <p:sp>
        <p:nvSpPr>
          <p:cNvPr id="36" name="Text 28"/>
          <p:cNvSpPr/>
          <p:nvPr/>
        </p:nvSpPr>
        <p:spPr>
          <a:xfrm>
            <a:off x="548640" y="5989320"/>
            <a:ext cx="11094415" cy="365760"/>
          </a:xfrm>
          <a:prstGeom prst="rect">
            <a:avLst/>
          </a:prstGeom>
          <a:noFill/>
          <a:ln/>
        </p:spPr>
        <p:txBody>
          <a:bodyPr wrap="square" lIns="0" tIns="0" rIns="0" bIns="0" rtlCol="0" anchor="ctr"/>
          <a:lstStyle/>
          <a:p>
            <a:pPr algn="ctr" indent="0" marL="0">
              <a:buNone/>
            </a:pPr>
            <a:r>
              <a:rPr lang="en-US" sz="1250" i="1" dirty="0">
                <a:solidFill>
                  <a:srgbClr val="5A6B8C"/>
                </a:solidFill>
                <a:latin typeface="Calibri" pitchFamily="34" charset="0"/>
                <a:ea typeface="Calibri" pitchFamily="34" charset="-122"/>
                <a:cs typeface="Calibri" pitchFamily="34" charset="-120"/>
              </a:rPr>
              <a:t>Publish the scoreboard monthly — to stakeholders, not just the team. Transparency is the counter-narrative.</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algn="l" indent="0" marL="0">
              <a:buNone/>
            </a:pPr>
            <a:r>
              <a:rPr lang="en-US" sz="900" dirty="0">
                <a:solidFill>
                  <a:srgbClr val="CADCFC"/>
                </a:solidFill>
                <a:latin typeface="Calibri" pitchFamily="34" charset="0"/>
                <a:ea typeface="Calibri" pitchFamily="34" charset="-122"/>
                <a:cs typeface="Calibri" pitchFamily="34" charset="-120"/>
              </a:rPr>
              <a:t>Internet-First, Airgap-Final</a:t>
            </a:r>
            <a:endParaRPr lang="en-US" sz="900" dirty="0"/>
          </a:p>
        </p:txBody>
      </p:sp>
      <p:sp>
        <p:nvSpPr>
          <p:cNvPr id="3" name="Text 1"/>
          <p:cNvSpPr/>
          <p:nvPr/>
        </p:nvSpPr>
        <p:spPr>
          <a:xfrm>
            <a:off x="11094415" y="6473952"/>
            <a:ext cx="548640" cy="274320"/>
          </a:xfrm>
          <a:prstGeom prst="rect">
            <a:avLst/>
          </a:prstGeom>
          <a:noFill/>
          <a:ln/>
        </p:spPr>
        <p:txBody>
          <a:bodyPr wrap="square" lIns="0" tIns="0" rIns="0" bIns="0" rtlCol="0" anchor="ctr"/>
          <a:lstStyle/>
          <a:p>
            <a:pPr algn="r" indent="0" marL="0">
              <a:buNone/>
            </a:pPr>
            <a:r>
              <a:rPr lang="en-US" sz="900" dirty="0">
                <a:solidFill>
                  <a:srgbClr val="CADCFC"/>
                </a:solidFill>
                <a:latin typeface="Calibri" pitchFamily="34" charset="0"/>
                <a:ea typeface="Calibri" pitchFamily="34" charset="-122"/>
                <a:cs typeface="Calibri" pitchFamily="34" charset="-120"/>
              </a:rPr>
              <a:t>19</a:t>
            </a:r>
            <a:endParaRPr lang="en-US" sz="900" dirty="0"/>
          </a:p>
        </p:txBody>
      </p:sp>
      <p:sp>
        <p:nvSpPr>
          <p:cNvPr id="4" name="Shape 2"/>
          <p:cNvSpPr/>
          <p:nvPr/>
        </p:nvSpPr>
        <p:spPr>
          <a:xfrm>
            <a:off x="-2286000" y="3474720"/>
            <a:ext cx="6400800" cy="6400800"/>
          </a:xfrm>
          <a:prstGeom prst="ellipse">
            <a:avLst/>
          </a:prstGeom>
          <a:solidFill>
            <a:srgbClr val="2A3A7A">
              <a:alpha val="40000"/>
            </a:srgbClr>
          </a:solidFill>
          <a:ln/>
        </p:spPr>
      </p:sp>
      <p:sp>
        <p:nvSpPr>
          <p:cNvPr id="5" name="Text 3"/>
          <p:cNvSpPr/>
          <p:nvPr/>
        </p:nvSpPr>
        <p:spPr>
          <a:xfrm>
            <a:off x="548640" y="822960"/>
            <a:ext cx="11094415" cy="365760"/>
          </a:xfrm>
          <a:prstGeom prst="rect">
            <a:avLst/>
          </a:prstGeom>
          <a:noFill/>
          <a:ln/>
        </p:spPr>
        <p:txBody>
          <a:bodyPr wrap="square" lIns="0" tIns="0" rIns="0" bIns="0" rtlCol="0" anchor="ctr"/>
          <a:lstStyle/>
          <a:p>
            <a:pPr indent="0" marL="0">
              <a:buNone/>
            </a:pPr>
            <a:r>
              <a:rPr lang="en-US" sz="1300" b="1" spc="300" kern="0" dirty="0">
                <a:solidFill>
                  <a:srgbClr val="CADCFC"/>
                </a:solidFill>
                <a:latin typeface="Calibri" pitchFamily="34" charset="0"/>
                <a:ea typeface="Calibri" pitchFamily="34" charset="-122"/>
                <a:cs typeface="Calibri" pitchFamily="34" charset="-120"/>
              </a:rPr>
              <a:t>THE DECISION WE ARE ASKING FOR</a:t>
            </a:r>
            <a:endParaRPr lang="en-US" sz="1300" dirty="0"/>
          </a:p>
        </p:txBody>
      </p:sp>
      <p:sp>
        <p:nvSpPr>
          <p:cNvPr id="6" name="Text 4"/>
          <p:cNvSpPr/>
          <p:nvPr/>
        </p:nvSpPr>
        <p:spPr>
          <a:xfrm>
            <a:off x="548640" y="1188720"/>
            <a:ext cx="11094415" cy="9144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Sanction the factory.</a:t>
            </a:r>
            <a:endParaRPr lang="en-US" sz="4400" dirty="0"/>
          </a:p>
        </p:txBody>
      </p:sp>
      <p:sp>
        <p:nvSpPr>
          <p:cNvPr id="7" name="Text 5"/>
          <p:cNvSpPr/>
          <p:nvPr/>
        </p:nvSpPr>
        <p:spPr>
          <a:xfrm>
            <a:off x="548640" y="2286000"/>
            <a:ext cx="10607040" cy="2651760"/>
          </a:xfrm>
          <a:prstGeom prst="rect">
            <a:avLst/>
          </a:prstGeom>
          <a:noFill/>
          <a:ln/>
        </p:spPr>
        <p:txBody>
          <a:bodyPr wrap="square" lIns="0" tIns="0" rIns="0" bIns="0" rtlCol="0" anchor="ctr"/>
          <a:lstStyle/>
          <a:p>
            <a:pPr marL="342900" indent="-342900">
              <a:spcAft>
                <a:spcPts val="1200"/>
              </a:spcAft>
              <a:buSzPct val="100000"/>
              <a:buChar char="•"/>
            </a:pPr>
            <a:r>
              <a:rPr lang="en-US" sz="1500" dirty="0">
                <a:solidFill>
                  <a:srgbClr val="CADCFC"/>
                </a:solidFill>
                <a:latin typeface="Calibri" pitchFamily="34" charset="0"/>
                <a:ea typeface="Calibri" pitchFamily="34" charset="-122"/>
                <a:cs typeface="Calibri" pitchFamily="34" charset="-120"/>
              </a:rPr>
              <a:t>Authorize a bounded Phase-0 pilot in writing: one feature, defined egress channel, defined gates</a:t>
            </a:r>
            <a:endParaRPr lang="en-US" sz="1500" dirty="0"/>
          </a:p>
          <a:p>
            <a:pPr marL="342900" indent="-342900">
              <a:spcAft>
                <a:spcPts val="1200"/>
              </a:spcAft>
              <a:buSzPct val="100000"/>
              <a:buChar char="•"/>
            </a:pPr>
            <a:r>
              <a:rPr lang="en-US" sz="1500" dirty="0">
                <a:solidFill>
                  <a:srgbClr val="CADCFC"/>
                </a:solidFill>
                <a:latin typeface="Calibri" pitchFamily="34" charset="0"/>
                <a:ea typeface="Calibri" pitchFamily="34" charset="-122"/>
                <a:cs typeface="Calibri" pitchFamily="34" charset="-120"/>
              </a:rPr>
              <a:t>Name the approvers: engineering supervisor for Tiers 1–2, a cyber/SW-assurance fast-track contact for Tier 3</a:t>
            </a:r>
            <a:endParaRPr lang="en-US" sz="1500" dirty="0"/>
          </a:p>
          <a:p>
            <a:pPr marL="342900" indent="-342900">
              <a:spcAft>
                <a:spcPts val="1200"/>
              </a:spcAft>
              <a:buSzPct val="100000"/>
              <a:buChar char="•"/>
            </a:pPr>
            <a:r>
              <a:rPr lang="en-US" sz="1500" dirty="0">
                <a:solidFill>
                  <a:srgbClr val="CADCFC"/>
                </a:solidFill>
                <a:latin typeface="Calibri" pitchFamily="34" charset="0"/>
                <a:ea typeface="Calibri" pitchFamily="34" charset="-122"/>
                <a:cs typeface="Calibri" pitchFamily="34" charset="-120"/>
              </a:rPr>
              <a:t>Fund the gate tooling: scanner integration, egress ledger, logic-pack contract &amp; validators</a:t>
            </a:r>
            <a:endParaRPr lang="en-US" sz="1500" dirty="0"/>
          </a:p>
          <a:p>
            <a:pPr marL="342900" indent="-342900">
              <a:spcAft>
                <a:spcPts val="1200"/>
              </a:spcAft>
              <a:buSzPct val="100000"/>
              <a:buChar char="•"/>
            </a:pPr>
            <a:r>
              <a:rPr lang="en-US" sz="1500" dirty="0">
                <a:solidFill>
                  <a:srgbClr val="CADCFC"/>
                </a:solidFill>
                <a:latin typeface="Calibri" pitchFamily="34" charset="0"/>
                <a:ea typeface="Calibri" pitchFamily="34" charset="-122"/>
                <a:cs typeface="Calibri" pitchFamily="34" charset="-120"/>
              </a:rPr>
              <a:t>Endorse the workforce message: contractors get a real transition story, told early and honestly</a:t>
            </a:r>
            <a:endParaRPr lang="en-US" sz="1500" dirty="0"/>
          </a:p>
          <a:p>
            <a:pPr marL="342900" indent="-342900">
              <a:spcAft>
                <a:spcPts val="1200"/>
              </a:spcAft>
              <a:buSzPct val="100000"/>
              <a:buChar char="•"/>
            </a:pPr>
            <a:r>
              <a:rPr lang="en-US" sz="1500" dirty="0">
                <a:solidFill>
                  <a:srgbClr val="CADCFC"/>
                </a:solidFill>
                <a:latin typeface="Calibri" pitchFamily="34" charset="0"/>
                <a:ea typeface="Calibri" pitchFamily="34" charset="-122"/>
                <a:cs typeface="Calibri" pitchFamily="34" charset="-120"/>
              </a:rPr>
              <a:t>Charter a department working group: one gate standard, shared tooling and IR playbook — before N teams invent N processes</a:t>
            </a:r>
            <a:endParaRPr lang="en-US" sz="1500" dirty="0"/>
          </a:p>
        </p:txBody>
      </p:sp>
      <p:sp>
        <p:nvSpPr>
          <p:cNvPr id="8" name="Text 6"/>
          <p:cNvSpPr/>
          <p:nvPr/>
        </p:nvSpPr>
        <p:spPr>
          <a:xfrm>
            <a:off x="548640" y="5120640"/>
            <a:ext cx="10607040" cy="100584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We will not out-slow the disruption, and we must not out-cowboy it.
</a:t>
            </a:r>
            <a:pPr indent="0" marL="0">
              <a:buNone/>
            </a:pPr>
            <a:r>
              <a:rPr lang="en-US" sz="1700" dirty="0">
                <a:solidFill>
                  <a:srgbClr val="CADCFC"/>
                </a:solidFill>
                <a:latin typeface="Calibri" pitchFamily="34" charset="0"/>
                <a:ea typeface="Calibri" pitchFamily="34" charset="-122"/>
                <a:cs typeface="Calibri" pitchFamily="34" charset="-120"/>
              </a:rPr>
              <a:t>Internet speed, airgap discipline — the same loop, run in the open, with the gates that make it defensible.</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Core Engineering</dc:creator>
  <cp:lastModifiedBy>Core Engineering</cp:lastModifiedBy>
  <cp:revision>1</cp:revision>
  <dcterms:created xsi:type="dcterms:W3CDTF">2026-07-18T14:20:47Z</dcterms:created>
  <dcterms:modified xsi:type="dcterms:W3CDTF">2026-07-18T14:20:47Z</dcterms:modified>
</cp:coreProperties>
</file>