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595360" y="-2011680"/>
            <a:ext cx="6400800" cy="6400800"/>
          </a:xfrm>
          <a:prstGeom prst="ellipse">
            <a:avLst/>
          </a:prstGeom>
          <a:solidFill>
            <a:srgbClr val="2A3A7A">
              <a:alpha val="45000"/>
            </a:srgbClr>
          </a:solidFill>
          <a:ln/>
        </p:spPr>
      </p:sp>
      <p:sp>
        <p:nvSpPr>
          <p:cNvPr id="3" name="Shape 1"/>
          <p:cNvSpPr/>
          <p:nvPr/>
        </p:nvSpPr>
        <p:spPr>
          <a:xfrm>
            <a:off x="9875520" y="3291840"/>
            <a:ext cx="5029200" cy="5029200"/>
          </a:xfrm>
          <a:prstGeom prst="ellipse">
            <a:avLst/>
          </a:prstGeom>
          <a:solidFill>
            <a:srgbClr val="2A3A7A">
              <a:alpha val="30000"/>
            </a:srgbClr>
          </a:solidFill>
          <a:ln/>
        </p:spPr>
      </p:sp>
      <p:sp>
        <p:nvSpPr>
          <p:cNvPr id="4" name="Shape 2"/>
          <p:cNvSpPr/>
          <p:nvPr/>
        </p:nvSpPr>
        <p:spPr>
          <a:xfrm>
            <a:off x="548640" y="1051560"/>
            <a:ext cx="777240" cy="777240"/>
          </a:xfrm>
          <a:prstGeom prst="ellipse">
            <a:avLst/>
          </a:prstGeom>
          <a:solidFill>
            <a:srgbClr val="2A3A7A"/>
          </a:solidFill>
          <a:ln/>
        </p:spPr>
      </p:sp>
      <p:pic>
        <p:nvPicPr>
          <p:cNvPr id="5" name="Image 0" descr="preencoded.png">    </p:cNvPr>
          <p:cNvPicPr>
            <a:picLocks noChangeAspect="1"/>
          </p:cNvPicPr>
          <p:nvPr/>
        </p:nvPicPr>
        <p:blipFill>
          <a:blip r:embed="rId1"/>
          <a:stretch>
            <a:fillRect/>
          </a:stretch>
        </p:blipFill>
        <p:spPr>
          <a:xfrm>
            <a:off x="750722" y="1253642"/>
            <a:ext cx="373075" cy="373075"/>
          </a:xfrm>
          <a:prstGeom prst="rect">
            <a:avLst/>
          </a:prstGeom>
        </p:spPr>
      </p:pic>
      <p:sp>
        <p:nvSpPr>
          <p:cNvPr id="6" name="Text 3"/>
          <p:cNvSpPr/>
          <p:nvPr/>
        </p:nvSpPr>
        <p:spPr>
          <a:xfrm>
            <a:off x="548640" y="2148840"/>
            <a:ext cx="9601200" cy="320040"/>
          </a:xfrm>
          <a:prstGeom prst="rect">
            <a:avLst/>
          </a:prstGeom>
          <a:noFill/>
          <a:ln/>
        </p:spPr>
        <p:txBody>
          <a:bodyPr wrap="square" lIns="0" tIns="0" rIns="0" bIns="0"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A PRACTICAL PLAYBOOK FOR THE CORE TEAM</a:t>
            </a:r>
            <a:endParaRPr lang="en-US" sz="1300" dirty="0"/>
          </a:p>
        </p:txBody>
      </p:sp>
      <p:sp>
        <p:nvSpPr>
          <p:cNvPr id="7" name="Text 4"/>
          <p:cNvSpPr/>
          <p:nvPr/>
        </p:nvSpPr>
        <p:spPr>
          <a:xfrm>
            <a:off x="548640" y="2468880"/>
            <a:ext cx="10515600" cy="2011680"/>
          </a:xfrm>
          <a:prstGeom prst="rect">
            <a:avLst/>
          </a:prstGeom>
          <a:noFill/>
          <a:ln/>
        </p:spPr>
        <p:txBody>
          <a:bodyPr wrap="square" lIns="0" tIns="0" rIns="0" bIns="0" rtlCol="0" anchor="ctr"/>
          <a:lstStyle/>
          <a:p>
            <a:pPr indent="0" marL="0">
              <a:lnSpc>
                <a:spcPct val="100000"/>
              </a:lnSpc>
              <a:buNone/>
            </a:pPr>
            <a:r>
              <a:rPr lang="en-US" sz="5400" b="1" dirty="0">
                <a:solidFill>
                  <a:srgbClr val="FFFFFF"/>
                </a:solidFill>
                <a:latin typeface="Cambria" pitchFamily="34" charset="0"/>
                <a:ea typeface="Cambria" pitchFamily="34" charset="-122"/>
                <a:cs typeface="Cambria" pitchFamily="34" charset="-120"/>
              </a:rPr>
              <a:t>Internet-First,</a:t>
            </a:r>
            <a:endParaRPr lang="en-US" sz="5400" dirty="0"/>
          </a:p>
          <a:p>
            <a:pPr indent="0" marL="0">
              <a:lnSpc>
                <a:spcPct val="100000"/>
              </a:lnSpc>
              <a:buNone/>
            </a:pPr>
            <a:r>
              <a:rPr lang="en-US" sz="5400" b="1" dirty="0">
                <a:solidFill>
                  <a:srgbClr val="FFFFFF"/>
                </a:solidFill>
                <a:latin typeface="Cambria" pitchFamily="34" charset="0"/>
                <a:ea typeface="Cambria" pitchFamily="34" charset="-122"/>
                <a:cs typeface="Cambria" pitchFamily="34" charset="-120"/>
              </a:rPr>
              <a:t>Airgap-Final</a:t>
            </a:r>
            <a:endParaRPr lang="en-US" sz="5400" dirty="0"/>
          </a:p>
        </p:txBody>
      </p:sp>
      <p:sp>
        <p:nvSpPr>
          <p:cNvPr id="8" name="Text 5"/>
          <p:cNvSpPr/>
          <p:nvPr/>
        </p:nvSpPr>
        <p:spPr>
          <a:xfrm>
            <a:off x="548640" y="4663440"/>
            <a:ext cx="9601200" cy="45720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Build fast outside. Ship clean inside. Same team, better tools.</a:t>
            </a:r>
            <a:endParaRPr lang="en-US" sz="1700" dirty="0"/>
          </a:p>
        </p:txBody>
      </p:sp>
      <p:sp>
        <p:nvSpPr>
          <p:cNvPr id="9" name="Text 6"/>
          <p:cNvSpPr/>
          <p:nvPr/>
        </p:nvSpPr>
        <p:spPr>
          <a:xfrm>
            <a:off x="548640" y="5943600"/>
            <a:ext cx="731520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Team Working Edition  ·  Core Engineering  ·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2</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WHY WE'RE DOING THIS</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We'd rather spend our time on the interesting problems</a:t>
            </a:r>
            <a:endParaRPr lang="en-US" sz="2800" dirty="0"/>
          </a:p>
        </p:txBody>
      </p:sp>
      <p:sp>
        <p:nvSpPr>
          <p:cNvPr id="6" name="Shape 4"/>
          <p:cNvSpPr/>
          <p:nvPr/>
        </p:nvSpPr>
        <p:spPr>
          <a:xfrm>
            <a:off x="548640" y="1600200"/>
            <a:ext cx="3520440" cy="2331720"/>
          </a:xfrm>
          <a:prstGeom prst="roundRect">
            <a:avLst>
              <a:gd name="adj" fmla="val 3529"/>
            </a:avLst>
          </a:prstGeom>
          <a:solidFill>
            <a:srgbClr val="EDF3FC"/>
          </a:solidFill>
          <a:ln/>
          <a:effectLst>
            <a:outerShdw sx="100000" sy="100000" kx="0" ky="0" algn="bl" rotWithShape="0" blurRad="76200" dist="12700" dir="5400000">
              <a:srgbClr val="9AA7C4">
                <a:alpha val="22000"/>
              </a:srgbClr>
            </a:outerShdw>
          </a:effectLst>
        </p:spPr>
      </p:sp>
      <p:sp>
        <p:nvSpPr>
          <p:cNvPr id="7" name="Shape 5"/>
          <p:cNvSpPr/>
          <p:nvPr/>
        </p:nvSpPr>
        <p:spPr>
          <a:xfrm>
            <a:off x="777240" y="1828800"/>
            <a:ext cx="548640" cy="54864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919886" y="1971446"/>
            <a:ext cx="263347" cy="263347"/>
          </a:xfrm>
          <a:prstGeom prst="rect">
            <a:avLst/>
          </a:prstGeom>
        </p:spPr>
      </p:pic>
      <p:sp>
        <p:nvSpPr>
          <p:cNvPr id="9" name="Text 6"/>
          <p:cNvSpPr/>
          <p:nvPr/>
        </p:nvSpPr>
        <p:spPr>
          <a:xfrm>
            <a:off x="777240" y="2514600"/>
            <a:ext cx="3063240" cy="5486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Friction eats our months</a:t>
            </a:r>
            <a:endParaRPr lang="en-US" sz="1500" dirty="0"/>
          </a:p>
        </p:txBody>
      </p:sp>
      <p:sp>
        <p:nvSpPr>
          <p:cNvPr id="10" name="Text 7"/>
          <p:cNvSpPr/>
          <p:nvPr/>
        </p:nvSpPr>
        <p:spPr>
          <a:xfrm>
            <a:off x="777240" y="3017520"/>
            <a:ext cx="3063240" cy="822960"/>
          </a:xfrm>
          <a:prstGeom prst="rect">
            <a:avLst/>
          </a:prstGeom>
          <a:noFill/>
          <a:ln/>
        </p:spPr>
        <p:txBody>
          <a:bodyPr wrap="square" lIns="0" tIns="0" rIns="0" bIns="0" rtlCol="0" anchor="ctr"/>
          <a:lstStyle/>
          <a:p>
            <a:pPr indent="0" marL="0">
              <a:buNone/>
            </a:pPr>
            <a:r>
              <a:rPr lang="en-US" sz="1150" dirty="0">
                <a:solidFill>
                  <a:srgbClr val="1B2440"/>
                </a:solidFill>
                <a:latin typeface="Calibri" pitchFamily="34" charset="0"/>
                <a:ea typeface="Calibri" pitchFamily="34" charset="-122"/>
                <a:cs typeface="Calibri" pitchFamily="34" charset="-120"/>
              </a:rPr>
              <a:t>Environment setup, access requests, and pipeline waiting take up more of a delivery cycle than the actual feature does. That's the part we can fix.</a:t>
            </a:r>
            <a:endParaRPr lang="en-US" sz="1150" dirty="0"/>
          </a:p>
        </p:txBody>
      </p:sp>
      <p:sp>
        <p:nvSpPr>
          <p:cNvPr id="11" name="Shape 8"/>
          <p:cNvSpPr/>
          <p:nvPr/>
        </p:nvSpPr>
        <p:spPr>
          <a:xfrm>
            <a:off x="4334256" y="1600200"/>
            <a:ext cx="3520440" cy="2331720"/>
          </a:xfrm>
          <a:prstGeom prst="roundRect">
            <a:avLst>
              <a:gd name="adj" fmla="val 3529"/>
            </a:avLst>
          </a:prstGeom>
          <a:solidFill>
            <a:srgbClr val="EDF3FC"/>
          </a:solidFill>
          <a:ln/>
          <a:effectLst>
            <a:outerShdw sx="100000" sy="100000" kx="0" ky="0" algn="bl" rotWithShape="0" blurRad="76200" dist="12700" dir="5400000">
              <a:srgbClr val="9AA7C4">
                <a:alpha val="22000"/>
              </a:srgbClr>
            </a:outerShdw>
          </a:effectLst>
        </p:spPr>
      </p:sp>
      <p:sp>
        <p:nvSpPr>
          <p:cNvPr id="12" name="Shape 9"/>
          <p:cNvSpPr/>
          <p:nvPr/>
        </p:nvSpPr>
        <p:spPr>
          <a:xfrm>
            <a:off x="4562856" y="1828800"/>
            <a:ext cx="548640" cy="548640"/>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4705502" y="1971446"/>
            <a:ext cx="263347" cy="263347"/>
          </a:xfrm>
          <a:prstGeom prst="rect">
            <a:avLst/>
          </a:prstGeom>
        </p:spPr>
      </p:pic>
      <p:sp>
        <p:nvSpPr>
          <p:cNvPr id="14" name="Text 10"/>
          <p:cNvSpPr/>
          <p:nvPr/>
        </p:nvSpPr>
        <p:spPr>
          <a:xfrm>
            <a:off x="4562856" y="2514600"/>
            <a:ext cx="3063240" cy="5486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Let's out-finish, not just out-start</a:t>
            </a:r>
            <a:endParaRPr lang="en-US" sz="1500" dirty="0"/>
          </a:p>
        </p:txBody>
      </p:sp>
      <p:sp>
        <p:nvSpPr>
          <p:cNvPr id="15" name="Text 11"/>
          <p:cNvSpPr/>
          <p:nvPr/>
        </p:nvSpPr>
        <p:spPr>
          <a:xfrm>
            <a:off x="4562856" y="3017520"/>
            <a:ext cx="3063240" cy="822960"/>
          </a:xfrm>
          <a:prstGeom prst="rect">
            <a:avLst/>
          </a:prstGeom>
          <a:noFill/>
          <a:ln/>
        </p:spPr>
        <p:txBody>
          <a:bodyPr wrap="square" lIns="0" tIns="0" rIns="0" bIns="0" rtlCol="0" anchor="ctr"/>
          <a:lstStyle/>
          <a:p>
            <a:pPr indent="0" marL="0">
              <a:buNone/>
            </a:pPr>
            <a:r>
              <a:rPr lang="en-US" sz="1150" dirty="0">
                <a:solidFill>
                  <a:srgbClr val="1B2440"/>
                </a:solidFill>
                <a:latin typeface="Calibri" pitchFamily="34" charset="0"/>
                <a:ea typeface="Calibri" pitchFamily="34" charset="-122"/>
                <a:cs typeface="Calibri" pitchFamily="34" charset="-120"/>
              </a:rPr>
              <a:t>Other teams are already prototyping fast with AI on the public internet. Great — a fast demo is easy. We want our fast path to lead all the way to a real, running feature.</a:t>
            </a:r>
            <a:endParaRPr lang="en-US" sz="1150" dirty="0"/>
          </a:p>
        </p:txBody>
      </p:sp>
      <p:sp>
        <p:nvSpPr>
          <p:cNvPr id="16" name="Shape 12"/>
          <p:cNvSpPr/>
          <p:nvPr/>
        </p:nvSpPr>
        <p:spPr>
          <a:xfrm>
            <a:off x="8119872" y="1600200"/>
            <a:ext cx="3520440" cy="2331720"/>
          </a:xfrm>
          <a:prstGeom prst="roundRect">
            <a:avLst>
              <a:gd name="adj" fmla="val 3529"/>
            </a:avLst>
          </a:prstGeom>
          <a:solidFill>
            <a:srgbClr val="EDF3FC"/>
          </a:solidFill>
          <a:ln/>
          <a:effectLst>
            <a:outerShdw sx="100000" sy="100000" kx="0" ky="0" algn="bl" rotWithShape="0" blurRad="76200" dist="12700" dir="5400000">
              <a:srgbClr val="9AA7C4">
                <a:alpha val="22000"/>
              </a:srgbClr>
            </a:outerShdw>
          </a:effectLst>
        </p:spPr>
      </p:sp>
      <p:sp>
        <p:nvSpPr>
          <p:cNvPr id="17" name="Shape 13"/>
          <p:cNvSpPr/>
          <p:nvPr/>
        </p:nvSpPr>
        <p:spPr>
          <a:xfrm>
            <a:off x="8348472" y="1828800"/>
            <a:ext cx="548640" cy="548640"/>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8491118" y="1971446"/>
            <a:ext cx="263347" cy="263347"/>
          </a:xfrm>
          <a:prstGeom prst="rect">
            <a:avLst/>
          </a:prstGeom>
        </p:spPr>
      </p:pic>
      <p:sp>
        <p:nvSpPr>
          <p:cNvPr id="19" name="Text 14"/>
          <p:cNvSpPr/>
          <p:nvPr/>
        </p:nvSpPr>
        <p:spPr>
          <a:xfrm>
            <a:off x="8348472" y="2514600"/>
            <a:ext cx="3063240" cy="5486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We want proof before it counts</a:t>
            </a:r>
            <a:endParaRPr lang="en-US" sz="1500" dirty="0"/>
          </a:p>
        </p:txBody>
      </p:sp>
      <p:sp>
        <p:nvSpPr>
          <p:cNvPr id="20" name="Text 15"/>
          <p:cNvSpPr/>
          <p:nvPr/>
        </p:nvSpPr>
        <p:spPr>
          <a:xfrm>
            <a:off x="8348472" y="3017520"/>
            <a:ext cx="3063240" cy="822960"/>
          </a:xfrm>
          <a:prstGeom prst="rect">
            <a:avLst/>
          </a:prstGeom>
          <a:noFill/>
          <a:ln/>
        </p:spPr>
        <p:txBody>
          <a:bodyPr wrap="square" lIns="0" tIns="0" rIns="0" bIns="0" rtlCol="0" anchor="ctr"/>
          <a:lstStyle/>
          <a:p>
            <a:pPr indent="0" marL="0">
              <a:buNone/>
            </a:pPr>
            <a:r>
              <a:rPr lang="en-US" sz="1150" dirty="0">
                <a:solidFill>
                  <a:srgbClr val="1B2440"/>
                </a:solidFill>
                <a:latin typeface="Calibri" pitchFamily="34" charset="0"/>
                <a:ea typeface="Calibri" pitchFamily="34" charset="-122"/>
                <a:cs typeface="Calibri" pitchFamily="34" charset="-120"/>
              </a:rPr>
              <a:t>Building and testing outside means the feature has already been exercised end-to-end by the time it reaches Confi. Integration becomes validation, not discovery.</a:t>
            </a:r>
            <a:endParaRPr lang="en-US" sz="1150" dirty="0"/>
          </a:p>
        </p:txBody>
      </p:sp>
      <p:sp>
        <p:nvSpPr>
          <p:cNvPr id="21" name="Shape 16"/>
          <p:cNvSpPr/>
          <p:nvPr/>
        </p:nvSpPr>
        <p:spPr>
          <a:xfrm>
            <a:off x="548640" y="4297680"/>
            <a:ext cx="11094415" cy="1280160"/>
          </a:xfrm>
          <a:prstGeom prst="roundRect">
            <a:avLst>
              <a:gd name="adj" fmla="val 6429"/>
            </a:avLst>
          </a:prstGeom>
          <a:solidFill>
            <a:srgbClr val="EAF4EF"/>
          </a:solidFill>
          <a:ln/>
          <a:effectLst>
            <a:outerShdw sx="100000" sy="100000" kx="0" ky="0" algn="bl" rotWithShape="0" blurRad="76200" dist="12700" dir="5400000">
              <a:srgbClr val="9AA7C4">
                <a:alpha val="22000"/>
              </a:srgbClr>
            </a:outerShdw>
          </a:effectLst>
        </p:spPr>
      </p:sp>
      <p:sp>
        <p:nvSpPr>
          <p:cNvPr id="22" name="Shape 17"/>
          <p:cNvSpPr/>
          <p:nvPr/>
        </p:nvSpPr>
        <p:spPr>
          <a:xfrm>
            <a:off x="804672" y="4572000"/>
            <a:ext cx="640080" cy="640080"/>
          </a:xfrm>
          <a:prstGeom prst="ellipse">
            <a:avLst/>
          </a:prstGeom>
          <a:solidFill>
            <a:srgbClr val="2E7D5B"/>
          </a:solidFill>
          <a:ln/>
        </p:spPr>
      </p:sp>
      <p:pic>
        <p:nvPicPr>
          <p:cNvPr id="23" name="Image 3" descr="preencoded.png">    </p:cNvPr>
          <p:cNvPicPr>
            <a:picLocks noChangeAspect="1"/>
          </p:cNvPicPr>
          <p:nvPr/>
        </p:nvPicPr>
        <p:blipFill>
          <a:blip r:embed="rId4"/>
          <a:stretch>
            <a:fillRect/>
          </a:stretch>
        </p:blipFill>
        <p:spPr>
          <a:xfrm>
            <a:off x="971093" y="4738421"/>
            <a:ext cx="307238" cy="307238"/>
          </a:xfrm>
          <a:prstGeom prst="rect">
            <a:avLst/>
          </a:prstGeom>
        </p:spPr>
      </p:pic>
      <p:sp>
        <p:nvSpPr>
          <p:cNvPr id="24" name="Text 18"/>
          <p:cNvSpPr/>
          <p:nvPr/>
        </p:nvSpPr>
        <p:spPr>
          <a:xfrm>
            <a:off x="1600200" y="4462272"/>
            <a:ext cx="9814255" cy="1005840"/>
          </a:xfrm>
          <a:prstGeom prst="rect">
            <a:avLst/>
          </a:prstGeom>
          <a:noFill/>
          <a:ln/>
        </p:spPr>
        <p:txBody>
          <a:bodyPr wrap="square" lIns="0" tIns="0" rIns="0" bIns="0" rtlCol="0" anchor="ctr"/>
          <a:lstStyle/>
          <a:p>
            <a:pPr indent="0" marL="0">
              <a:buNone/>
            </a:pPr>
            <a:r>
              <a:rPr lang="en-US" sz="1400" b="1" dirty="0">
                <a:solidFill>
                  <a:srgbClr val="2E7D5B"/>
                </a:solidFill>
                <a:latin typeface="Calibri" pitchFamily="34" charset="0"/>
                <a:ea typeface="Calibri" pitchFamily="34" charset="-122"/>
                <a:cs typeface="Calibri" pitchFamily="34" charset="-120"/>
              </a:rPr>
              <a:t>The point isn't to move faster than is safe. </a:t>
            </a:r>
            <a:pPr indent="0" marL="0">
              <a:buNone/>
            </a:pPr>
            <a:r>
              <a:rPr lang="en-US" sz="1400" dirty="0">
                <a:solidFill>
                  <a:srgbClr val="1B2440"/>
                </a:solidFill>
                <a:latin typeface="Calibri" pitchFamily="34" charset="0"/>
                <a:ea typeface="Calibri" pitchFamily="34" charset="-122"/>
                <a:cs typeface="Calibri" pitchFamily="34" charset="-120"/>
              </a:rPr>
              <a:t>It's to stop spending our speed on friction that has nothing to do with the actual problem — and to get the boring parts (setup, plumbing, waiting) so consistent that nobody has to think about them anymore.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3</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HOW IT WORKS, IN ONE PICTURE</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One feature, two places to work, one clean handoff</a:t>
            </a:r>
            <a:endParaRPr lang="en-US" sz="2800" dirty="0"/>
          </a:p>
        </p:txBody>
      </p:sp>
      <p:sp>
        <p:nvSpPr>
          <p:cNvPr id="6" name="Shape 4"/>
          <p:cNvSpPr/>
          <p:nvPr/>
        </p:nvSpPr>
        <p:spPr>
          <a:xfrm>
            <a:off x="682600" y="1828800"/>
            <a:ext cx="2514600" cy="2651760"/>
          </a:xfrm>
          <a:prstGeom prst="roundRect">
            <a:avLst>
              <a:gd name="adj" fmla="val 3273"/>
            </a:avLst>
          </a:prstGeom>
          <a:solidFill>
            <a:srgbClr val="EDF3FC"/>
          </a:solidFill>
          <a:ln/>
          <a:effectLst>
            <a:outerShdw sx="100000" sy="100000" kx="0" ky="0" algn="bl" rotWithShape="0" blurRad="76200" dist="12700" dir="5400000">
              <a:srgbClr val="9AA7C4">
                <a:alpha val="22000"/>
              </a:srgbClr>
            </a:outerShdw>
          </a:effectLst>
        </p:spPr>
      </p:sp>
      <p:sp>
        <p:nvSpPr>
          <p:cNvPr id="7" name="Shape 5"/>
          <p:cNvSpPr/>
          <p:nvPr/>
        </p:nvSpPr>
        <p:spPr>
          <a:xfrm>
            <a:off x="1619860" y="2084832"/>
            <a:ext cx="640080" cy="64008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1786280" y="2251253"/>
            <a:ext cx="307238" cy="307238"/>
          </a:xfrm>
          <a:prstGeom prst="rect">
            <a:avLst/>
          </a:prstGeom>
        </p:spPr>
      </p:pic>
      <p:sp>
        <p:nvSpPr>
          <p:cNvPr id="9" name="Text 6"/>
          <p:cNvSpPr/>
          <p:nvPr/>
        </p:nvSpPr>
        <p:spPr>
          <a:xfrm>
            <a:off x="774040" y="2880360"/>
            <a:ext cx="2331720" cy="64008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Write the spec</a:t>
            </a:r>
            <a:endParaRPr lang="en-US" sz="1400" dirty="0"/>
          </a:p>
          <a:p>
            <a:pPr algn="ctr" indent="0" marL="0">
              <a:buNone/>
            </a:pPr>
            <a:r>
              <a:rPr lang="en-US" sz="1400" b="1" dirty="0">
                <a:solidFill>
                  <a:srgbClr val="1E2761"/>
                </a:solidFill>
                <a:latin typeface="Calibri" pitchFamily="34" charset="0"/>
                <a:ea typeface="Calibri" pitchFamily="34" charset="-122"/>
                <a:cs typeface="Calibri" pitchFamily="34" charset="-120"/>
              </a:rPr>
              <a:t>inside</a:t>
            </a:r>
            <a:endParaRPr lang="en-US" sz="1400" dirty="0"/>
          </a:p>
        </p:txBody>
      </p:sp>
      <p:sp>
        <p:nvSpPr>
          <p:cNvPr id="10" name="Text 7"/>
          <p:cNvSpPr/>
          <p:nvPr/>
        </p:nvSpPr>
        <p:spPr>
          <a:xfrm>
            <a:off x="792328" y="3566160"/>
            <a:ext cx="2295144" cy="822960"/>
          </a:xfrm>
          <a:prstGeom prst="rect">
            <a:avLst/>
          </a:prstGeom>
          <a:noFill/>
          <a:ln/>
        </p:spPr>
        <p:txBody>
          <a:bodyPr wrap="square" lIns="0" tIns="0" rIns="0" bIns="0" rtlCol="0" anchor="ctr"/>
          <a:lstStyle/>
          <a:p>
            <a:pPr algn="ctr" indent="0" marL="0">
              <a:buNone/>
            </a:pPr>
            <a:r>
              <a:rPr lang="en-US" sz="1050" dirty="0">
                <a:solidFill>
                  <a:srgbClr val="1B2440"/>
                </a:solidFill>
                <a:latin typeface="Calibri" pitchFamily="34" charset="0"/>
                <a:ea typeface="Calibri" pitchFamily="34" charset="-122"/>
                <a:cs typeface="Calibri" pitchFamily="34" charset="-120"/>
              </a:rPr>
              <a:t>Routes, API contracts,</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sample data — the</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blueprint for the feature</a:t>
            </a:r>
            <a:endParaRPr lang="en-US" sz="1050" dirty="0"/>
          </a:p>
        </p:txBody>
      </p:sp>
      <p:sp>
        <p:nvSpPr>
          <p:cNvPr id="11" name="Text 8"/>
          <p:cNvSpPr/>
          <p:nvPr/>
        </p:nvSpPr>
        <p:spPr>
          <a:xfrm>
            <a:off x="3178912" y="2971800"/>
            <a:ext cx="274320" cy="365760"/>
          </a:xfrm>
          <a:prstGeom prst="rect">
            <a:avLst/>
          </a:prstGeom>
          <a:noFill/>
          <a:ln/>
        </p:spPr>
        <p:txBody>
          <a:bodyPr wrap="square" lIns="0" tIns="0" rIns="0" bIns="0" rtlCol="0" anchor="ctr"/>
          <a:lstStyle/>
          <a:p>
            <a:pPr algn="ctr" indent="0" marL="0">
              <a:buNone/>
            </a:pPr>
            <a:r>
              <a:rPr lang="en-US" sz="1800" dirty="0">
                <a:solidFill>
                  <a:srgbClr val="5A6B8C"/>
                </a:solidFill>
              </a:rPr>
              <a:t>▸</a:t>
            </a:r>
            <a:endParaRPr lang="en-US" sz="1800" dirty="0"/>
          </a:p>
        </p:txBody>
      </p:sp>
      <p:sp>
        <p:nvSpPr>
          <p:cNvPr id="12" name="Shape 9"/>
          <p:cNvSpPr/>
          <p:nvPr/>
        </p:nvSpPr>
        <p:spPr>
          <a:xfrm>
            <a:off x="3453232" y="1828800"/>
            <a:ext cx="2514600" cy="2651760"/>
          </a:xfrm>
          <a:prstGeom prst="roundRect">
            <a:avLst>
              <a:gd name="adj" fmla="val 3273"/>
            </a:avLst>
          </a:prstGeom>
          <a:solidFill>
            <a:srgbClr val="EAF4EF"/>
          </a:solidFill>
          <a:ln/>
          <a:effectLst>
            <a:outerShdw sx="100000" sy="100000" kx="0" ky="0" algn="bl" rotWithShape="0" blurRad="76200" dist="12700" dir="5400000">
              <a:srgbClr val="9AA7C4">
                <a:alpha val="22000"/>
              </a:srgbClr>
            </a:outerShdw>
          </a:effectLst>
        </p:spPr>
      </p:sp>
      <p:sp>
        <p:nvSpPr>
          <p:cNvPr id="13" name="Shape 10"/>
          <p:cNvSpPr/>
          <p:nvPr/>
        </p:nvSpPr>
        <p:spPr>
          <a:xfrm>
            <a:off x="4390492" y="2084832"/>
            <a:ext cx="640080" cy="640080"/>
          </a:xfrm>
          <a:prstGeom prst="ellipse">
            <a:avLst/>
          </a:prstGeom>
          <a:solidFill>
            <a:srgbClr val="1E2761"/>
          </a:solidFill>
          <a:ln/>
        </p:spPr>
      </p:sp>
      <p:pic>
        <p:nvPicPr>
          <p:cNvPr id="14" name="Image 1" descr="preencoded.png">    </p:cNvPr>
          <p:cNvPicPr>
            <a:picLocks noChangeAspect="1"/>
          </p:cNvPicPr>
          <p:nvPr/>
        </p:nvPicPr>
        <p:blipFill>
          <a:blip r:embed="rId2"/>
          <a:stretch>
            <a:fillRect/>
          </a:stretch>
        </p:blipFill>
        <p:spPr>
          <a:xfrm>
            <a:off x="4556912" y="2251253"/>
            <a:ext cx="307238" cy="307238"/>
          </a:xfrm>
          <a:prstGeom prst="rect">
            <a:avLst/>
          </a:prstGeom>
        </p:spPr>
      </p:pic>
      <p:sp>
        <p:nvSpPr>
          <p:cNvPr id="15" name="Text 11"/>
          <p:cNvSpPr/>
          <p:nvPr/>
        </p:nvSpPr>
        <p:spPr>
          <a:xfrm>
            <a:off x="3544672" y="2880360"/>
            <a:ext cx="2331720" cy="64008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Build &amp; test</a:t>
            </a:r>
            <a:endParaRPr lang="en-US" sz="1400" dirty="0"/>
          </a:p>
          <a:p>
            <a:pPr algn="ctr" indent="0" marL="0">
              <a:buNone/>
            </a:pPr>
            <a:r>
              <a:rPr lang="en-US" sz="1400" b="1" dirty="0">
                <a:solidFill>
                  <a:srgbClr val="1E2761"/>
                </a:solidFill>
                <a:latin typeface="Calibri" pitchFamily="34" charset="0"/>
                <a:ea typeface="Calibri" pitchFamily="34" charset="-122"/>
                <a:cs typeface="Calibri" pitchFamily="34" charset="-120"/>
              </a:rPr>
              <a:t>outside</a:t>
            </a:r>
            <a:endParaRPr lang="en-US" sz="1400" dirty="0"/>
          </a:p>
        </p:txBody>
      </p:sp>
      <p:sp>
        <p:nvSpPr>
          <p:cNvPr id="16" name="Text 12"/>
          <p:cNvSpPr/>
          <p:nvPr/>
        </p:nvSpPr>
        <p:spPr>
          <a:xfrm>
            <a:off x="3562960" y="3566160"/>
            <a:ext cx="2295144" cy="822960"/>
          </a:xfrm>
          <a:prstGeom prst="rect">
            <a:avLst/>
          </a:prstGeom>
          <a:noFill/>
          <a:ln/>
        </p:spPr>
        <p:txBody>
          <a:bodyPr wrap="square" lIns="0" tIns="0" rIns="0" bIns="0" rtlCol="0" anchor="ctr"/>
          <a:lstStyle/>
          <a:p>
            <a:pPr algn="ctr" indent="0" marL="0">
              <a:buNone/>
            </a:pPr>
            <a:r>
              <a:rPr lang="en-US" sz="1050" dirty="0">
                <a:solidFill>
                  <a:srgbClr val="1B2440"/>
                </a:solidFill>
                <a:latin typeface="Calibri" pitchFamily="34" charset="0"/>
                <a:ea typeface="Calibri" pitchFamily="34" charset="-122"/>
                <a:cs typeface="Calibri" pitchFamily="34" charset="-120"/>
              </a:rPr>
              <a:t>Fast, with AI pairing,</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against realistic mocks —</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no backend needed</a:t>
            </a:r>
            <a:endParaRPr lang="en-US" sz="1050" dirty="0"/>
          </a:p>
        </p:txBody>
      </p:sp>
      <p:sp>
        <p:nvSpPr>
          <p:cNvPr id="17" name="Text 13"/>
          <p:cNvSpPr/>
          <p:nvPr/>
        </p:nvSpPr>
        <p:spPr>
          <a:xfrm>
            <a:off x="5949544" y="2971800"/>
            <a:ext cx="274320" cy="365760"/>
          </a:xfrm>
          <a:prstGeom prst="rect">
            <a:avLst/>
          </a:prstGeom>
          <a:noFill/>
          <a:ln/>
        </p:spPr>
        <p:txBody>
          <a:bodyPr wrap="square" lIns="0" tIns="0" rIns="0" bIns="0" rtlCol="0" anchor="ctr"/>
          <a:lstStyle/>
          <a:p>
            <a:pPr algn="ctr" indent="0" marL="0">
              <a:buNone/>
            </a:pPr>
            <a:r>
              <a:rPr lang="en-US" sz="1800" dirty="0">
                <a:solidFill>
                  <a:srgbClr val="5A6B8C"/>
                </a:solidFill>
              </a:rPr>
              <a:t>▸</a:t>
            </a:r>
            <a:endParaRPr lang="en-US" sz="1800" dirty="0"/>
          </a:p>
        </p:txBody>
      </p:sp>
      <p:sp>
        <p:nvSpPr>
          <p:cNvPr id="18" name="Shape 14"/>
          <p:cNvSpPr/>
          <p:nvPr/>
        </p:nvSpPr>
        <p:spPr>
          <a:xfrm>
            <a:off x="6223864" y="1828800"/>
            <a:ext cx="2514600" cy="2651760"/>
          </a:xfrm>
          <a:prstGeom prst="roundRect">
            <a:avLst>
              <a:gd name="adj" fmla="val 3273"/>
            </a:avLst>
          </a:prstGeom>
          <a:solidFill>
            <a:srgbClr val="EDF3FC"/>
          </a:solidFill>
          <a:ln/>
          <a:effectLst>
            <a:outerShdw sx="100000" sy="100000" kx="0" ky="0" algn="bl" rotWithShape="0" blurRad="76200" dist="12700" dir="5400000">
              <a:srgbClr val="9AA7C4">
                <a:alpha val="22000"/>
              </a:srgbClr>
            </a:outerShdw>
          </a:effectLst>
        </p:spPr>
      </p:sp>
      <p:sp>
        <p:nvSpPr>
          <p:cNvPr id="19" name="Shape 15"/>
          <p:cNvSpPr/>
          <p:nvPr/>
        </p:nvSpPr>
        <p:spPr>
          <a:xfrm>
            <a:off x="7161124" y="2084832"/>
            <a:ext cx="640080" cy="640080"/>
          </a:xfrm>
          <a:prstGeom prst="ellipse">
            <a:avLst/>
          </a:prstGeom>
          <a:solidFill>
            <a:srgbClr val="1E2761"/>
          </a:solidFill>
          <a:ln/>
        </p:spPr>
      </p:sp>
      <p:pic>
        <p:nvPicPr>
          <p:cNvPr id="20" name="Image 2" descr="preencoded.png">    </p:cNvPr>
          <p:cNvPicPr>
            <a:picLocks noChangeAspect="1"/>
          </p:cNvPicPr>
          <p:nvPr/>
        </p:nvPicPr>
        <p:blipFill>
          <a:blip r:embed="rId3"/>
          <a:stretch>
            <a:fillRect/>
          </a:stretch>
        </p:blipFill>
        <p:spPr>
          <a:xfrm>
            <a:off x="7327544" y="2251253"/>
            <a:ext cx="307238" cy="307238"/>
          </a:xfrm>
          <a:prstGeom prst="rect">
            <a:avLst/>
          </a:prstGeom>
        </p:spPr>
      </p:pic>
      <p:sp>
        <p:nvSpPr>
          <p:cNvPr id="21" name="Text 16"/>
          <p:cNvSpPr/>
          <p:nvPr/>
        </p:nvSpPr>
        <p:spPr>
          <a:xfrm>
            <a:off x="6315304" y="2880360"/>
            <a:ext cx="2331720" cy="64008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Tag a release,</a:t>
            </a:r>
            <a:endParaRPr lang="en-US" sz="1400" dirty="0"/>
          </a:p>
          <a:p>
            <a:pPr algn="ctr" indent="0" marL="0">
              <a:buNone/>
            </a:pPr>
            <a:r>
              <a:rPr lang="en-US" sz="1400" b="1" dirty="0">
                <a:solidFill>
                  <a:srgbClr val="1E2761"/>
                </a:solidFill>
                <a:latin typeface="Calibri" pitchFamily="34" charset="0"/>
                <a:ea typeface="Calibri" pitchFamily="34" charset="-122"/>
                <a:cs typeface="Calibri" pitchFamily="34" charset="-120"/>
              </a:rPr>
              <a:t>bring it in</a:t>
            </a:r>
            <a:endParaRPr lang="en-US" sz="1400" dirty="0"/>
          </a:p>
        </p:txBody>
      </p:sp>
      <p:sp>
        <p:nvSpPr>
          <p:cNvPr id="22" name="Text 17"/>
          <p:cNvSpPr/>
          <p:nvPr/>
        </p:nvSpPr>
        <p:spPr>
          <a:xfrm>
            <a:off x="6333592" y="3566160"/>
            <a:ext cx="2295144" cy="822960"/>
          </a:xfrm>
          <a:prstGeom prst="rect">
            <a:avLst/>
          </a:prstGeom>
          <a:noFill/>
          <a:ln/>
        </p:spPr>
        <p:txBody>
          <a:bodyPr wrap="square" lIns="0" tIns="0" rIns="0" bIns="0" rtlCol="0" anchor="ctr"/>
          <a:lstStyle/>
          <a:p>
            <a:pPr algn="ctr" indent="0" marL="0">
              <a:buNone/>
            </a:pPr>
            <a:r>
              <a:rPr lang="en-US" sz="1050" dirty="0">
                <a:solidFill>
                  <a:srgbClr val="1B2440"/>
                </a:solidFill>
                <a:latin typeface="Calibri" pitchFamily="34" charset="0"/>
                <a:ea typeface="Calibri" pitchFamily="34" charset="-122"/>
                <a:cs typeface="Calibri" pitchFamily="34" charset="-120"/>
              </a:rPr>
              <a:t>One small, reviewed</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package — never a</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full repository</a:t>
            </a:r>
            <a:endParaRPr lang="en-US" sz="1050" dirty="0"/>
          </a:p>
        </p:txBody>
      </p:sp>
      <p:sp>
        <p:nvSpPr>
          <p:cNvPr id="23" name="Text 18"/>
          <p:cNvSpPr/>
          <p:nvPr/>
        </p:nvSpPr>
        <p:spPr>
          <a:xfrm>
            <a:off x="8720176" y="2971800"/>
            <a:ext cx="274320" cy="365760"/>
          </a:xfrm>
          <a:prstGeom prst="rect">
            <a:avLst/>
          </a:prstGeom>
          <a:noFill/>
          <a:ln/>
        </p:spPr>
        <p:txBody>
          <a:bodyPr wrap="square" lIns="0" tIns="0" rIns="0" bIns="0" rtlCol="0" anchor="ctr"/>
          <a:lstStyle/>
          <a:p>
            <a:pPr algn="ctr" indent="0" marL="0">
              <a:buNone/>
            </a:pPr>
            <a:r>
              <a:rPr lang="en-US" sz="1800" dirty="0">
                <a:solidFill>
                  <a:srgbClr val="5A6B8C"/>
                </a:solidFill>
              </a:rPr>
              <a:t>▸</a:t>
            </a:r>
            <a:endParaRPr lang="en-US" sz="1800" dirty="0"/>
          </a:p>
        </p:txBody>
      </p:sp>
      <p:sp>
        <p:nvSpPr>
          <p:cNvPr id="24" name="Shape 19"/>
          <p:cNvSpPr/>
          <p:nvPr/>
        </p:nvSpPr>
        <p:spPr>
          <a:xfrm>
            <a:off x="8994496" y="1828800"/>
            <a:ext cx="2514600" cy="2651760"/>
          </a:xfrm>
          <a:prstGeom prst="roundRect">
            <a:avLst>
              <a:gd name="adj" fmla="val 3273"/>
            </a:avLst>
          </a:prstGeom>
          <a:solidFill>
            <a:srgbClr val="EDF3FC"/>
          </a:solidFill>
          <a:ln/>
          <a:effectLst>
            <a:outerShdw sx="100000" sy="100000" kx="0" ky="0" algn="bl" rotWithShape="0" blurRad="76200" dist="12700" dir="5400000">
              <a:srgbClr val="9AA7C4">
                <a:alpha val="22000"/>
              </a:srgbClr>
            </a:outerShdw>
          </a:effectLst>
        </p:spPr>
      </p:sp>
      <p:sp>
        <p:nvSpPr>
          <p:cNvPr id="25" name="Shape 20"/>
          <p:cNvSpPr/>
          <p:nvPr/>
        </p:nvSpPr>
        <p:spPr>
          <a:xfrm>
            <a:off x="9931756" y="2084832"/>
            <a:ext cx="640080" cy="640080"/>
          </a:xfrm>
          <a:prstGeom prst="ellipse">
            <a:avLst/>
          </a:prstGeom>
          <a:solidFill>
            <a:srgbClr val="1E2761"/>
          </a:solidFill>
          <a:ln/>
        </p:spPr>
      </p:sp>
      <p:pic>
        <p:nvPicPr>
          <p:cNvPr id="26" name="Image 3" descr="preencoded.png">    </p:cNvPr>
          <p:cNvPicPr>
            <a:picLocks noChangeAspect="1"/>
          </p:cNvPicPr>
          <p:nvPr/>
        </p:nvPicPr>
        <p:blipFill>
          <a:blip r:embed="rId4"/>
          <a:stretch>
            <a:fillRect/>
          </a:stretch>
        </p:blipFill>
        <p:spPr>
          <a:xfrm>
            <a:off x="10098176" y="2251253"/>
            <a:ext cx="307238" cy="307238"/>
          </a:xfrm>
          <a:prstGeom prst="rect">
            <a:avLst/>
          </a:prstGeom>
        </p:spPr>
      </p:pic>
      <p:sp>
        <p:nvSpPr>
          <p:cNvPr id="27" name="Text 21"/>
          <p:cNvSpPr/>
          <p:nvPr/>
        </p:nvSpPr>
        <p:spPr>
          <a:xfrm>
            <a:off x="9085936" y="2880360"/>
            <a:ext cx="2331720" cy="64008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Wire it up</a:t>
            </a:r>
            <a:endParaRPr lang="en-US" sz="1400" dirty="0"/>
          </a:p>
          <a:p>
            <a:pPr algn="ctr" indent="0" marL="0">
              <a:buNone/>
            </a:pPr>
            <a:r>
              <a:rPr lang="en-US" sz="1400" b="1" dirty="0">
                <a:solidFill>
                  <a:srgbClr val="1E2761"/>
                </a:solidFill>
                <a:latin typeface="Calibri" pitchFamily="34" charset="0"/>
                <a:ea typeface="Calibri" pitchFamily="34" charset="-122"/>
                <a:cs typeface="Calibri" pitchFamily="34" charset="-120"/>
              </a:rPr>
              <a:t>inside</a:t>
            </a:r>
            <a:endParaRPr lang="en-US" sz="1400" dirty="0"/>
          </a:p>
        </p:txBody>
      </p:sp>
      <p:sp>
        <p:nvSpPr>
          <p:cNvPr id="28" name="Text 22"/>
          <p:cNvSpPr/>
          <p:nvPr/>
        </p:nvSpPr>
        <p:spPr>
          <a:xfrm>
            <a:off x="9104224" y="3566160"/>
            <a:ext cx="2295144" cy="822960"/>
          </a:xfrm>
          <a:prstGeom prst="rect">
            <a:avLst/>
          </a:prstGeom>
          <a:noFill/>
          <a:ln/>
        </p:spPr>
        <p:txBody>
          <a:bodyPr wrap="square" lIns="0" tIns="0" rIns="0" bIns="0" rtlCol="0" anchor="ctr"/>
          <a:lstStyle/>
          <a:p>
            <a:pPr algn="ctr" indent="0" marL="0">
              <a:buNone/>
            </a:pPr>
            <a:r>
              <a:rPr lang="en-US" sz="1050" dirty="0">
                <a:solidFill>
                  <a:srgbClr val="1B2440"/>
                </a:solidFill>
                <a:latin typeface="Calibri" pitchFamily="34" charset="0"/>
                <a:ea typeface="Calibri" pitchFamily="34" charset="-122"/>
                <a:cs typeface="Calibri" pitchFamily="34" charset="-120"/>
              </a:rPr>
              <a:t>Point it at the real</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rules &amp; data — mostly</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config, not a rewrite</a:t>
            </a:r>
            <a:endParaRPr lang="en-US" sz="1050" dirty="0"/>
          </a:p>
        </p:txBody>
      </p:sp>
      <p:sp>
        <p:nvSpPr>
          <p:cNvPr id="29" name="Text 23"/>
          <p:cNvSpPr/>
          <p:nvPr/>
        </p:nvSpPr>
        <p:spPr>
          <a:xfrm>
            <a:off x="548640" y="4892040"/>
            <a:ext cx="11094415" cy="548640"/>
          </a:xfrm>
          <a:prstGeom prst="rect">
            <a:avLst/>
          </a:prstGeom>
          <a:noFill/>
          <a:ln/>
        </p:spPr>
        <p:txBody>
          <a:bodyPr wrap="square" lIns="0" tIns="0" rIns="0" bIns="0" rtlCol="0" anchor="ctr"/>
          <a:lstStyle/>
          <a:p>
            <a:pPr algn="ctr" indent="0" marL="0">
              <a:buNone/>
            </a:pPr>
            <a:r>
              <a:rPr lang="en-US" sz="1350" dirty="0">
                <a:solidFill>
                  <a:srgbClr val="1B2440"/>
                </a:solidFill>
                <a:latin typeface="Calibri" pitchFamily="34" charset="0"/>
                <a:ea typeface="Calibri" pitchFamily="34" charset="-122"/>
                <a:cs typeface="Calibri" pitchFamily="34" charset="-120"/>
              </a:rPr>
              <a:t>Everything that's actually sensitive — real names, real data, real rule values, </a:t>
            </a:r>
            <a:pPr algn="ctr" indent="0" marL="0">
              <a:buNone/>
            </a:pPr>
            <a:r>
              <a:rPr lang="en-US" sz="1350" dirty="0">
                <a:solidFill>
                  <a:srgbClr val="1E2761"/>
                </a:solidFill>
                <a:latin typeface="Courier New" pitchFamily="34" charset="0"/>
                <a:ea typeface="Courier New" pitchFamily="34" charset="-122"/>
                <a:cs typeface="Courier New" pitchFamily="34" charset="-120"/>
              </a:rPr>
              <a:t>mapping.json</a:t>
            </a:r>
            <a:pPr algn="ctr" indent="0" marL="0">
              <a:buNone/>
            </a:pPr>
            <a:r>
              <a:rPr lang="en-US" sz="1350" dirty="0">
                <a:solidFill>
                  <a:srgbClr val="1B2440"/>
                </a:solidFill>
                <a:latin typeface="Calibri" pitchFamily="34" charset="0"/>
                <a:ea typeface="Calibri" pitchFamily="34" charset="-122"/>
                <a:cs typeface="Calibri" pitchFamily="34" charset="-120"/>
              </a:rPr>
              <a:t> — stays inside the whole time. What crosses is small, plain, and looked at by a teammate first.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4</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WHO WE ARE, OUTSIDE</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Meet Looking at Trees Corporation</a:t>
            </a:r>
            <a:endParaRPr lang="en-US" sz="2800" dirty="0"/>
          </a:p>
        </p:txBody>
      </p:sp>
      <p:sp>
        <p:nvSpPr>
          <p:cNvPr id="6" name="Shape 4"/>
          <p:cNvSpPr/>
          <p:nvPr/>
        </p:nvSpPr>
        <p:spPr>
          <a:xfrm>
            <a:off x="548640" y="1691640"/>
            <a:ext cx="11094415" cy="2651760"/>
          </a:xfrm>
          <a:prstGeom prst="roundRect">
            <a:avLst>
              <a:gd name="adj" fmla="val 3103"/>
            </a:avLst>
          </a:prstGeom>
          <a:solidFill>
            <a:srgbClr val="EDF3FC"/>
          </a:solidFill>
          <a:ln/>
          <a:effectLst>
            <a:outerShdw sx="100000" sy="100000" kx="0" ky="0" algn="bl" rotWithShape="0" blurRad="76200" dist="12700" dir="5400000">
              <a:srgbClr val="9AA7C4">
                <a:alpha val="22000"/>
              </a:srgbClr>
            </a:outerShdw>
          </a:effectLst>
        </p:spPr>
      </p:sp>
      <p:sp>
        <p:nvSpPr>
          <p:cNvPr id="7" name="Shape 5"/>
          <p:cNvSpPr/>
          <p:nvPr/>
        </p:nvSpPr>
        <p:spPr>
          <a:xfrm>
            <a:off x="822960" y="1920240"/>
            <a:ext cx="594360" cy="59436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977494" y="2074774"/>
            <a:ext cx="285293" cy="285293"/>
          </a:xfrm>
          <a:prstGeom prst="rect">
            <a:avLst/>
          </a:prstGeom>
        </p:spPr>
      </p:pic>
      <p:sp>
        <p:nvSpPr>
          <p:cNvPr id="9" name="Text 6"/>
          <p:cNvSpPr/>
          <p:nvPr/>
        </p:nvSpPr>
        <p:spPr>
          <a:xfrm>
            <a:off x="1600200" y="1965960"/>
            <a:ext cx="9814255" cy="2194560"/>
          </a:xfrm>
          <a:prstGeom prst="rect">
            <a:avLst/>
          </a:prstGeom>
          <a:noFill/>
          <a:ln/>
        </p:spPr>
        <p:txBody>
          <a:bodyPr wrap="square" lIns="0" tIns="0" rIns="0" bIns="0" rtlCol="0" anchor="ctr"/>
          <a:lstStyle/>
          <a:p>
            <a:pPr indent="0" marL="0">
              <a:spcAft>
                <a:spcPts val="600"/>
              </a:spcAft>
              <a:buNone/>
            </a:pPr>
            <a:r>
              <a:rPr lang="en-US" sz="1400" dirty="0">
                <a:solidFill>
                  <a:srgbClr val="1B2440"/>
                </a:solidFill>
                <a:latin typeface="Calibri" pitchFamily="34" charset="0"/>
                <a:ea typeface="Calibri" pitchFamily="34" charset="-122"/>
                <a:cs typeface="Calibri" pitchFamily="34" charset="-120"/>
              </a:rPr>
              <a:t>On the internet, we operate as </a:t>
            </a:r>
            <a:pPr indent="0" marL="0">
              <a:spcAft>
                <a:spcPts val="600"/>
              </a:spcAft>
              <a:buNone/>
            </a:pPr>
            <a:r>
              <a:rPr lang="en-US" sz="1400" b="1" dirty="0">
                <a:solidFill>
                  <a:srgbClr val="1E2761"/>
                </a:solidFill>
                <a:latin typeface="Calibri" pitchFamily="34" charset="0"/>
                <a:ea typeface="Calibri" pitchFamily="34" charset="-122"/>
                <a:cs typeface="Calibri" pitchFamily="34" charset="-120"/>
              </a:rPr>
              <a:t>Looking at Trees Corporation</a:t>
            </a:r>
            <a:pPr indent="0" marL="0">
              <a:spcAft>
                <a:spcPts val="600"/>
              </a:spcAft>
              <a:buNone/>
            </a:pPr>
            <a:r>
              <a:rPr lang="en-US" sz="1400" dirty="0">
                <a:solidFill>
                  <a:srgbClr val="1B2440"/>
                </a:solidFill>
                <a:latin typeface="Calibri" pitchFamily="34" charset="0"/>
                <a:ea typeface="Calibri" pitchFamily="34" charset="-122"/>
                <a:cs typeface="Calibri" pitchFamily="34" charset="-120"/>
              </a:rPr>
              <a:t> — a company focused on marketing and specialized trees. LTC is built around five core service lines (think </a:t>
            </a:r>
            <a:pPr indent="0" marL="0">
              <a:spcAft>
                <a:spcPts val="600"/>
              </a:spcAft>
              <a:buNone/>
            </a:pPr>
            <a:r>
              <a:rPr lang="en-US" sz="1400" i="1" dirty="0">
                <a:solidFill>
                  <a:srgbClr val="1E2761"/>
                </a:solidFill>
                <a:latin typeface="Calibri" pitchFamily="34" charset="0"/>
                <a:ea typeface="Calibri" pitchFamily="34" charset="-122"/>
                <a:cs typeface="Calibri" pitchFamily="34" charset="-120"/>
              </a:rPr>
              <a:t>Brain Partnerships</a:t>
            </a:r>
            <a:pPr indent="0" marL="0">
              <a:spcAft>
                <a:spcPts val="600"/>
              </a:spcAft>
              <a:buNone/>
            </a:pPr>
            <a:r>
              <a:rPr lang="en-US" sz="1400" dirty="0">
                <a:solidFill>
                  <a:srgbClr val="1B2440"/>
                </a:solidFill>
                <a:latin typeface="Calibri" pitchFamily="34" charset="0"/>
                <a:ea typeface="Calibri" pitchFamily="34" charset="-122"/>
                <a:cs typeface="Calibri" pitchFamily="34" charset="-120"/>
              </a:rPr>
              <a:t>, </a:t>
            </a:r>
            <a:pPr indent="0" marL="0">
              <a:spcAft>
                <a:spcPts val="600"/>
              </a:spcAft>
              <a:buNone/>
            </a:pPr>
            <a:r>
              <a:rPr lang="en-US" sz="1400" i="1" dirty="0">
                <a:solidFill>
                  <a:srgbClr val="1E2761"/>
                </a:solidFill>
                <a:latin typeface="Calibri" pitchFamily="34" charset="0"/>
                <a:ea typeface="Calibri" pitchFamily="34" charset="-122"/>
                <a:cs typeface="Calibri" pitchFamily="34" charset="-120"/>
              </a:rPr>
              <a:t>Japanese Ops</a:t>
            </a:r>
            <a:pPr indent="0" marL="0">
              <a:spcAft>
                <a:spcPts val="600"/>
              </a:spcAft>
              <a:buNone/>
            </a:pPr>
            <a:r>
              <a:rPr lang="en-US" sz="1400" dirty="0">
                <a:solidFill>
                  <a:srgbClr val="1B2440"/>
                </a:solidFill>
                <a:latin typeface="Calibri" pitchFamily="34" charset="0"/>
                <a:ea typeface="Calibri" pitchFamily="34" charset="-122"/>
                <a:cs typeface="Calibri" pitchFamily="34" charset="-120"/>
              </a:rPr>
              <a:t>, and a few others), each with its own departments and sub-teams — shaped, fittingly, like a tree.</a:t>
            </a:r>
            <a:endParaRPr lang="en-US" sz="1400" dirty="0"/>
          </a:p>
          <a:p>
            <a:pPr indent="0" marL="0">
              <a:spcAft>
                <a:spcPts val="600"/>
              </a:spcAft>
              <a:buNone/>
            </a:pPr>
            <a:endParaRPr lang="en-US" sz="1400" dirty="0"/>
          </a:p>
          <a:p>
            <a:pPr indent="0" marL="0">
              <a:spcAft>
                <a:spcPts val="600"/>
              </a:spcAft>
              <a:buNone/>
            </a:pPr>
            <a:r>
              <a:rPr lang="en-US" sz="1400" dirty="0">
                <a:solidFill>
                  <a:srgbClr val="1B2440"/>
                </a:solidFill>
                <a:latin typeface="Calibri" pitchFamily="34" charset="0"/>
                <a:ea typeface="Calibri" pitchFamily="34" charset="-122"/>
                <a:cs typeface="Calibri" pitchFamily="34" charset="-120"/>
              </a:rPr>
              <a:t>Every screen, flow, and dataset we build outside speaks LTC's language. The real names and structure only get plugged back in once the code is inside.</a:t>
            </a:r>
            <a:endParaRPr lang="en-US" sz="1400" dirty="0"/>
          </a:p>
        </p:txBody>
      </p:sp>
      <p:sp>
        <p:nvSpPr>
          <p:cNvPr id="10" name="Shape 7"/>
          <p:cNvSpPr/>
          <p:nvPr/>
        </p:nvSpPr>
        <p:spPr>
          <a:xfrm>
            <a:off x="548640" y="4526280"/>
            <a:ext cx="11094415" cy="1097280"/>
          </a:xfrm>
          <a:prstGeom prst="roundRect">
            <a:avLst>
              <a:gd name="adj" fmla="val 7500"/>
            </a:avLst>
          </a:prstGeom>
          <a:solidFill>
            <a:srgbClr val="EAF4EF"/>
          </a:solidFill>
          <a:ln/>
          <a:effectLst>
            <a:outerShdw sx="100000" sy="100000" kx="0" ky="0" algn="bl" rotWithShape="0" blurRad="76200" dist="12700" dir="5400000">
              <a:srgbClr val="9AA7C4">
                <a:alpha val="22000"/>
              </a:srgbClr>
            </a:outerShdw>
          </a:effectLst>
        </p:spPr>
      </p:sp>
      <p:sp>
        <p:nvSpPr>
          <p:cNvPr id="11" name="Shape 8"/>
          <p:cNvSpPr/>
          <p:nvPr/>
        </p:nvSpPr>
        <p:spPr>
          <a:xfrm>
            <a:off x="777240" y="4736592"/>
            <a:ext cx="594360" cy="594360"/>
          </a:xfrm>
          <a:prstGeom prst="ellipse">
            <a:avLst/>
          </a:prstGeom>
          <a:solidFill>
            <a:srgbClr val="2E7D5B"/>
          </a:solidFill>
          <a:ln/>
        </p:spPr>
      </p:sp>
      <p:pic>
        <p:nvPicPr>
          <p:cNvPr id="12" name="Image 1" descr="preencoded.png">    </p:cNvPr>
          <p:cNvPicPr>
            <a:picLocks noChangeAspect="1"/>
          </p:cNvPicPr>
          <p:nvPr/>
        </p:nvPicPr>
        <p:blipFill>
          <a:blip r:embed="rId2"/>
          <a:stretch>
            <a:fillRect/>
          </a:stretch>
        </p:blipFill>
        <p:spPr>
          <a:xfrm>
            <a:off x="931774" y="4891126"/>
            <a:ext cx="285293" cy="285293"/>
          </a:xfrm>
          <a:prstGeom prst="rect">
            <a:avLst/>
          </a:prstGeom>
        </p:spPr>
      </p:pic>
      <p:sp>
        <p:nvSpPr>
          <p:cNvPr id="13" name="Text 9"/>
          <p:cNvSpPr/>
          <p:nvPr/>
        </p:nvSpPr>
        <p:spPr>
          <a:xfrm>
            <a:off x="1554480" y="4645152"/>
            <a:ext cx="9859975" cy="914400"/>
          </a:xfrm>
          <a:prstGeom prst="rect">
            <a:avLst/>
          </a:prstGeom>
          <a:noFill/>
          <a:ln/>
        </p:spPr>
        <p:txBody>
          <a:bodyPr wrap="square" lIns="0" tIns="0" rIns="0" bIns="0" rtlCol="0" anchor="ctr"/>
          <a:lstStyle/>
          <a:p>
            <a:pPr indent="0" marL="0">
              <a:buNone/>
            </a:pPr>
            <a:r>
              <a:rPr lang="en-US" sz="1350" b="1" dirty="0">
                <a:solidFill>
                  <a:srgbClr val="2E7D5B"/>
                </a:solidFill>
                <a:latin typeface="Calibri" pitchFamily="34" charset="0"/>
                <a:ea typeface="Calibri" pitchFamily="34" charset="-122"/>
                <a:cs typeface="Calibri" pitchFamily="34" charset="-120"/>
              </a:rPr>
              <a:t>One deliberate choice: </a:t>
            </a:r>
            <a:pPr indent="0" marL="0">
              <a:buNone/>
            </a:pPr>
            <a:r>
              <a:rPr lang="en-US" sz="1350" dirty="0">
                <a:solidFill>
                  <a:srgbClr val="1B2440"/>
                </a:solidFill>
                <a:latin typeface="Calibri" pitchFamily="34" charset="0"/>
                <a:ea typeface="Calibri" pitchFamily="34" charset="-122"/>
                <a:cs typeface="Calibri" pitchFamily="34" charset="-120"/>
              </a:rPr>
              <a:t>LTC's shape is ours to design — it doesn't need to mirror our real org chart one-for-one. Keeping some healthy distance there is a feature, not an accident.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5</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THE PART THAT MAKES THIS EASY LATER</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Stay aligned with Confi, and integration stops being scary</a:t>
            </a:r>
            <a:endParaRPr lang="en-US" sz="2800" dirty="0"/>
          </a:p>
        </p:txBody>
      </p:sp>
      <p:sp>
        <p:nvSpPr>
          <p:cNvPr id="6" name="Shape 4"/>
          <p:cNvSpPr/>
          <p:nvPr/>
        </p:nvSpPr>
        <p:spPr>
          <a:xfrm>
            <a:off x="548640" y="1691640"/>
            <a:ext cx="11094415" cy="475488"/>
          </a:xfrm>
          <a:prstGeom prst="roundRect">
            <a:avLst>
              <a:gd name="adj" fmla="val 17308"/>
            </a:avLst>
          </a:prstGeom>
          <a:solidFill>
            <a:srgbClr val="EDF3FC"/>
          </a:solidFill>
          <a:ln/>
          <a:effectLst>
            <a:outerShdw sx="100000" sy="100000" kx="0" ky="0" algn="bl" rotWithShape="0" blurRad="76200" dist="12700" dir="5400000">
              <a:srgbClr val="9AA7C4">
                <a:alpha val="22000"/>
              </a:srgbClr>
            </a:outerShdw>
          </a:effectLst>
        </p:spPr>
      </p:sp>
      <p:sp>
        <p:nvSpPr>
          <p:cNvPr id="7" name="Shape 5"/>
          <p:cNvSpPr/>
          <p:nvPr/>
        </p:nvSpPr>
        <p:spPr>
          <a:xfrm>
            <a:off x="713232" y="1755648"/>
            <a:ext cx="347472" cy="347472"/>
          </a:xfrm>
          <a:prstGeom prst="ellipse">
            <a:avLst/>
          </a:prstGeom>
          <a:solidFill>
            <a:srgbClr val="2E7D5B"/>
          </a:solidFill>
          <a:ln/>
        </p:spPr>
      </p:sp>
      <p:pic>
        <p:nvPicPr>
          <p:cNvPr id="8" name="Image 0" descr="preencoded.png">    </p:cNvPr>
          <p:cNvPicPr>
            <a:picLocks noChangeAspect="1"/>
          </p:cNvPicPr>
          <p:nvPr/>
        </p:nvPicPr>
        <p:blipFill>
          <a:blip r:embed="rId1"/>
          <a:stretch>
            <a:fillRect/>
          </a:stretch>
        </p:blipFill>
        <p:spPr>
          <a:xfrm>
            <a:off x="803575" y="1845991"/>
            <a:ext cx="166787" cy="166787"/>
          </a:xfrm>
          <a:prstGeom prst="rect">
            <a:avLst/>
          </a:prstGeom>
        </p:spPr>
      </p:pic>
      <p:sp>
        <p:nvSpPr>
          <p:cNvPr id="9" name="Text 6"/>
          <p:cNvSpPr/>
          <p:nvPr/>
        </p:nvSpPr>
        <p:spPr>
          <a:xfrm>
            <a:off x="1207008" y="1691640"/>
            <a:ext cx="10271455" cy="475488"/>
          </a:xfrm>
          <a:prstGeom prst="rect">
            <a:avLst/>
          </a:prstGeom>
          <a:noFill/>
          <a:ln/>
        </p:spPr>
        <p:txBody>
          <a:bodyPr wrap="square" lIns="0" tIns="0" rIns="0" bIns="0" rtlCol="0" anchor="ctr"/>
          <a:lstStyle/>
          <a:p>
            <a:pPr indent="0" marL="0">
              <a:buNone/>
            </a:pPr>
            <a:r>
              <a:rPr lang="en-US" sz="1250" dirty="0">
                <a:solidFill>
                  <a:srgbClr val="1B2440"/>
                </a:solidFill>
                <a:latin typeface="Calibri" pitchFamily="34" charset="0"/>
                <a:ea typeface="Calibri" pitchFamily="34" charset="-122"/>
                <a:cs typeface="Calibri" pitchFamily="34" charset="-120"/>
              </a:rPr>
              <a:t>Same lint &amp; static-analysis rules (ESLint, SAST) — copy the actual configs over, don't reinvent them</a:t>
            </a:r>
            <a:endParaRPr lang="en-US" sz="1250" dirty="0"/>
          </a:p>
        </p:txBody>
      </p:sp>
      <p:sp>
        <p:nvSpPr>
          <p:cNvPr id="10" name="Shape 7"/>
          <p:cNvSpPr/>
          <p:nvPr/>
        </p:nvSpPr>
        <p:spPr>
          <a:xfrm>
            <a:off x="548640" y="2258568"/>
            <a:ext cx="11094415" cy="475488"/>
          </a:xfrm>
          <a:prstGeom prst="roundRect">
            <a:avLst>
              <a:gd name="adj" fmla="val 17308"/>
            </a:avLst>
          </a:prstGeom>
          <a:solidFill>
            <a:srgbClr val="EDF3FC"/>
          </a:solidFill>
          <a:ln/>
          <a:effectLst>
            <a:outerShdw sx="100000" sy="100000" kx="0" ky="0" algn="bl" rotWithShape="0" blurRad="76200" dist="12700" dir="5400000">
              <a:srgbClr val="9AA7C4">
                <a:alpha val="22000"/>
              </a:srgbClr>
            </a:outerShdw>
          </a:effectLst>
        </p:spPr>
      </p:sp>
      <p:sp>
        <p:nvSpPr>
          <p:cNvPr id="11" name="Shape 8"/>
          <p:cNvSpPr/>
          <p:nvPr/>
        </p:nvSpPr>
        <p:spPr>
          <a:xfrm>
            <a:off x="713232" y="2322576"/>
            <a:ext cx="347472" cy="347472"/>
          </a:xfrm>
          <a:prstGeom prst="ellipse">
            <a:avLst/>
          </a:prstGeom>
          <a:solidFill>
            <a:srgbClr val="2E7D5B"/>
          </a:solidFill>
          <a:ln/>
        </p:spPr>
      </p:sp>
      <p:pic>
        <p:nvPicPr>
          <p:cNvPr id="12" name="Image 1" descr="preencoded.png">    </p:cNvPr>
          <p:cNvPicPr>
            <a:picLocks noChangeAspect="1"/>
          </p:cNvPicPr>
          <p:nvPr/>
        </p:nvPicPr>
        <p:blipFill>
          <a:blip r:embed="rId2"/>
          <a:stretch>
            <a:fillRect/>
          </a:stretch>
        </p:blipFill>
        <p:spPr>
          <a:xfrm>
            <a:off x="803575" y="2412919"/>
            <a:ext cx="166787" cy="166787"/>
          </a:xfrm>
          <a:prstGeom prst="rect">
            <a:avLst/>
          </a:prstGeom>
        </p:spPr>
      </p:pic>
      <p:sp>
        <p:nvSpPr>
          <p:cNvPr id="13" name="Text 9"/>
          <p:cNvSpPr/>
          <p:nvPr/>
        </p:nvSpPr>
        <p:spPr>
          <a:xfrm>
            <a:off x="1207008" y="2258568"/>
            <a:ext cx="10271455" cy="475488"/>
          </a:xfrm>
          <a:prstGeom prst="rect">
            <a:avLst/>
          </a:prstGeom>
          <a:noFill/>
          <a:ln/>
        </p:spPr>
        <p:txBody>
          <a:bodyPr wrap="square" lIns="0" tIns="0" rIns="0" bIns="0" rtlCol="0" anchor="ctr"/>
          <a:lstStyle/>
          <a:p>
            <a:pPr indent="0" marL="0">
              <a:buNone/>
            </a:pPr>
            <a:r>
              <a:rPr lang="en-US" sz="1250" dirty="0">
                <a:solidFill>
                  <a:srgbClr val="1B2440"/>
                </a:solidFill>
                <a:latin typeface="Calibri" pitchFamily="34" charset="0"/>
                <a:ea typeface="Calibri" pitchFamily="34" charset="-122"/>
                <a:cs typeface="Calibri" pitchFamily="34" charset="-120"/>
              </a:rPr>
              <a:t>Same API contract format (OpenAPI) as the shared source of truth on both sides</a:t>
            </a:r>
            <a:endParaRPr lang="en-US" sz="1250" dirty="0"/>
          </a:p>
        </p:txBody>
      </p:sp>
      <p:sp>
        <p:nvSpPr>
          <p:cNvPr id="14" name="Shape 10"/>
          <p:cNvSpPr/>
          <p:nvPr/>
        </p:nvSpPr>
        <p:spPr>
          <a:xfrm>
            <a:off x="548640" y="2825496"/>
            <a:ext cx="11094415" cy="475488"/>
          </a:xfrm>
          <a:prstGeom prst="roundRect">
            <a:avLst>
              <a:gd name="adj" fmla="val 17308"/>
            </a:avLst>
          </a:prstGeom>
          <a:solidFill>
            <a:srgbClr val="EDF3FC"/>
          </a:solidFill>
          <a:ln/>
          <a:effectLst>
            <a:outerShdw sx="100000" sy="100000" kx="0" ky="0" algn="bl" rotWithShape="0" blurRad="76200" dist="12700" dir="5400000">
              <a:srgbClr val="9AA7C4">
                <a:alpha val="22000"/>
              </a:srgbClr>
            </a:outerShdw>
          </a:effectLst>
        </p:spPr>
      </p:sp>
      <p:sp>
        <p:nvSpPr>
          <p:cNvPr id="15" name="Shape 11"/>
          <p:cNvSpPr/>
          <p:nvPr/>
        </p:nvSpPr>
        <p:spPr>
          <a:xfrm>
            <a:off x="713232" y="2889504"/>
            <a:ext cx="347472" cy="347472"/>
          </a:xfrm>
          <a:prstGeom prst="ellipse">
            <a:avLst/>
          </a:prstGeom>
          <a:solidFill>
            <a:srgbClr val="2E7D5B"/>
          </a:solidFill>
          <a:ln/>
        </p:spPr>
      </p:sp>
      <p:pic>
        <p:nvPicPr>
          <p:cNvPr id="16" name="Image 2" descr="preencoded.png">    </p:cNvPr>
          <p:cNvPicPr>
            <a:picLocks noChangeAspect="1"/>
          </p:cNvPicPr>
          <p:nvPr/>
        </p:nvPicPr>
        <p:blipFill>
          <a:blip r:embed="rId3"/>
          <a:stretch>
            <a:fillRect/>
          </a:stretch>
        </p:blipFill>
        <p:spPr>
          <a:xfrm>
            <a:off x="803575" y="2979847"/>
            <a:ext cx="166787" cy="166787"/>
          </a:xfrm>
          <a:prstGeom prst="rect">
            <a:avLst/>
          </a:prstGeom>
        </p:spPr>
      </p:pic>
      <p:sp>
        <p:nvSpPr>
          <p:cNvPr id="17" name="Text 12"/>
          <p:cNvSpPr/>
          <p:nvPr/>
        </p:nvSpPr>
        <p:spPr>
          <a:xfrm>
            <a:off x="1207008" y="2825496"/>
            <a:ext cx="10271455" cy="475488"/>
          </a:xfrm>
          <a:prstGeom prst="rect">
            <a:avLst/>
          </a:prstGeom>
          <a:noFill/>
          <a:ln/>
        </p:spPr>
        <p:txBody>
          <a:bodyPr wrap="square" lIns="0" tIns="0" rIns="0" bIns="0" rtlCol="0" anchor="ctr"/>
          <a:lstStyle/>
          <a:p>
            <a:pPr indent="0" marL="0">
              <a:buNone/>
            </a:pPr>
            <a:r>
              <a:rPr lang="en-US" sz="1250" dirty="0">
                <a:solidFill>
                  <a:srgbClr val="1B2440"/>
                </a:solidFill>
                <a:latin typeface="Calibri" pitchFamily="34" charset="0"/>
                <a:ea typeface="Calibri" pitchFamily="34" charset="-122"/>
                <a:cs typeface="Calibri" pitchFamily="34" charset="-120"/>
              </a:rPr>
              <a:t>Same single-spa shell contracts &amp; design-token libraries Confi's common-root-config already provides — plug in, don't rebuild</a:t>
            </a:r>
            <a:endParaRPr lang="en-US" sz="1250" dirty="0"/>
          </a:p>
        </p:txBody>
      </p:sp>
      <p:sp>
        <p:nvSpPr>
          <p:cNvPr id="18" name="Shape 13"/>
          <p:cNvSpPr/>
          <p:nvPr/>
        </p:nvSpPr>
        <p:spPr>
          <a:xfrm>
            <a:off x="548640" y="3392424"/>
            <a:ext cx="11094415" cy="475488"/>
          </a:xfrm>
          <a:prstGeom prst="roundRect">
            <a:avLst>
              <a:gd name="adj" fmla="val 17308"/>
            </a:avLst>
          </a:prstGeom>
          <a:solidFill>
            <a:srgbClr val="EDF3FC"/>
          </a:solidFill>
          <a:ln/>
          <a:effectLst>
            <a:outerShdw sx="100000" sy="100000" kx="0" ky="0" algn="bl" rotWithShape="0" blurRad="76200" dist="12700" dir="5400000">
              <a:srgbClr val="9AA7C4">
                <a:alpha val="22000"/>
              </a:srgbClr>
            </a:outerShdw>
          </a:effectLst>
        </p:spPr>
      </p:sp>
      <p:sp>
        <p:nvSpPr>
          <p:cNvPr id="19" name="Shape 14"/>
          <p:cNvSpPr/>
          <p:nvPr/>
        </p:nvSpPr>
        <p:spPr>
          <a:xfrm>
            <a:off x="713232" y="3456432"/>
            <a:ext cx="347472" cy="347472"/>
          </a:xfrm>
          <a:prstGeom prst="ellipse">
            <a:avLst/>
          </a:prstGeom>
          <a:solidFill>
            <a:srgbClr val="2E7D5B"/>
          </a:solidFill>
          <a:ln/>
        </p:spPr>
      </p:sp>
      <p:pic>
        <p:nvPicPr>
          <p:cNvPr id="20" name="Image 3" descr="preencoded.png">    </p:cNvPr>
          <p:cNvPicPr>
            <a:picLocks noChangeAspect="1"/>
          </p:cNvPicPr>
          <p:nvPr/>
        </p:nvPicPr>
        <p:blipFill>
          <a:blip r:embed="rId4"/>
          <a:stretch>
            <a:fillRect/>
          </a:stretch>
        </p:blipFill>
        <p:spPr>
          <a:xfrm>
            <a:off x="803575" y="3546775"/>
            <a:ext cx="166787" cy="166787"/>
          </a:xfrm>
          <a:prstGeom prst="rect">
            <a:avLst/>
          </a:prstGeom>
        </p:spPr>
      </p:pic>
      <p:sp>
        <p:nvSpPr>
          <p:cNvPr id="21" name="Text 15"/>
          <p:cNvSpPr/>
          <p:nvPr/>
        </p:nvSpPr>
        <p:spPr>
          <a:xfrm>
            <a:off x="1207008" y="3392424"/>
            <a:ext cx="10271455" cy="475488"/>
          </a:xfrm>
          <a:prstGeom prst="rect">
            <a:avLst/>
          </a:prstGeom>
          <a:noFill/>
          <a:ln/>
        </p:spPr>
        <p:txBody>
          <a:bodyPr wrap="square" lIns="0" tIns="0" rIns="0" bIns="0" rtlCol="0" anchor="ctr"/>
          <a:lstStyle/>
          <a:p>
            <a:pPr indent="0" marL="0">
              <a:buNone/>
            </a:pPr>
            <a:r>
              <a:rPr lang="en-US" sz="1250" dirty="0">
                <a:solidFill>
                  <a:srgbClr val="1B2440"/>
                </a:solidFill>
                <a:latin typeface="Calibri" pitchFamily="34" charset="0"/>
                <a:ea typeface="Calibri" pitchFamily="34" charset="-122"/>
                <a:cs typeface="Calibri" pitchFamily="34" charset="-120"/>
              </a:rPr>
              <a:t>Same versioning &amp; tagging approach — Confi always pulls one known-good, tagged release</a:t>
            </a:r>
            <a:endParaRPr lang="en-US" sz="1250" dirty="0"/>
          </a:p>
        </p:txBody>
      </p:sp>
      <p:sp>
        <p:nvSpPr>
          <p:cNvPr id="22" name="Shape 16"/>
          <p:cNvSpPr/>
          <p:nvPr/>
        </p:nvSpPr>
        <p:spPr>
          <a:xfrm>
            <a:off x="548640" y="3959352"/>
            <a:ext cx="11094415" cy="475488"/>
          </a:xfrm>
          <a:prstGeom prst="roundRect">
            <a:avLst>
              <a:gd name="adj" fmla="val 17308"/>
            </a:avLst>
          </a:prstGeom>
          <a:solidFill>
            <a:srgbClr val="EDF3FC"/>
          </a:solidFill>
          <a:ln/>
          <a:effectLst>
            <a:outerShdw sx="100000" sy="100000" kx="0" ky="0" algn="bl" rotWithShape="0" blurRad="76200" dist="12700" dir="5400000">
              <a:srgbClr val="9AA7C4">
                <a:alpha val="22000"/>
              </a:srgbClr>
            </a:outerShdw>
          </a:effectLst>
        </p:spPr>
      </p:sp>
      <p:sp>
        <p:nvSpPr>
          <p:cNvPr id="23" name="Shape 17"/>
          <p:cNvSpPr/>
          <p:nvPr/>
        </p:nvSpPr>
        <p:spPr>
          <a:xfrm>
            <a:off x="713232" y="4023360"/>
            <a:ext cx="347472" cy="347472"/>
          </a:xfrm>
          <a:prstGeom prst="ellipse">
            <a:avLst/>
          </a:prstGeom>
          <a:solidFill>
            <a:srgbClr val="2E7D5B"/>
          </a:solidFill>
          <a:ln/>
        </p:spPr>
      </p:sp>
      <p:pic>
        <p:nvPicPr>
          <p:cNvPr id="24" name="Image 4" descr="preencoded.png">    </p:cNvPr>
          <p:cNvPicPr>
            <a:picLocks noChangeAspect="1"/>
          </p:cNvPicPr>
          <p:nvPr/>
        </p:nvPicPr>
        <p:blipFill>
          <a:blip r:embed="rId5"/>
          <a:stretch>
            <a:fillRect/>
          </a:stretch>
        </p:blipFill>
        <p:spPr>
          <a:xfrm>
            <a:off x="803575" y="4113703"/>
            <a:ext cx="166787" cy="166787"/>
          </a:xfrm>
          <a:prstGeom prst="rect">
            <a:avLst/>
          </a:prstGeom>
        </p:spPr>
      </p:pic>
      <p:sp>
        <p:nvSpPr>
          <p:cNvPr id="25" name="Text 18"/>
          <p:cNvSpPr/>
          <p:nvPr/>
        </p:nvSpPr>
        <p:spPr>
          <a:xfrm>
            <a:off x="1207008" y="3959352"/>
            <a:ext cx="10271455" cy="475488"/>
          </a:xfrm>
          <a:prstGeom prst="rect">
            <a:avLst/>
          </a:prstGeom>
          <a:noFill/>
          <a:ln/>
        </p:spPr>
        <p:txBody>
          <a:bodyPr wrap="square" lIns="0" tIns="0" rIns="0" bIns="0" rtlCol="0" anchor="ctr"/>
          <a:lstStyle/>
          <a:p>
            <a:pPr indent="0" marL="0">
              <a:buNone/>
            </a:pPr>
            <a:r>
              <a:rPr lang="en-US" sz="1250" dirty="0">
                <a:solidFill>
                  <a:srgbClr val="1B2440"/>
                </a:solidFill>
                <a:latin typeface="Calibri" pitchFamily="34" charset="0"/>
                <a:ea typeface="Calibri" pitchFamily="34" charset="-122"/>
                <a:cs typeface="Calibri" pitchFamily="34" charset="-120"/>
              </a:rPr>
              <a:t>Dependencies checked against what Confi already allows, so surprises show up early, not at integration</a:t>
            </a:r>
            <a:endParaRPr lang="en-US" sz="1250" dirty="0"/>
          </a:p>
        </p:txBody>
      </p:sp>
      <p:sp>
        <p:nvSpPr>
          <p:cNvPr id="26" name="Shape 19"/>
          <p:cNvSpPr/>
          <p:nvPr/>
        </p:nvSpPr>
        <p:spPr>
          <a:xfrm>
            <a:off x="548640" y="4526280"/>
            <a:ext cx="11094415" cy="475488"/>
          </a:xfrm>
          <a:prstGeom prst="roundRect">
            <a:avLst>
              <a:gd name="adj" fmla="val 17308"/>
            </a:avLst>
          </a:prstGeom>
          <a:solidFill>
            <a:srgbClr val="EDF3FC"/>
          </a:solidFill>
          <a:ln/>
          <a:effectLst>
            <a:outerShdw sx="100000" sy="100000" kx="0" ky="0" algn="bl" rotWithShape="0" blurRad="76200" dist="12700" dir="5400000">
              <a:srgbClr val="9AA7C4">
                <a:alpha val="22000"/>
              </a:srgbClr>
            </a:outerShdw>
          </a:effectLst>
        </p:spPr>
      </p:sp>
      <p:sp>
        <p:nvSpPr>
          <p:cNvPr id="27" name="Shape 20"/>
          <p:cNvSpPr/>
          <p:nvPr/>
        </p:nvSpPr>
        <p:spPr>
          <a:xfrm>
            <a:off x="713232" y="4590288"/>
            <a:ext cx="347472" cy="347472"/>
          </a:xfrm>
          <a:prstGeom prst="ellipse">
            <a:avLst/>
          </a:prstGeom>
          <a:solidFill>
            <a:srgbClr val="2E7D5B"/>
          </a:solidFill>
          <a:ln/>
        </p:spPr>
      </p:sp>
      <p:pic>
        <p:nvPicPr>
          <p:cNvPr id="28" name="Image 5" descr="preencoded.png">    </p:cNvPr>
          <p:cNvPicPr>
            <a:picLocks noChangeAspect="1"/>
          </p:cNvPicPr>
          <p:nvPr/>
        </p:nvPicPr>
        <p:blipFill>
          <a:blip r:embed="rId6"/>
          <a:stretch>
            <a:fillRect/>
          </a:stretch>
        </p:blipFill>
        <p:spPr>
          <a:xfrm>
            <a:off x="803575" y="4680631"/>
            <a:ext cx="166787" cy="166787"/>
          </a:xfrm>
          <a:prstGeom prst="rect">
            <a:avLst/>
          </a:prstGeom>
        </p:spPr>
      </p:pic>
      <p:sp>
        <p:nvSpPr>
          <p:cNvPr id="29" name="Text 21"/>
          <p:cNvSpPr/>
          <p:nvPr/>
        </p:nvSpPr>
        <p:spPr>
          <a:xfrm>
            <a:off x="1207008" y="4526280"/>
            <a:ext cx="10271455" cy="475488"/>
          </a:xfrm>
          <a:prstGeom prst="rect">
            <a:avLst/>
          </a:prstGeom>
          <a:noFill/>
          <a:ln/>
        </p:spPr>
        <p:txBody>
          <a:bodyPr wrap="square" lIns="0" tIns="0" rIns="0" bIns="0" rtlCol="0" anchor="ctr"/>
          <a:lstStyle/>
          <a:p>
            <a:pPr indent="0" marL="0">
              <a:buNone/>
            </a:pPr>
            <a:r>
              <a:rPr lang="en-US" sz="1250" dirty="0">
                <a:solidFill>
                  <a:srgbClr val="1B2440"/>
                </a:solidFill>
                <a:latin typeface="Calibri" pitchFamily="34" charset="0"/>
                <a:ea typeface="Calibri" pitchFamily="34" charset="-122"/>
                <a:cs typeface="Calibri" pitchFamily="34" charset="-120"/>
              </a:rPr>
              <a:t>Config (URLs, auth, environment stuff) lives in one clearly separate place from the feature code</a:t>
            </a:r>
            <a:endParaRPr lang="en-US" sz="1250" dirty="0"/>
          </a:p>
        </p:txBody>
      </p:sp>
      <p:sp>
        <p:nvSpPr>
          <p:cNvPr id="30" name="Shape 22"/>
          <p:cNvSpPr/>
          <p:nvPr/>
        </p:nvSpPr>
        <p:spPr>
          <a:xfrm>
            <a:off x="548640" y="5166360"/>
            <a:ext cx="11094415" cy="777240"/>
          </a:xfrm>
          <a:prstGeom prst="roundRect">
            <a:avLst>
              <a:gd name="adj" fmla="val 10588"/>
            </a:avLst>
          </a:prstGeom>
          <a:solidFill>
            <a:srgbClr val="EAF4EF"/>
          </a:solidFill>
          <a:ln/>
          <a:effectLst>
            <a:outerShdw sx="100000" sy="100000" kx="0" ky="0" algn="bl" rotWithShape="0" blurRad="76200" dist="12700" dir="5400000">
              <a:srgbClr val="9AA7C4">
                <a:alpha val="22000"/>
              </a:srgbClr>
            </a:outerShdw>
          </a:effectLst>
        </p:spPr>
      </p:sp>
      <p:sp>
        <p:nvSpPr>
          <p:cNvPr id="31" name="Shape 23"/>
          <p:cNvSpPr/>
          <p:nvPr/>
        </p:nvSpPr>
        <p:spPr>
          <a:xfrm>
            <a:off x="749808" y="5303520"/>
            <a:ext cx="502920" cy="502920"/>
          </a:xfrm>
          <a:prstGeom prst="ellipse">
            <a:avLst/>
          </a:prstGeom>
          <a:solidFill>
            <a:srgbClr val="2E7D5B"/>
          </a:solidFill>
          <a:ln/>
        </p:spPr>
      </p:sp>
      <p:pic>
        <p:nvPicPr>
          <p:cNvPr id="32" name="Image 6" descr="preencoded.png">    </p:cNvPr>
          <p:cNvPicPr>
            <a:picLocks noChangeAspect="1"/>
          </p:cNvPicPr>
          <p:nvPr/>
        </p:nvPicPr>
        <p:blipFill>
          <a:blip r:embed="rId7"/>
          <a:stretch>
            <a:fillRect/>
          </a:stretch>
        </p:blipFill>
        <p:spPr>
          <a:xfrm>
            <a:off x="880567" y="5434279"/>
            <a:ext cx="241402" cy="241402"/>
          </a:xfrm>
          <a:prstGeom prst="rect">
            <a:avLst/>
          </a:prstGeom>
        </p:spPr>
      </p:pic>
      <p:sp>
        <p:nvSpPr>
          <p:cNvPr id="33" name="Text 24"/>
          <p:cNvSpPr/>
          <p:nvPr/>
        </p:nvSpPr>
        <p:spPr>
          <a:xfrm>
            <a:off x="1389888" y="5212080"/>
            <a:ext cx="10042855" cy="594360"/>
          </a:xfrm>
          <a:prstGeom prst="rect">
            <a:avLst/>
          </a:prstGeom>
          <a:noFill/>
          <a:ln/>
        </p:spPr>
        <p:txBody>
          <a:bodyPr wrap="square" lIns="0" tIns="0" rIns="0" bIns="0" rtlCol="0" anchor="ctr"/>
          <a:lstStyle/>
          <a:p>
            <a:pPr indent="0" marL="0">
              <a:buNone/>
            </a:pPr>
            <a:r>
              <a:rPr lang="en-US" sz="1250" b="1" dirty="0">
                <a:solidFill>
                  <a:srgbClr val="2E7D5B"/>
                </a:solidFill>
                <a:latin typeface="Calibri" pitchFamily="34" charset="0"/>
                <a:ea typeface="Calibri" pitchFamily="34" charset="-122"/>
                <a:cs typeface="Calibri" pitchFamily="34" charset="-120"/>
              </a:rPr>
              <a:t>Do these six things consistently and </a:t>
            </a:r>
            <a:pPr indent="0" marL="0">
              <a:buNone/>
            </a:pPr>
            <a:r>
              <a:rPr lang="en-US" sz="1250" dirty="0">
                <a:solidFill>
                  <a:srgbClr val="1B2440"/>
                </a:solidFill>
                <a:latin typeface="Calibri" pitchFamily="34" charset="0"/>
                <a:ea typeface="Calibri" pitchFamily="34" charset="-122"/>
                <a:cs typeface="Calibri" pitchFamily="34" charset="-120"/>
              </a:rPr>
              <a:t>“bringing it inside” becomes closer to a deploy than a rewrite — which is the whole goal of building outside in the first place.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6</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KEEPING IT SIMPLE FOR EVERYONE</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A short, boring list beats a long, scary one</a:t>
            </a:r>
            <a:endParaRPr lang="en-US" sz="2800" dirty="0"/>
          </a:p>
        </p:txBody>
      </p:sp>
      <p:sp>
        <p:nvSpPr>
          <p:cNvPr id="6" name="Shape 4"/>
          <p:cNvSpPr/>
          <p:nvPr/>
        </p:nvSpPr>
        <p:spPr>
          <a:xfrm>
            <a:off x="548640" y="1691640"/>
            <a:ext cx="5364328" cy="3200400"/>
          </a:xfrm>
          <a:prstGeom prst="roundRect">
            <a:avLst>
              <a:gd name="adj" fmla="val 2571"/>
            </a:avLst>
          </a:prstGeom>
          <a:solidFill>
            <a:srgbClr val="EAF4EF"/>
          </a:solidFill>
          <a:ln/>
          <a:effectLst>
            <a:outerShdw sx="100000" sy="100000" kx="0" ky="0" algn="bl" rotWithShape="0" blurRad="76200" dist="12700" dir="5400000">
              <a:srgbClr val="9AA7C4">
                <a:alpha val="22000"/>
              </a:srgbClr>
            </a:outerShdw>
          </a:effectLst>
        </p:spPr>
      </p:sp>
      <p:sp>
        <p:nvSpPr>
          <p:cNvPr id="7" name="Shape 5"/>
          <p:cNvSpPr/>
          <p:nvPr/>
        </p:nvSpPr>
        <p:spPr>
          <a:xfrm>
            <a:off x="804672" y="1920240"/>
            <a:ext cx="530352" cy="530352"/>
          </a:xfrm>
          <a:prstGeom prst="ellipse">
            <a:avLst/>
          </a:prstGeom>
          <a:solidFill>
            <a:srgbClr val="2E7D5B"/>
          </a:solidFill>
          <a:ln/>
        </p:spPr>
      </p:sp>
      <p:pic>
        <p:nvPicPr>
          <p:cNvPr id="8" name="Image 0" descr="preencoded.png">    </p:cNvPr>
          <p:cNvPicPr>
            <a:picLocks noChangeAspect="1"/>
          </p:cNvPicPr>
          <p:nvPr/>
        </p:nvPicPr>
        <p:blipFill>
          <a:blip r:embed="rId1"/>
          <a:stretch>
            <a:fillRect/>
          </a:stretch>
        </p:blipFill>
        <p:spPr>
          <a:xfrm>
            <a:off x="942564" y="2058132"/>
            <a:ext cx="254569" cy="254569"/>
          </a:xfrm>
          <a:prstGeom prst="rect">
            <a:avLst/>
          </a:prstGeom>
        </p:spPr>
      </p:pic>
      <p:sp>
        <p:nvSpPr>
          <p:cNvPr id="9" name="Text 6"/>
          <p:cNvSpPr/>
          <p:nvPr/>
        </p:nvSpPr>
        <p:spPr>
          <a:xfrm>
            <a:off x="1463040" y="1975104"/>
            <a:ext cx="4267048" cy="365760"/>
          </a:xfrm>
          <a:prstGeom prst="rect">
            <a:avLst/>
          </a:prstGeom>
          <a:noFill/>
          <a:ln/>
        </p:spPr>
        <p:txBody>
          <a:bodyPr wrap="square" lIns="0" tIns="0" rIns="0" bIns="0" rtlCol="0" anchor="ctr"/>
          <a:lstStyle/>
          <a:p>
            <a:pPr indent="0" marL="0">
              <a:buNone/>
            </a:pPr>
            <a:r>
              <a:rPr lang="en-US" sz="1500" b="1" dirty="0">
                <a:solidFill>
                  <a:srgbClr val="2E7D5B"/>
                </a:solidFill>
                <a:latin typeface="Calibri" pitchFamily="34" charset="0"/>
                <a:ea typeface="Calibri" pitchFamily="34" charset="-122"/>
                <a:cs typeface="Calibri" pitchFamily="34" charset="-120"/>
              </a:rPr>
              <a:t>Goes outside</a:t>
            </a:r>
            <a:endParaRPr lang="en-US" sz="1500" dirty="0"/>
          </a:p>
        </p:txBody>
      </p:sp>
      <p:sp>
        <p:nvSpPr>
          <p:cNvPr id="10" name="Text 7"/>
          <p:cNvSpPr/>
          <p:nvPr/>
        </p:nvSpPr>
        <p:spPr>
          <a:xfrm>
            <a:off x="822960" y="2468880"/>
            <a:ext cx="4815688" cy="22860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B2440"/>
                </a:solidFill>
                <a:latin typeface="Calibri" pitchFamily="34" charset="0"/>
                <a:ea typeface="Calibri" pitchFamily="34" charset="-122"/>
                <a:cs typeface="Calibri" pitchFamily="34" charset="-120"/>
              </a:rPr>
              <a:t>Routes &amp; structure, renamed</a:t>
            </a:r>
            <a:endParaRPr lang="en-US" sz="1250" dirty="0"/>
          </a:p>
          <a:p>
            <a:pPr marL="342900" indent="-342900">
              <a:spcAft>
                <a:spcPts val="800"/>
              </a:spcAft>
              <a:buSzPct val="100000"/>
              <a:buChar char="•"/>
            </a:pPr>
            <a:r>
              <a:rPr lang="en-US" sz="1250" dirty="0">
                <a:solidFill>
                  <a:srgbClr val="1B2440"/>
                </a:solidFill>
                <a:latin typeface="Calibri" pitchFamily="34" charset="0"/>
                <a:ea typeface="Calibri" pitchFamily="34" charset="-122"/>
                <a:cs typeface="Calibri" pitchFamily="34" charset="-120"/>
              </a:rPr>
              <a:t>API contracts + sample data</a:t>
            </a:r>
            <a:endParaRPr lang="en-US" sz="1250" dirty="0"/>
          </a:p>
          <a:p>
            <a:pPr marL="342900" indent="-342900">
              <a:spcAft>
                <a:spcPts val="800"/>
              </a:spcAft>
              <a:buSzPct val="100000"/>
              <a:buChar char="•"/>
            </a:pPr>
            <a:r>
              <a:rPr lang="en-US" sz="1250" dirty="0">
                <a:solidFill>
                  <a:srgbClr val="1B2440"/>
                </a:solidFill>
                <a:latin typeface="Calibri" pitchFamily="34" charset="0"/>
                <a:ea typeface="Calibri" pitchFamily="34" charset="-122"/>
                <a:cs typeface="Calibri" pitchFamily="34" charset="-120"/>
              </a:rPr>
              <a:t>Source code, run through our extractor tool first</a:t>
            </a:r>
            <a:endParaRPr lang="en-US" sz="1250" dirty="0"/>
          </a:p>
        </p:txBody>
      </p:sp>
      <p:sp>
        <p:nvSpPr>
          <p:cNvPr id="11" name="Shape 8"/>
          <p:cNvSpPr/>
          <p:nvPr/>
        </p:nvSpPr>
        <p:spPr>
          <a:xfrm>
            <a:off x="6278728" y="1691640"/>
            <a:ext cx="5364328" cy="3200400"/>
          </a:xfrm>
          <a:prstGeom prst="roundRect">
            <a:avLst>
              <a:gd name="adj" fmla="val 2571"/>
            </a:avLst>
          </a:prstGeom>
          <a:solidFill>
            <a:srgbClr val="EDF3FC"/>
          </a:solidFill>
          <a:ln/>
          <a:effectLst>
            <a:outerShdw sx="100000" sy="100000" kx="0" ky="0" algn="bl" rotWithShape="0" blurRad="76200" dist="12700" dir="5400000">
              <a:srgbClr val="9AA7C4">
                <a:alpha val="22000"/>
              </a:srgbClr>
            </a:outerShdw>
          </a:effectLst>
        </p:spPr>
      </p:sp>
      <p:sp>
        <p:nvSpPr>
          <p:cNvPr id="12" name="Shape 9"/>
          <p:cNvSpPr/>
          <p:nvPr/>
        </p:nvSpPr>
        <p:spPr>
          <a:xfrm>
            <a:off x="6534760" y="1920240"/>
            <a:ext cx="530352" cy="530352"/>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6672651" y="2058132"/>
            <a:ext cx="254569" cy="254569"/>
          </a:xfrm>
          <a:prstGeom prst="rect">
            <a:avLst/>
          </a:prstGeom>
        </p:spPr>
      </p:pic>
      <p:sp>
        <p:nvSpPr>
          <p:cNvPr id="14" name="Text 10"/>
          <p:cNvSpPr/>
          <p:nvPr/>
        </p:nvSpPr>
        <p:spPr>
          <a:xfrm>
            <a:off x="7193128" y="1975104"/>
            <a:ext cx="4267048"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Stays inside</a:t>
            </a:r>
            <a:endParaRPr lang="en-US" sz="1500" dirty="0"/>
          </a:p>
        </p:txBody>
      </p:sp>
      <p:sp>
        <p:nvSpPr>
          <p:cNvPr id="15" name="Text 11"/>
          <p:cNvSpPr/>
          <p:nvPr/>
        </p:nvSpPr>
        <p:spPr>
          <a:xfrm>
            <a:off x="6553048" y="2468880"/>
            <a:ext cx="4815688" cy="22860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B2440"/>
                </a:solidFill>
                <a:latin typeface="Calibri" pitchFamily="34" charset="0"/>
                <a:ea typeface="Calibri" pitchFamily="34" charset="-122"/>
                <a:cs typeface="Calibri" pitchFamily="34" charset="-120"/>
              </a:rPr>
              <a:t>mapping.json — our one key file</a:t>
            </a:r>
            <a:endParaRPr lang="en-US" sz="1250" dirty="0"/>
          </a:p>
          <a:p>
            <a:pPr marL="342900" indent="-342900">
              <a:spcAft>
                <a:spcPts val="800"/>
              </a:spcAft>
              <a:buSzPct val="100000"/>
              <a:buChar char="•"/>
            </a:pPr>
            <a:r>
              <a:rPr lang="en-US" sz="1250" dirty="0">
                <a:solidFill>
                  <a:srgbClr val="1B2440"/>
                </a:solidFill>
                <a:latin typeface="Calibri" pitchFamily="34" charset="0"/>
                <a:ea typeface="Calibri" pitchFamily="34" charset="-122"/>
                <a:cs typeface="Calibri" pitchFamily="34" charset="-120"/>
              </a:rPr>
              <a:t>Real names, real data</a:t>
            </a:r>
            <a:endParaRPr lang="en-US" sz="1250" dirty="0"/>
          </a:p>
          <a:p>
            <a:pPr marL="342900" indent="-342900">
              <a:spcAft>
                <a:spcPts val="800"/>
              </a:spcAft>
              <a:buSzPct val="100000"/>
              <a:buChar char="•"/>
            </a:pPr>
            <a:r>
              <a:rPr lang="en-US" sz="1250" dirty="0">
                <a:solidFill>
                  <a:srgbClr val="1B2440"/>
                </a:solidFill>
                <a:latin typeface="Calibri" pitchFamily="34" charset="0"/>
                <a:ea typeface="Calibri" pitchFamily="34" charset="-122"/>
                <a:cs typeface="Calibri" pitchFamily="34" charset="-120"/>
              </a:rPr>
              <a:t>The actual rule values</a:t>
            </a:r>
            <a:endParaRPr lang="en-US" sz="1250" dirty="0"/>
          </a:p>
          <a:p>
            <a:pPr marL="342900" indent="-342900">
              <a:spcAft>
                <a:spcPts val="800"/>
              </a:spcAft>
              <a:buSzPct val="100000"/>
              <a:buChar char="•"/>
            </a:pPr>
            <a:r>
              <a:rPr lang="en-US" sz="1250" dirty="0">
                <a:solidFill>
                  <a:srgbClr val="1B2440"/>
                </a:solidFill>
                <a:latin typeface="Calibri" pitchFamily="34" charset="0"/>
                <a:ea typeface="Calibri" pitchFamily="34" charset="-122"/>
                <a:cs typeface="Calibri" pitchFamily="34" charset="-120"/>
              </a:rPr>
              <a:t>URLs, certs, auth secrets</a:t>
            </a:r>
            <a:endParaRPr lang="en-US" sz="1250" dirty="0"/>
          </a:p>
        </p:txBody>
      </p:sp>
      <p:sp>
        <p:nvSpPr>
          <p:cNvPr id="16" name="Shape 12"/>
          <p:cNvSpPr/>
          <p:nvPr/>
        </p:nvSpPr>
        <p:spPr>
          <a:xfrm>
            <a:off x="548640" y="5074920"/>
            <a:ext cx="11094415" cy="1005840"/>
          </a:xfrm>
          <a:prstGeom prst="roundRect">
            <a:avLst>
              <a:gd name="adj" fmla="val 8182"/>
            </a:avLst>
          </a:prstGeom>
          <a:solidFill>
            <a:srgbClr val="EDF3FC"/>
          </a:solidFill>
          <a:ln/>
          <a:effectLst>
            <a:outerShdw sx="100000" sy="100000" kx="0" ky="0" algn="bl" rotWithShape="0" blurRad="76200" dist="12700" dir="5400000">
              <a:srgbClr val="9AA7C4">
                <a:alpha val="22000"/>
              </a:srgbClr>
            </a:outerShdw>
          </a:effectLst>
        </p:spPr>
      </p:sp>
      <p:sp>
        <p:nvSpPr>
          <p:cNvPr id="17" name="Shape 13"/>
          <p:cNvSpPr/>
          <p:nvPr/>
        </p:nvSpPr>
        <p:spPr>
          <a:xfrm>
            <a:off x="777240" y="5285232"/>
            <a:ext cx="566928" cy="566928"/>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24641" y="5432633"/>
            <a:ext cx="272125" cy="272125"/>
          </a:xfrm>
          <a:prstGeom prst="rect">
            <a:avLst/>
          </a:prstGeom>
        </p:spPr>
      </p:pic>
      <p:sp>
        <p:nvSpPr>
          <p:cNvPr id="19" name="Text 14"/>
          <p:cNvSpPr/>
          <p:nvPr/>
        </p:nvSpPr>
        <p:spPr>
          <a:xfrm>
            <a:off x="1554480" y="5193792"/>
            <a:ext cx="9859975" cy="7772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One habit does most of the work: </a:t>
            </a:r>
            <a:pPr indent="0" marL="0">
              <a:buNone/>
            </a:pPr>
            <a:r>
              <a:rPr lang="en-US" sz="1350" dirty="0">
                <a:solidFill>
                  <a:srgbClr val="1B2440"/>
                </a:solidFill>
                <a:latin typeface="Calibri" pitchFamily="34" charset="0"/>
                <a:ea typeface="Calibri" pitchFamily="34" charset="-122"/>
                <a:cs typeface="Calibri" pitchFamily="34" charset="-120"/>
              </a:rPr>
              <a:t>run it through the extractor, have a teammate glance over the output, then send it. That's the whole routine for most features.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7</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THE RARE OCCASION WE BRING CODE OUT</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How code occasionally leaves Confi</a:t>
            </a:r>
            <a:endParaRPr lang="en-US" sz="2800" dirty="0"/>
          </a:p>
        </p:txBody>
      </p:sp>
      <p:sp>
        <p:nvSpPr>
          <p:cNvPr id="6" name="Shape 4"/>
          <p:cNvSpPr/>
          <p:nvPr/>
        </p:nvSpPr>
        <p:spPr>
          <a:xfrm>
            <a:off x="682600" y="1828800"/>
            <a:ext cx="2514600" cy="2651760"/>
          </a:xfrm>
          <a:prstGeom prst="roundRect">
            <a:avLst>
              <a:gd name="adj" fmla="val 3273"/>
            </a:avLst>
          </a:prstGeom>
          <a:solidFill>
            <a:srgbClr val="EDF3FC"/>
          </a:solidFill>
          <a:ln/>
          <a:effectLst>
            <a:outerShdw sx="100000" sy="100000" kx="0" ky="0" algn="bl" rotWithShape="0" blurRad="76200" dist="12700" dir="5400000">
              <a:srgbClr val="9AA7C4">
                <a:alpha val="22000"/>
              </a:srgbClr>
            </a:outerShdw>
          </a:effectLst>
        </p:spPr>
      </p:sp>
      <p:sp>
        <p:nvSpPr>
          <p:cNvPr id="7" name="Shape 5"/>
          <p:cNvSpPr/>
          <p:nvPr/>
        </p:nvSpPr>
        <p:spPr>
          <a:xfrm>
            <a:off x="1619860" y="2084832"/>
            <a:ext cx="640080" cy="64008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1786280" y="2251253"/>
            <a:ext cx="307238" cy="307238"/>
          </a:xfrm>
          <a:prstGeom prst="rect">
            <a:avLst/>
          </a:prstGeom>
        </p:spPr>
      </p:pic>
      <p:sp>
        <p:nvSpPr>
          <p:cNvPr id="9" name="Text 6"/>
          <p:cNvSpPr/>
          <p:nvPr/>
        </p:nvSpPr>
        <p:spPr>
          <a:xfrm>
            <a:off x="774040" y="2880360"/>
            <a:ext cx="2331720" cy="64008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Decide what's</a:t>
            </a:r>
            <a:endParaRPr lang="en-US" sz="1400" dirty="0"/>
          </a:p>
          <a:p>
            <a:pPr algn="ctr" indent="0" marL="0">
              <a:buNone/>
            </a:pPr>
            <a:r>
              <a:rPr lang="en-US" sz="1400" b="1" dirty="0">
                <a:solidFill>
                  <a:srgbClr val="1E2761"/>
                </a:solidFill>
                <a:latin typeface="Calibri" pitchFamily="34" charset="0"/>
                <a:ea typeface="Calibri" pitchFamily="34" charset="-122"/>
                <a:cs typeface="Calibri" pitchFamily="34" charset="-120"/>
              </a:rPr>
              <a:t>needed</a:t>
            </a:r>
            <a:endParaRPr lang="en-US" sz="1400" dirty="0"/>
          </a:p>
        </p:txBody>
      </p:sp>
      <p:sp>
        <p:nvSpPr>
          <p:cNvPr id="10" name="Text 7"/>
          <p:cNvSpPr/>
          <p:nvPr/>
        </p:nvSpPr>
        <p:spPr>
          <a:xfrm>
            <a:off x="792328" y="3566160"/>
            <a:ext cx="2295144" cy="822960"/>
          </a:xfrm>
          <a:prstGeom prst="rect">
            <a:avLst/>
          </a:prstGeom>
          <a:noFill/>
          <a:ln/>
        </p:spPr>
        <p:txBody>
          <a:bodyPr wrap="square" lIns="0" tIns="0" rIns="0" bIns="0" rtlCol="0" anchor="ctr"/>
          <a:lstStyle/>
          <a:p>
            <a:pPr algn="ctr" indent="0" marL="0">
              <a:buNone/>
            </a:pPr>
            <a:r>
              <a:rPr lang="en-US" sz="1050" dirty="0">
                <a:solidFill>
                  <a:srgbClr val="1B2440"/>
                </a:solidFill>
                <a:latin typeface="Calibri" pitchFamily="34" charset="0"/>
                <a:ea typeface="Calibri" pitchFamily="34" charset="-122"/>
                <a:cs typeface="Calibri" pitchFamily="34" charset="-120"/>
              </a:rPr>
              <a:t>Almost always a lean</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spec: routes, contracts,</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structure — never a</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full active repository</a:t>
            </a:r>
            <a:endParaRPr lang="en-US" sz="1050" dirty="0"/>
          </a:p>
        </p:txBody>
      </p:sp>
      <p:sp>
        <p:nvSpPr>
          <p:cNvPr id="11" name="Text 8"/>
          <p:cNvSpPr/>
          <p:nvPr/>
        </p:nvSpPr>
        <p:spPr>
          <a:xfrm>
            <a:off x="3178912" y="2971800"/>
            <a:ext cx="274320" cy="365760"/>
          </a:xfrm>
          <a:prstGeom prst="rect">
            <a:avLst/>
          </a:prstGeom>
          <a:noFill/>
          <a:ln/>
        </p:spPr>
        <p:txBody>
          <a:bodyPr wrap="square" lIns="0" tIns="0" rIns="0" bIns="0" rtlCol="0" anchor="ctr"/>
          <a:lstStyle/>
          <a:p>
            <a:pPr algn="ctr" indent="0" marL="0">
              <a:buNone/>
            </a:pPr>
            <a:r>
              <a:rPr lang="en-US" sz="1800" dirty="0">
                <a:solidFill>
                  <a:srgbClr val="5A6B8C"/>
                </a:solidFill>
              </a:rPr>
              <a:t>▸</a:t>
            </a:r>
            <a:endParaRPr lang="en-US" sz="1800" dirty="0"/>
          </a:p>
        </p:txBody>
      </p:sp>
      <p:sp>
        <p:nvSpPr>
          <p:cNvPr id="12" name="Shape 9"/>
          <p:cNvSpPr/>
          <p:nvPr/>
        </p:nvSpPr>
        <p:spPr>
          <a:xfrm>
            <a:off x="3453232" y="1828800"/>
            <a:ext cx="2514600" cy="2651760"/>
          </a:xfrm>
          <a:prstGeom prst="roundRect">
            <a:avLst>
              <a:gd name="adj" fmla="val 3273"/>
            </a:avLst>
          </a:prstGeom>
          <a:solidFill>
            <a:srgbClr val="EDF3FC"/>
          </a:solidFill>
          <a:ln/>
          <a:effectLst>
            <a:outerShdw sx="100000" sy="100000" kx="0" ky="0" algn="bl" rotWithShape="0" blurRad="76200" dist="12700" dir="5400000">
              <a:srgbClr val="9AA7C4">
                <a:alpha val="22000"/>
              </a:srgbClr>
            </a:outerShdw>
          </a:effectLst>
        </p:spPr>
      </p:sp>
      <p:sp>
        <p:nvSpPr>
          <p:cNvPr id="13" name="Shape 10"/>
          <p:cNvSpPr/>
          <p:nvPr/>
        </p:nvSpPr>
        <p:spPr>
          <a:xfrm>
            <a:off x="4390492" y="2084832"/>
            <a:ext cx="640080" cy="640080"/>
          </a:xfrm>
          <a:prstGeom prst="ellipse">
            <a:avLst/>
          </a:prstGeom>
          <a:solidFill>
            <a:srgbClr val="1E2761"/>
          </a:solidFill>
          <a:ln/>
        </p:spPr>
      </p:sp>
      <p:pic>
        <p:nvPicPr>
          <p:cNvPr id="14" name="Image 1" descr="preencoded.png">    </p:cNvPr>
          <p:cNvPicPr>
            <a:picLocks noChangeAspect="1"/>
          </p:cNvPicPr>
          <p:nvPr/>
        </p:nvPicPr>
        <p:blipFill>
          <a:blip r:embed="rId2"/>
          <a:stretch>
            <a:fillRect/>
          </a:stretch>
        </p:blipFill>
        <p:spPr>
          <a:xfrm>
            <a:off x="4556912" y="2251253"/>
            <a:ext cx="307238" cy="307238"/>
          </a:xfrm>
          <a:prstGeom prst="rect">
            <a:avLst/>
          </a:prstGeom>
        </p:spPr>
      </p:pic>
      <p:sp>
        <p:nvSpPr>
          <p:cNvPr id="15" name="Text 11"/>
          <p:cNvSpPr/>
          <p:nvPr/>
        </p:nvSpPr>
        <p:spPr>
          <a:xfrm>
            <a:off x="3544672" y="2880360"/>
            <a:ext cx="2331720" cy="64008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Run the</a:t>
            </a:r>
            <a:endParaRPr lang="en-US" sz="1400" dirty="0"/>
          </a:p>
          <a:p>
            <a:pPr algn="ctr" indent="0" marL="0">
              <a:buNone/>
            </a:pPr>
            <a:r>
              <a:rPr lang="en-US" sz="1400" b="1" dirty="0">
                <a:solidFill>
                  <a:srgbClr val="1E2761"/>
                </a:solidFill>
                <a:latin typeface="Calibri" pitchFamily="34" charset="0"/>
                <a:ea typeface="Calibri" pitchFamily="34" charset="-122"/>
                <a:cs typeface="Calibri" pitchFamily="34" charset="-120"/>
              </a:rPr>
              <a:t>desensitizer</a:t>
            </a:r>
            <a:endParaRPr lang="en-US" sz="1400" dirty="0"/>
          </a:p>
        </p:txBody>
      </p:sp>
      <p:sp>
        <p:nvSpPr>
          <p:cNvPr id="16" name="Text 12"/>
          <p:cNvSpPr/>
          <p:nvPr/>
        </p:nvSpPr>
        <p:spPr>
          <a:xfrm>
            <a:off x="3562960" y="3566160"/>
            <a:ext cx="2295144" cy="822960"/>
          </a:xfrm>
          <a:prstGeom prst="rect">
            <a:avLst/>
          </a:prstGeom>
          <a:noFill/>
          <a:ln/>
        </p:spPr>
        <p:txBody>
          <a:bodyPr wrap="square" lIns="0" tIns="0" rIns="0" bIns="0" rtlCol="0" anchor="ctr"/>
          <a:lstStyle/>
          <a:p>
            <a:pPr algn="ctr" indent="0" marL="0">
              <a:buNone/>
            </a:pPr>
            <a:r>
              <a:rPr lang="en-US" sz="1050" dirty="0">
                <a:solidFill>
                  <a:srgbClr val="1B2440"/>
                </a:solidFill>
                <a:latin typeface="Calibri" pitchFamily="34" charset="0"/>
                <a:ea typeface="Calibri" pitchFamily="34" charset="-122"/>
                <a:cs typeface="Calibri" pitchFamily="34" charset="-120"/>
              </a:rPr>
              <a:t>code_extractor.py strips</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real names, masks data</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&amp; strings, swaps in</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Looking at Trees terms</a:t>
            </a:r>
            <a:endParaRPr lang="en-US" sz="1050" dirty="0"/>
          </a:p>
        </p:txBody>
      </p:sp>
      <p:sp>
        <p:nvSpPr>
          <p:cNvPr id="17" name="Text 13"/>
          <p:cNvSpPr/>
          <p:nvPr/>
        </p:nvSpPr>
        <p:spPr>
          <a:xfrm>
            <a:off x="5949544" y="2971800"/>
            <a:ext cx="274320" cy="365760"/>
          </a:xfrm>
          <a:prstGeom prst="rect">
            <a:avLst/>
          </a:prstGeom>
          <a:noFill/>
          <a:ln/>
        </p:spPr>
        <p:txBody>
          <a:bodyPr wrap="square" lIns="0" tIns="0" rIns="0" bIns="0" rtlCol="0" anchor="ctr"/>
          <a:lstStyle/>
          <a:p>
            <a:pPr algn="ctr" indent="0" marL="0">
              <a:buNone/>
            </a:pPr>
            <a:r>
              <a:rPr lang="en-US" sz="1800" dirty="0">
                <a:solidFill>
                  <a:srgbClr val="5A6B8C"/>
                </a:solidFill>
              </a:rPr>
              <a:t>▸</a:t>
            </a:r>
            <a:endParaRPr lang="en-US" sz="1800" dirty="0"/>
          </a:p>
        </p:txBody>
      </p:sp>
      <p:sp>
        <p:nvSpPr>
          <p:cNvPr id="18" name="Shape 14"/>
          <p:cNvSpPr/>
          <p:nvPr/>
        </p:nvSpPr>
        <p:spPr>
          <a:xfrm>
            <a:off x="6223864" y="1828800"/>
            <a:ext cx="2514600" cy="2651760"/>
          </a:xfrm>
          <a:prstGeom prst="roundRect">
            <a:avLst>
              <a:gd name="adj" fmla="val 3273"/>
            </a:avLst>
          </a:prstGeom>
          <a:solidFill>
            <a:srgbClr val="EAF4EF"/>
          </a:solidFill>
          <a:ln/>
          <a:effectLst>
            <a:outerShdw sx="100000" sy="100000" kx="0" ky="0" algn="bl" rotWithShape="0" blurRad="76200" dist="12700" dir="5400000">
              <a:srgbClr val="9AA7C4">
                <a:alpha val="22000"/>
              </a:srgbClr>
            </a:outerShdw>
          </a:effectLst>
        </p:spPr>
      </p:sp>
      <p:sp>
        <p:nvSpPr>
          <p:cNvPr id="19" name="Shape 15"/>
          <p:cNvSpPr/>
          <p:nvPr/>
        </p:nvSpPr>
        <p:spPr>
          <a:xfrm>
            <a:off x="7161124" y="2084832"/>
            <a:ext cx="640080" cy="640080"/>
          </a:xfrm>
          <a:prstGeom prst="ellipse">
            <a:avLst/>
          </a:prstGeom>
          <a:solidFill>
            <a:srgbClr val="1E2761"/>
          </a:solidFill>
          <a:ln/>
        </p:spPr>
      </p:sp>
      <p:pic>
        <p:nvPicPr>
          <p:cNvPr id="20" name="Image 2" descr="preencoded.png">    </p:cNvPr>
          <p:cNvPicPr>
            <a:picLocks noChangeAspect="1"/>
          </p:cNvPicPr>
          <p:nvPr/>
        </p:nvPicPr>
        <p:blipFill>
          <a:blip r:embed="rId3"/>
          <a:stretch>
            <a:fillRect/>
          </a:stretch>
        </p:blipFill>
        <p:spPr>
          <a:xfrm>
            <a:off x="7327544" y="2251253"/>
            <a:ext cx="307238" cy="307238"/>
          </a:xfrm>
          <a:prstGeom prst="rect">
            <a:avLst/>
          </a:prstGeom>
        </p:spPr>
      </p:pic>
      <p:sp>
        <p:nvSpPr>
          <p:cNvPr id="21" name="Text 16"/>
          <p:cNvSpPr/>
          <p:nvPr/>
        </p:nvSpPr>
        <p:spPr>
          <a:xfrm>
            <a:off x="6315304" y="2880360"/>
            <a:ext cx="2331720" cy="64008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A teammate</a:t>
            </a:r>
            <a:endParaRPr lang="en-US" sz="1400" dirty="0"/>
          </a:p>
          <a:p>
            <a:pPr algn="ctr" indent="0" marL="0">
              <a:buNone/>
            </a:pPr>
            <a:r>
              <a:rPr lang="en-US" sz="1400" b="1" dirty="0">
                <a:solidFill>
                  <a:srgbClr val="1E2761"/>
                </a:solidFill>
                <a:latin typeface="Calibri" pitchFamily="34" charset="0"/>
                <a:ea typeface="Calibri" pitchFamily="34" charset="-122"/>
                <a:cs typeface="Calibri" pitchFamily="34" charset="-120"/>
              </a:rPr>
              <a:t>checks it</a:t>
            </a:r>
            <a:endParaRPr lang="en-US" sz="1400" dirty="0"/>
          </a:p>
        </p:txBody>
      </p:sp>
      <p:sp>
        <p:nvSpPr>
          <p:cNvPr id="22" name="Text 17"/>
          <p:cNvSpPr/>
          <p:nvPr/>
        </p:nvSpPr>
        <p:spPr>
          <a:xfrm>
            <a:off x="6333592" y="3566160"/>
            <a:ext cx="2295144" cy="822960"/>
          </a:xfrm>
          <a:prstGeom prst="rect">
            <a:avLst/>
          </a:prstGeom>
          <a:noFill/>
          <a:ln/>
        </p:spPr>
        <p:txBody>
          <a:bodyPr wrap="square" lIns="0" tIns="0" rIns="0" bIns="0" rtlCol="0" anchor="ctr"/>
          <a:lstStyle/>
          <a:p>
            <a:pPr algn="ctr" indent="0" marL="0">
              <a:buNone/>
            </a:pPr>
            <a:r>
              <a:rPr lang="en-US" sz="1050" dirty="0">
                <a:solidFill>
                  <a:srgbClr val="1B2440"/>
                </a:solidFill>
                <a:latin typeface="Calibri" pitchFamily="34" charset="0"/>
                <a:ea typeface="Calibri" pitchFamily="34" charset="-122"/>
                <a:cs typeface="Calibri" pitchFamily="34" charset="-120"/>
              </a:rPr>
              <a:t>A second pair of eyes</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reads the sanitized</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output before anything</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leaves</a:t>
            </a:r>
            <a:endParaRPr lang="en-US" sz="1050" dirty="0"/>
          </a:p>
        </p:txBody>
      </p:sp>
      <p:sp>
        <p:nvSpPr>
          <p:cNvPr id="23" name="Text 18"/>
          <p:cNvSpPr/>
          <p:nvPr/>
        </p:nvSpPr>
        <p:spPr>
          <a:xfrm>
            <a:off x="8720176" y="2971800"/>
            <a:ext cx="274320" cy="365760"/>
          </a:xfrm>
          <a:prstGeom prst="rect">
            <a:avLst/>
          </a:prstGeom>
          <a:noFill/>
          <a:ln/>
        </p:spPr>
        <p:txBody>
          <a:bodyPr wrap="square" lIns="0" tIns="0" rIns="0" bIns="0" rtlCol="0" anchor="ctr"/>
          <a:lstStyle/>
          <a:p>
            <a:pPr algn="ctr" indent="0" marL="0">
              <a:buNone/>
            </a:pPr>
            <a:r>
              <a:rPr lang="en-US" sz="1800" dirty="0">
                <a:solidFill>
                  <a:srgbClr val="5A6B8C"/>
                </a:solidFill>
              </a:rPr>
              <a:t>▸</a:t>
            </a:r>
            <a:endParaRPr lang="en-US" sz="1800" dirty="0"/>
          </a:p>
        </p:txBody>
      </p:sp>
      <p:sp>
        <p:nvSpPr>
          <p:cNvPr id="24" name="Shape 19"/>
          <p:cNvSpPr/>
          <p:nvPr/>
        </p:nvSpPr>
        <p:spPr>
          <a:xfrm>
            <a:off x="8994496" y="1828800"/>
            <a:ext cx="2514600" cy="2651760"/>
          </a:xfrm>
          <a:prstGeom prst="roundRect">
            <a:avLst>
              <a:gd name="adj" fmla="val 3273"/>
            </a:avLst>
          </a:prstGeom>
          <a:solidFill>
            <a:srgbClr val="EDF3FC"/>
          </a:solidFill>
          <a:ln/>
          <a:effectLst>
            <a:outerShdw sx="100000" sy="100000" kx="0" ky="0" algn="bl" rotWithShape="0" blurRad="76200" dist="12700" dir="5400000">
              <a:srgbClr val="9AA7C4">
                <a:alpha val="22000"/>
              </a:srgbClr>
            </a:outerShdw>
          </a:effectLst>
        </p:spPr>
      </p:sp>
      <p:sp>
        <p:nvSpPr>
          <p:cNvPr id="25" name="Shape 20"/>
          <p:cNvSpPr/>
          <p:nvPr/>
        </p:nvSpPr>
        <p:spPr>
          <a:xfrm>
            <a:off x="9931756" y="2084832"/>
            <a:ext cx="640080" cy="640080"/>
          </a:xfrm>
          <a:prstGeom prst="ellipse">
            <a:avLst/>
          </a:prstGeom>
          <a:solidFill>
            <a:srgbClr val="1E2761"/>
          </a:solidFill>
          <a:ln/>
        </p:spPr>
      </p:sp>
      <p:pic>
        <p:nvPicPr>
          <p:cNvPr id="26" name="Image 3" descr="preencoded.png">    </p:cNvPr>
          <p:cNvPicPr>
            <a:picLocks noChangeAspect="1"/>
          </p:cNvPicPr>
          <p:nvPr/>
        </p:nvPicPr>
        <p:blipFill>
          <a:blip r:embed="rId4"/>
          <a:stretch>
            <a:fillRect/>
          </a:stretch>
        </p:blipFill>
        <p:spPr>
          <a:xfrm>
            <a:off x="10098176" y="2251253"/>
            <a:ext cx="307238" cy="307238"/>
          </a:xfrm>
          <a:prstGeom prst="rect">
            <a:avLst/>
          </a:prstGeom>
        </p:spPr>
      </p:pic>
      <p:sp>
        <p:nvSpPr>
          <p:cNvPr id="27" name="Text 21"/>
          <p:cNvSpPr/>
          <p:nvPr/>
        </p:nvSpPr>
        <p:spPr>
          <a:xfrm>
            <a:off x="9085936" y="2880360"/>
            <a:ext cx="2331720" cy="64008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Send it,</a:t>
            </a:r>
            <a:endParaRPr lang="en-US" sz="1400" dirty="0"/>
          </a:p>
          <a:p>
            <a:pPr algn="ctr" indent="0" marL="0">
              <a:buNone/>
            </a:pPr>
            <a:r>
              <a:rPr lang="en-US" sz="1400" b="1" dirty="0">
                <a:solidFill>
                  <a:srgbClr val="1E2761"/>
                </a:solidFill>
                <a:latin typeface="Calibri" pitchFamily="34" charset="0"/>
                <a:ea typeface="Calibri" pitchFamily="34" charset="-122"/>
                <a:cs typeface="Calibri" pitchFamily="34" charset="-120"/>
              </a:rPr>
              <a:t>log it</a:t>
            </a:r>
            <a:endParaRPr lang="en-US" sz="1400" dirty="0"/>
          </a:p>
        </p:txBody>
      </p:sp>
      <p:sp>
        <p:nvSpPr>
          <p:cNvPr id="28" name="Text 22"/>
          <p:cNvSpPr/>
          <p:nvPr/>
        </p:nvSpPr>
        <p:spPr>
          <a:xfrm>
            <a:off x="9104224" y="3566160"/>
            <a:ext cx="2295144" cy="822960"/>
          </a:xfrm>
          <a:prstGeom prst="rect">
            <a:avLst/>
          </a:prstGeom>
          <a:noFill/>
          <a:ln/>
        </p:spPr>
        <p:txBody>
          <a:bodyPr wrap="square" lIns="0" tIns="0" rIns="0" bIns="0" rtlCol="0" anchor="ctr"/>
          <a:lstStyle/>
          <a:p>
            <a:pPr algn="ctr" indent="0" marL="0">
              <a:buNone/>
            </a:pPr>
            <a:r>
              <a:rPr lang="en-US" sz="1050" dirty="0">
                <a:solidFill>
                  <a:srgbClr val="1B2440"/>
                </a:solidFill>
                <a:latin typeface="Calibri" pitchFamily="34" charset="0"/>
                <a:ea typeface="Calibri" pitchFamily="34" charset="-122"/>
                <a:cs typeface="Calibri" pitchFamily="34" charset="-120"/>
              </a:rPr>
              <a:t>Out through our</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approved channel; what</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left and when gets</a:t>
            </a:r>
            <a:endParaRPr lang="en-US" sz="1050" dirty="0"/>
          </a:p>
          <a:p>
            <a:pPr algn="ctr" indent="0" marL="0">
              <a:buNone/>
            </a:pPr>
            <a:r>
              <a:rPr lang="en-US" sz="1050" dirty="0">
                <a:solidFill>
                  <a:srgbClr val="1B2440"/>
                </a:solidFill>
                <a:latin typeface="Calibri" pitchFamily="34" charset="0"/>
                <a:ea typeface="Calibri" pitchFamily="34" charset="-122"/>
                <a:cs typeface="Calibri" pitchFamily="34" charset="-120"/>
              </a:rPr>
              <a:t>noted, simply</a:t>
            </a:r>
            <a:endParaRPr lang="en-US" sz="1050" dirty="0"/>
          </a:p>
        </p:txBody>
      </p:sp>
      <p:sp>
        <p:nvSpPr>
          <p:cNvPr id="29" name="Shape 23"/>
          <p:cNvSpPr/>
          <p:nvPr/>
        </p:nvSpPr>
        <p:spPr>
          <a:xfrm>
            <a:off x="548640" y="4846320"/>
            <a:ext cx="11094415" cy="1051560"/>
          </a:xfrm>
          <a:prstGeom prst="roundRect">
            <a:avLst>
              <a:gd name="adj" fmla="val 7826"/>
            </a:avLst>
          </a:prstGeom>
          <a:solidFill>
            <a:srgbClr val="EDF3FC"/>
          </a:solidFill>
          <a:ln/>
          <a:effectLst>
            <a:outerShdw sx="100000" sy="100000" kx="0" ky="0" algn="bl" rotWithShape="0" blurRad="76200" dist="12700" dir="5400000">
              <a:srgbClr val="9AA7C4">
                <a:alpha val="22000"/>
              </a:srgbClr>
            </a:outerShdw>
          </a:effectLst>
        </p:spPr>
      </p:sp>
      <p:sp>
        <p:nvSpPr>
          <p:cNvPr id="30" name="Shape 24"/>
          <p:cNvSpPr/>
          <p:nvPr/>
        </p:nvSpPr>
        <p:spPr>
          <a:xfrm>
            <a:off x="777240" y="5056632"/>
            <a:ext cx="566928" cy="566928"/>
          </a:xfrm>
          <a:prstGeom prst="ellipse">
            <a:avLst/>
          </a:prstGeom>
          <a:solidFill>
            <a:srgbClr val="1E2761"/>
          </a:solidFill>
          <a:ln/>
        </p:spPr>
      </p:sp>
      <p:pic>
        <p:nvPicPr>
          <p:cNvPr id="31" name="Image 4" descr="preencoded.png">    </p:cNvPr>
          <p:cNvPicPr>
            <a:picLocks noChangeAspect="1"/>
          </p:cNvPicPr>
          <p:nvPr/>
        </p:nvPicPr>
        <p:blipFill>
          <a:blip r:embed="rId5"/>
          <a:stretch>
            <a:fillRect/>
          </a:stretch>
        </p:blipFill>
        <p:spPr>
          <a:xfrm>
            <a:off x="924641" y="5204033"/>
            <a:ext cx="272125" cy="272125"/>
          </a:xfrm>
          <a:prstGeom prst="rect">
            <a:avLst/>
          </a:prstGeom>
        </p:spPr>
      </p:pic>
      <p:sp>
        <p:nvSpPr>
          <p:cNvPr id="32" name="Text 25"/>
          <p:cNvSpPr/>
          <p:nvPr/>
        </p:nvSpPr>
        <p:spPr>
          <a:xfrm>
            <a:off x="1554480" y="4965192"/>
            <a:ext cx="9859975" cy="8229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mapping.json is the one file that turns “Looking at Trees” back into the real thing — </a:t>
            </a:r>
            <a:pPr indent="0" marL="0">
              <a:buNone/>
            </a:pPr>
            <a:r>
              <a:rPr lang="en-US" sz="1350" dirty="0">
                <a:solidFill>
                  <a:srgbClr val="1B2440"/>
                </a:solidFill>
                <a:latin typeface="Calibri" pitchFamily="34" charset="0"/>
                <a:ea typeface="Calibri" pitchFamily="34" charset="-122"/>
                <a:cs typeface="Calibri" pitchFamily="34" charset="-120"/>
              </a:rPr>
              <a:t>it stays inside, always. Everything else is designed to be boring to send.</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8</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ELEVATING “LOOKING AT TREES” TO REAL C3</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The code doesn't care which company it's for — the data does</a:t>
            </a:r>
            <a:endParaRPr lang="en-US" sz="2800" dirty="0"/>
          </a:p>
        </p:txBody>
      </p:sp>
      <p:sp>
        <p:nvSpPr>
          <p:cNvPr id="6" name="Text 4"/>
          <p:cNvSpPr/>
          <p:nvPr/>
        </p:nvSpPr>
        <p:spPr>
          <a:xfrm>
            <a:off x="548640" y="1737360"/>
            <a:ext cx="5120640" cy="4114800"/>
          </a:xfrm>
          <a:prstGeom prst="rect">
            <a:avLst/>
          </a:prstGeom>
          <a:noFill/>
          <a:ln/>
        </p:spPr>
        <p:txBody>
          <a:bodyPr wrap="square" lIns="0" tIns="0" rIns="0" bIns="0" rtlCol="0" anchor="ctr"/>
          <a:lstStyle/>
          <a:p>
            <a:pPr indent="0" marL="0">
              <a:spcAft>
                <a:spcPts val="500"/>
              </a:spcAft>
              <a:buNone/>
            </a:pPr>
            <a:r>
              <a:rPr lang="en-US" sz="1350" dirty="0">
                <a:solidFill>
                  <a:srgbClr val="1B2440"/>
                </a:solidFill>
                <a:latin typeface="Calibri" pitchFamily="34" charset="0"/>
                <a:ea typeface="Calibri" pitchFamily="34" charset="-122"/>
                <a:cs typeface="Calibri" pitchFamily="34" charset="-120"/>
              </a:rPr>
              <a:t>Whether it's Looking at Trees or the real thing, the components, forms, validation logic, and flows are exactly the same code either way.</a:t>
            </a:r>
            <a:endParaRPr lang="en-US" sz="1350" dirty="0"/>
          </a:p>
          <a:p>
            <a:pPr indent="0" marL="0">
              <a:spcAft>
                <a:spcPts val="500"/>
              </a:spcAft>
              <a:buNone/>
            </a:pPr>
            <a:endParaRPr lang="en-US" sz="1350" dirty="0"/>
          </a:p>
          <a:p>
            <a:pPr indent="0" marL="0">
              <a:spcAft>
                <a:spcPts val="500"/>
              </a:spcAft>
              <a:buNone/>
            </a:pPr>
            <a:r>
              <a:rPr lang="en-US" sz="1350" dirty="0">
                <a:solidFill>
                  <a:srgbClr val="1B2440"/>
                </a:solidFill>
                <a:latin typeface="Calibri" pitchFamily="34" charset="0"/>
                <a:ea typeface="Calibri" pitchFamily="34" charset="-122"/>
                <a:cs typeface="Calibri" pitchFamily="34" charset="-120"/>
              </a:rPr>
              <a:t>What's actually sensitive is almost always the </a:t>
            </a:r>
            <a:pPr indent="0" marL="0">
              <a:spcAft>
                <a:spcPts val="500"/>
              </a:spcAft>
              <a:buNone/>
            </a:pPr>
            <a:r>
              <a:rPr lang="en-US" sz="1350" b="1" dirty="0">
                <a:solidFill>
                  <a:srgbClr val="1E2761"/>
                </a:solidFill>
                <a:latin typeface="Calibri" pitchFamily="34" charset="0"/>
                <a:ea typeface="Calibri" pitchFamily="34" charset="-122"/>
                <a:cs typeface="Calibri" pitchFamily="34" charset="-120"/>
              </a:rPr>
              <a:t>data</a:t>
            </a:r>
            <a:pPr indent="0" marL="0">
              <a:spcAft>
                <a:spcPts val="500"/>
              </a:spcAft>
              <a:buNone/>
            </a:pPr>
            <a:r>
              <a:rPr lang="en-US" sz="1350" dirty="0">
                <a:solidFill>
                  <a:srgbClr val="1B2440"/>
                </a:solidFill>
                <a:latin typeface="Calibri" pitchFamily="34" charset="0"/>
                <a:ea typeface="Calibri" pitchFamily="34" charset="-122"/>
                <a:cs typeface="Calibri" pitchFamily="34" charset="-120"/>
              </a:rPr>
              <a:t> underneath — real customer records, real figures, real identifiers — plus, occasionally, one or two genuinely sensitive rule values.</a:t>
            </a:r>
            <a:endParaRPr lang="en-US" sz="1350" dirty="0"/>
          </a:p>
          <a:p>
            <a:pPr indent="0" marL="0">
              <a:spcAft>
                <a:spcPts val="500"/>
              </a:spcAft>
              <a:buNone/>
            </a:pPr>
            <a:endParaRPr lang="en-US" sz="1350" dirty="0"/>
          </a:p>
          <a:p>
            <a:pPr indent="0" marL="0">
              <a:spcAft>
                <a:spcPts val="500"/>
              </a:spcAft>
              <a:buNone/>
            </a:pPr>
            <a:r>
              <a:rPr lang="en-US" sz="1350" dirty="0">
                <a:solidFill>
                  <a:srgbClr val="1B2440"/>
                </a:solidFill>
                <a:latin typeface="Calibri" pitchFamily="34" charset="0"/>
                <a:ea typeface="Calibri" pitchFamily="34" charset="-122"/>
                <a:cs typeface="Calibri" pitchFamily="34" charset="-120"/>
              </a:rPr>
              <a:t>So outside, the app runs on placeholder data (and placeholder values for the rare sensitive rule). Inside, we point it at the real data instead — closer to swapping an </a:t>
            </a:r>
            <a:pPr indent="0" marL="0">
              <a:spcAft>
                <a:spcPts val="500"/>
              </a:spcAft>
              <a:buNone/>
            </a:pPr>
            <a:r>
              <a:rPr lang="en-US" sz="1350" dirty="0">
                <a:solidFill>
                  <a:srgbClr val="1E2761"/>
                </a:solidFill>
                <a:latin typeface="Courier New" pitchFamily="34" charset="0"/>
                <a:ea typeface="Courier New" pitchFamily="34" charset="-122"/>
                <a:cs typeface="Courier New" pitchFamily="34" charset="-120"/>
              </a:rPr>
              <a:t>.env</a:t>
            </a:r>
            <a:pPr indent="0" marL="0">
              <a:spcAft>
                <a:spcPts val="500"/>
              </a:spcAft>
              <a:buNone/>
            </a:pPr>
            <a:r>
              <a:rPr lang="en-US" sz="1350" dirty="0">
                <a:solidFill>
                  <a:srgbClr val="1B2440"/>
                </a:solidFill>
                <a:latin typeface="Calibri" pitchFamily="34" charset="0"/>
                <a:ea typeface="Calibri" pitchFamily="34" charset="-122"/>
                <a:cs typeface="Calibri" pitchFamily="34" charset="-120"/>
              </a:rPr>
              <a:t> file than rewriting the app.</a:t>
            </a:r>
            <a:endParaRPr lang="en-US" sz="1350" dirty="0"/>
          </a:p>
          <a:p>
            <a:pPr indent="0" marL="0">
              <a:spcAft>
                <a:spcPts val="500"/>
              </a:spcAft>
              <a:buNone/>
            </a:pPr>
            <a:endParaRPr lang="en-US" sz="1350" dirty="0"/>
          </a:p>
          <a:p>
            <a:pPr indent="0" marL="0">
              <a:spcAft>
                <a:spcPts val="500"/>
              </a:spcAft>
              <a:buNone/>
            </a:pPr>
            <a:r>
              <a:rPr lang="en-US" sz="1350" b="1" dirty="0">
                <a:solidFill>
                  <a:srgbClr val="2E7D5B"/>
                </a:solidFill>
                <a:latin typeface="Calibri" pitchFamily="34" charset="0"/>
                <a:ea typeface="Calibri" pitchFamily="34" charset="-122"/>
                <a:cs typeface="Calibri" pitchFamily="34" charset="-120"/>
              </a:rPr>
              <a:t>Some rules will be sensitive or complex enough that we just build them directly inside — that's completely fine. We'll flag those upfront, per feature, so nobody's surprised later.</a:t>
            </a:r>
            <a:endParaRPr lang="en-US" sz="1350" dirty="0"/>
          </a:p>
        </p:txBody>
      </p:sp>
      <p:sp>
        <p:nvSpPr>
          <p:cNvPr id="7" name="Shape 5"/>
          <p:cNvSpPr/>
          <p:nvPr/>
        </p:nvSpPr>
        <p:spPr>
          <a:xfrm>
            <a:off x="6126480" y="1737360"/>
            <a:ext cx="5486400" cy="1874520"/>
          </a:xfrm>
          <a:prstGeom prst="roundRect">
            <a:avLst>
              <a:gd name="adj" fmla="val 4390"/>
            </a:avLst>
          </a:prstGeom>
          <a:solidFill>
            <a:srgbClr val="EAF4EF"/>
          </a:solidFill>
          <a:ln/>
          <a:effectLst>
            <a:outerShdw sx="100000" sy="100000" kx="0" ky="0" algn="bl" rotWithShape="0" blurRad="76200" dist="12700" dir="5400000">
              <a:srgbClr val="9AA7C4">
                <a:alpha val="22000"/>
              </a:srgbClr>
            </a:outerShdw>
          </a:effectLst>
        </p:spPr>
      </p:sp>
      <p:sp>
        <p:nvSpPr>
          <p:cNvPr id="8" name="Shape 6"/>
          <p:cNvSpPr/>
          <p:nvPr/>
        </p:nvSpPr>
        <p:spPr>
          <a:xfrm>
            <a:off x="6355080" y="1938528"/>
            <a:ext cx="502920" cy="502920"/>
          </a:xfrm>
          <a:prstGeom prst="ellipse">
            <a:avLst/>
          </a:prstGeom>
          <a:solidFill>
            <a:srgbClr val="2E7D5B"/>
          </a:solidFill>
          <a:ln/>
        </p:spPr>
      </p:sp>
      <p:pic>
        <p:nvPicPr>
          <p:cNvPr id="9" name="Image 0" descr="preencoded.png">    </p:cNvPr>
          <p:cNvPicPr>
            <a:picLocks noChangeAspect="1"/>
          </p:cNvPicPr>
          <p:nvPr/>
        </p:nvPicPr>
        <p:blipFill>
          <a:blip r:embed="rId1"/>
          <a:stretch>
            <a:fillRect/>
          </a:stretch>
        </p:blipFill>
        <p:spPr>
          <a:xfrm>
            <a:off x="6485839" y="2069287"/>
            <a:ext cx="241402" cy="241402"/>
          </a:xfrm>
          <a:prstGeom prst="rect">
            <a:avLst/>
          </a:prstGeom>
        </p:spPr>
      </p:pic>
      <p:sp>
        <p:nvSpPr>
          <p:cNvPr id="10" name="Text 7"/>
          <p:cNvSpPr/>
          <p:nvPr/>
        </p:nvSpPr>
        <p:spPr>
          <a:xfrm>
            <a:off x="6967728" y="1984248"/>
            <a:ext cx="4480560" cy="365760"/>
          </a:xfrm>
          <a:prstGeom prst="rect">
            <a:avLst/>
          </a:prstGeom>
          <a:noFill/>
          <a:ln/>
        </p:spPr>
        <p:txBody>
          <a:bodyPr wrap="square" lIns="0" tIns="0" rIns="0" bIns="0" rtlCol="0" anchor="ctr"/>
          <a:lstStyle/>
          <a:p>
            <a:pPr indent="0" marL="0">
              <a:buNone/>
            </a:pPr>
            <a:r>
              <a:rPr lang="en-US" sz="1300" b="1" dirty="0">
                <a:solidFill>
                  <a:srgbClr val="2E7D5B"/>
                </a:solidFill>
                <a:latin typeface="Calibri" pitchFamily="34" charset="0"/>
                <a:ea typeface="Calibri" pitchFamily="34" charset="-122"/>
                <a:cs typeface="Calibri" pitchFamily="34" charset="-120"/>
              </a:rPr>
              <a:t>OUTSIDE — “Looking at Trees” data</a:t>
            </a:r>
            <a:endParaRPr lang="en-US" sz="1300" dirty="0"/>
          </a:p>
        </p:txBody>
      </p:sp>
      <p:sp>
        <p:nvSpPr>
          <p:cNvPr id="11" name="Text 8"/>
          <p:cNvSpPr/>
          <p:nvPr/>
        </p:nvSpPr>
        <p:spPr>
          <a:xfrm>
            <a:off x="6382512" y="2404872"/>
            <a:ext cx="4974336" cy="1005840"/>
          </a:xfrm>
          <a:prstGeom prst="rect">
            <a:avLst/>
          </a:prstGeom>
          <a:noFill/>
          <a:ln/>
        </p:spPr>
        <p:txBody>
          <a:bodyPr wrap="square" lIns="0" tIns="0" rIns="0" bIns="0" rtlCol="0" anchor="ctr"/>
          <a:lstStyle/>
          <a:p>
            <a:pPr indent="0" marL="0">
              <a:buNone/>
            </a:pPr>
            <a:r>
              <a:rPr lang="en-US" sz="1150" dirty="0">
                <a:solidFill>
                  <a:srgbClr val="1B2440"/>
                </a:solidFill>
                <a:latin typeface="Calibri" pitchFamily="34" charset="0"/>
                <a:ea typeface="Calibri" pitchFamily="34" charset="-122"/>
                <a:cs typeface="Calibri" pitchFamily="34" charset="-120"/>
              </a:rPr>
              <a:t>Fake but realistic records and figures. Same app, same behavior — nothing real underneath.</a:t>
            </a:r>
            <a:endParaRPr lang="en-US" sz="1150" dirty="0"/>
          </a:p>
        </p:txBody>
      </p:sp>
      <p:sp>
        <p:nvSpPr>
          <p:cNvPr id="12" name="Text 9"/>
          <p:cNvSpPr/>
          <p:nvPr/>
        </p:nvSpPr>
        <p:spPr>
          <a:xfrm>
            <a:off x="6126480" y="3749040"/>
            <a:ext cx="5486400" cy="320040"/>
          </a:xfrm>
          <a:prstGeom prst="rect">
            <a:avLst/>
          </a:prstGeom>
          <a:noFill/>
          <a:ln/>
        </p:spPr>
        <p:txBody>
          <a:bodyPr wrap="square" lIns="0" tIns="0" rIns="0" bIns="0" rtlCol="0" anchor="ctr"/>
          <a:lstStyle/>
          <a:p>
            <a:pPr algn="ctr" indent="0" marL="0">
              <a:buNone/>
            </a:pPr>
            <a:r>
              <a:rPr lang="en-US" sz="1200" b="1" dirty="0">
                <a:solidFill>
                  <a:srgbClr val="5A6B8C"/>
                </a:solidFill>
                <a:latin typeface="Calibri" pitchFamily="34" charset="0"/>
                <a:ea typeface="Calibri" pitchFamily="34" charset="-122"/>
                <a:cs typeface="Calibri" pitchFamily="34" charset="-120"/>
              </a:rPr>
              <a:t>▼  same app, different data  ▼</a:t>
            </a:r>
            <a:endParaRPr lang="en-US" sz="1200" dirty="0"/>
          </a:p>
        </p:txBody>
      </p:sp>
      <p:sp>
        <p:nvSpPr>
          <p:cNvPr id="13" name="Shape 10"/>
          <p:cNvSpPr/>
          <p:nvPr/>
        </p:nvSpPr>
        <p:spPr>
          <a:xfrm>
            <a:off x="6126480" y="4114800"/>
            <a:ext cx="5486400" cy="1874520"/>
          </a:xfrm>
          <a:prstGeom prst="roundRect">
            <a:avLst>
              <a:gd name="adj" fmla="val 4390"/>
            </a:avLst>
          </a:prstGeom>
          <a:solidFill>
            <a:srgbClr val="EDF3FC"/>
          </a:solidFill>
          <a:ln/>
          <a:effectLst>
            <a:outerShdw sx="100000" sy="100000" kx="0" ky="0" algn="bl" rotWithShape="0" blurRad="76200" dist="12700" dir="5400000">
              <a:srgbClr val="9AA7C4">
                <a:alpha val="22000"/>
              </a:srgbClr>
            </a:outerShdw>
          </a:effectLst>
        </p:spPr>
      </p:sp>
      <p:sp>
        <p:nvSpPr>
          <p:cNvPr id="14" name="Shape 11"/>
          <p:cNvSpPr/>
          <p:nvPr/>
        </p:nvSpPr>
        <p:spPr>
          <a:xfrm>
            <a:off x="6355080" y="4315968"/>
            <a:ext cx="502920" cy="502920"/>
          </a:xfrm>
          <a:prstGeom prst="ellipse">
            <a:avLst/>
          </a:prstGeom>
          <a:solidFill>
            <a:srgbClr val="1E2761"/>
          </a:solidFill>
          <a:ln/>
        </p:spPr>
      </p:sp>
      <p:pic>
        <p:nvPicPr>
          <p:cNvPr id="15" name="Image 1" descr="preencoded.png">    </p:cNvPr>
          <p:cNvPicPr>
            <a:picLocks noChangeAspect="1"/>
          </p:cNvPicPr>
          <p:nvPr/>
        </p:nvPicPr>
        <p:blipFill>
          <a:blip r:embed="rId2"/>
          <a:stretch>
            <a:fillRect/>
          </a:stretch>
        </p:blipFill>
        <p:spPr>
          <a:xfrm>
            <a:off x="6485839" y="4446727"/>
            <a:ext cx="241402" cy="241402"/>
          </a:xfrm>
          <a:prstGeom prst="rect">
            <a:avLst/>
          </a:prstGeom>
        </p:spPr>
      </p:pic>
      <p:sp>
        <p:nvSpPr>
          <p:cNvPr id="16" name="Text 12"/>
          <p:cNvSpPr/>
          <p:nvPr/>
        </p:nvSpPr>
        <p:spPr>
          <a:xfrm>
            <a:off x="6967728" y="4361688"/>
            <a:ext cx="4480560"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INSIDE — the real data</a:t>
            </a:r>
            <a:endParaRPr lang="en-US" sz="1300" dirty="0"/>
          </a:p>
        </p:txBody>
      </p:sp>
      <p:sp>
        <p:nvSpPr>
          <p:cNvPr id="17" name="Text 13"/>
          <p:cNvSpPr/>
          <p:nvPr/>
        </p:nvSpPr>
        <p:spPr>
          <a:xfrm>
            <a:off x="6382512" y="4782312"/>
            <a:ext cx="4974336" cy="1005840"/>
          </a:xfrm>
          <a:prstGeom prst="rect">
            <a:avLst/>
          </a:prstGeom>
          <a:noFill/>
          <a:ln/>
        </p:spPr>
        <p:txBody>
          <a:bodyPr wrap="square" lIns="0" tIns="0" rIns="0" bIns="0" rtlCol="0" anchor="ctr"/>
          <a:lstStyle/>
          <a:p>
            <a:pPr indent="0" marL="0">
              <a:buNone/>
            </a:pPr>
            <a:r>
              <a:rPr lang="en-US" sz="1150" dirty="0">
                <a:solidFill>
                  <a:srgbClr val="1B2440"/>
                </a:solidFill>
                <a:latin typeface="Calibri" pitchFamily="34" charset="0"/>
                <a:ea typeface="Calibri" pitchFamily="34" charset="-122"/>
                <a:cs typeface="Calibri" pitchFamily="34" charset="-120"/>
              </a:rPr>
              <a:t>Same components, same tests. Only the values underneath change — reviewed and versioned like everything else we ship.</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9</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BUILDING WITHOUT WAITING ON ANYONE</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Test the whole thing before it ever touches Confi</a:t>
            </a:r>
            <a:endParaRPr lang="en-US" sz="2800" dirty="0"/>
          </a:p>
        </p:txBody>
      </p:sp>
      <p:sp>
        <p:nvSpPr>
          <p:cNvPr id="6" name="Shape 4"/>
          <p:cNvSpPr/>
          <p:nvPr/>
        </p:nvSpPr>
        <p:spPr>
          <a:xfrm>
            <a:off x="548640" y="1691640"/>
            <a:ext cx="11094415" cy="859536"/>
          </a:xfrm>
          <a:prstGeom prst="roundRect">
            <a:avLst>
              <a:gd name="adj" fmla="val 9574"/>
            </a:avLst>
          </a:prstGeom>
          <a:solidFill>
            <a:srgbClr val="EDF3FC"/>
          </a:solidFill>
          <a:ln/>
          <a:effectLst>
            <a:outerShdw sx="100000" sy="100000" kx="0" ky="0" algn="bl" rotWithShape="0" blurRad="76200" dist="12700" dir="5400000">
              <a:srgbClr val="9AA7C4">
                <a:alpha val="22000"/>
              </a:srgbClr>
            </a:outerShdw>
          </a:effectLst>
        </p:spPr>
      </p:sp>
      <p:sp>
        <p:nvSpPr>
          <p:cNvPr id="7" name="Shape 5"/>
          <p:cNvSpPr/>
          <p:nvPr/>
        </p:nvSpPr>
        <p:spPr>
          <a:xfrm>
            <a:off x="749808" y="1865376"/>
            <a:ext cx="548640" cy="54864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892454" y="2008022"/>
            <a:ext cx="263347" cy="263347"/>
          </a:xfrm>
          <a:prstGeom prst="rect">
            <a:avLst/>
          </a:prstGeom>
        </p:spPr>
      </p:pic>
      <p:sp>
        <p:nvSpPr>
          <p:cNvPr id="9" name="Text 6"/>
          <p:cNvSpPr/>
          <p:nvPr/>
        </p:nvSpPr>
        <p:spPr>
          <a:xfrm>
            <a:off x="1463040" y="1801368"/>
            <a:ext cx="2926080" cy="694944"/>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OpenAPI spec</a:t>
            </a:r>
            <a:endParaRPr lang="en-US" sz="1400" dirty="0"/>
          </a:p>
        </p:txBody>
      </p:sp>
      <p:sp>
        <p:nvSpPr>
          <p:cNvPr id="10" name="Text 7"/>
          <p:cNvSpPr/>
          <p:nvPr/>
        </p:nvSpPr>
        <p:spPr>
          <a:xfrm>
            <a:off x="4572000" y="1783080"/>
            <a:ext cx="6888175" cy="731520"/>
          </a:xfrm>
          <a:prstGeom prst="rect">
            <a:avLst/>
          </a:prstGeom>
          <a:noFill/>
          <a:ln/>
        </p:spPr>
        <p:txBody>
          <a:bodyPr wrap="square" lIns="0" tIns="0" rIns="0" bIns="0" rtlCol="0" anchor="ctr"/>
          <a:lstStyle/>
          <a:p>
            <a:pPr indent="0" marL="0">
              <a:buNone/>
            </a:pPr>
            <a:r>
              <a:rPr lang="en-US" sz="1200" dirty="0">
                <a:solidFill>
                  <a:srgbClr val="1B2440"/>
                </a:solidFill>
                <a:latin typeface="Calibri" pitchFamily="34" charset="0"/>
                <a:ea typeface="Calibri" pitchFamily="34" charset="-122"/>
                <a:cs typeface="Calibri" pitchFamily="34" charset="-120"/>
              </a:rPr>
              <a:t>The contract everyone builds against — types, endpoints, sample data</a:t>
            </a:r>
            <a:endParaRPr lang="en-US" sz="1200" dirty="0"/>
          </a:p>
        </p:txBody>
      </p:sp>
      <p:sp>
        <p:nvSpPr>
          <p:cNvPr id="11" name="Shape 8"/>
          <p:cNvSpPr/>
          <p:nvPr/>
        </p:nvSpPr>
        <p:spPr>
          <a:xfrm>
            <a:off x="548640" y="2679192"/>
            <a:ext cx="11094415" cy="859536"/>
          </a:xfrm>
          <a:prstGeom prst="roundRect">
            <a:avLst>
              <a:gd name="adj" fmla="val 9574"/>
            </a:avLst>
          </a:prstGeom>
          <a:solidFill>
            <a:srgbClr val="EDF3FC"/>
          </a:solidFill>
          <a:ln/>
          <a:effectLst>
            <a:outerShdw sx="100000" sy="100000" kx="0" ky="0" algn="bl" rotWithShape="0" blurRad="76200" dist="12700" dir="5400000">
              <a:srgbClr val="9AA7C4">
                <a:alpha val="22000"/>
              </a:srgbClr>
            </a:outerShdw>
          </a:effectLst>
        </p:spPr>
      </p:sp>
      <p:sp>
        <p:nvSpPr>
          <p:cNvPr id="12" name="Shape 9"/>
          <p:cNvSpPr/>
          <p:nvPr/>
        </p:nvSpPr>
        <p:spPr>
          <a:xfrm>
            <a:off x="749808" y="2852928"/>
            <a:ext cx="548640" cy="548640"/>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892454" y="2995574"/>
            <a:ext cx="263347" cy="263347"/>
          </a:xfrm>
          <a:prstGeom prst="rect">
            <a:avLst/>
          </a:prstGeom>
        </p:spPr>
      </p:pic>
      <p:sp>
        <p:nvSpPr>
          <p:cNvPr id="14" name="Text 10"/>
          <p:cNvSpPr/>
          <p:nvPr/>
        </p:nvSpPr>
        <p:spPr>
          <a:xfrm>
            <a:off x="1463040" y="2788920"/>
            <a:ext cx="2926080" cy="694944"/>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Generated types + client</a:t>
            </a:r>
            <a:endParaRPr lang="en-US" sz="1400" dirty="0"/>
          </a:p>
        </p:txBody>
      </p:sp>
      <p:sp>
        <p:nvSpPr>
          <p:cNvPr id="15" name="Text 11"/>
          <p:cNvSpPr/>
          <p:nvPr/>
        </p:nvSpPr>
        <p:spPr>
          <a:xfrm>
            <a:off x="4572000" y="2770632"/>
            <a:ext cx="6888175" cy="731520"/>
          </a:xfrm>
          <a:prstGeom prst="rect">
            <a:avLst/>
          </a:prstGeom>
          <a:noFill/>
          <a:ln/>
        </p:spPr>
        <p:txBody>
          <a:bodyPr wrap="square" lIns="0" tIns="0" rIns="0" bIns="0" rtlCol="0" anchor="ctr"/>
          <a:lstStyle/>
          <a:p>
            <a:pPr indent="0" marL="0">
              <a:buNone/>
            </a:pPr>
            <a:r>
              <a:rPr lang="en-US" sz="1200" dirty="0">
                <a:solidFill>
                  <a:srgbClr val="1B2440"/>
                </a:solidFill>
                <a:latin typeface="Calibri" pitchFamily="34" charset="0"/>
                <a:ea typeface="Calibri" pitchFamily="34" charset="-122"/>
                <a:cs typeface="Calibri" pitchFamily="34" charset="-120"/>
              </a:rPr>
              <a:t>No one hand-writes fetch calls — they're generated from the spec</a:t>
            </a:r>
            <a:endParaRPr lang="en-US" sz="1200" dirty="0"/>
          </a:p>
        </p:txBody>
      </p:sp>
      <p:sp>
        <p:nvSpPr>
          <p:cNvPr id="16" name="Shape 12"/>
          <p:cNvSpPr/>
          <p:nvPr/>
        </p:nvSpPr>
        <p:spPr>
          <a:xfrm>
            <a:off x="548640" y="3666744"/>
            <a:ext cx="11094415" cy="859536"/>
          </a:xfrm>
          <a:prstGeom prst="roundRect">
            <a:avLst>
              <a:gd name="adj" fmla="val 9574"/>
            </a:avLst>
          </a:prstGeom>
          <a:solidFill>
            <a:srgbClr val="EDF3FC"/>
          </a:solidFill>
          <a:ln/>
          <a:effectLst>
            <a:outerShdw sx="100000" sy="100000" kx="0" ky="0" algn="bl" rotWithShape="0" blurRad="76200" dist="12700" dir="5400000">
              <a:srgbClr val="9AA7C4">
                <a:alpha val="22000"/>
              </a:srgbClr>
            </a:outerShdw>
          </a:effectLst>
        </p:spPr>
      </p:sp>
      <p:sp>
        <p:nvSpPr>
          <p:cNvPr id="17" name="Shape 13"/>
          <p:cNvSpPr/>
          <p:nvPr/>
        </p:nvSpPr>
        <p:spPr>
          <a:xfrm>
            <a:off x="749808" y="3840480"/>
            <a:ext cx="548640" cy="548640"/>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892454" y="3983126"/>
            <a:ext cx="263347" cy="263347"/>
          </a:xfrm>
          <a:prstGeom prst="rect">
            <a:avLst/>
          </a:prstGeom>
        </p:spPr>
      </p:pic>
      <p:sp>
        <p:nvSpPr>
          <p:cNvPr id="19" name="Text 14"/>
          <p:cNvSpPr/>
          <p:nvPr/>
        </p:nvSpPr>
        <p:spPr>
          <a:xfrm>
            <a:off x="1463040" y="3776472"/>
            <a:ext cx="2926080" cy="694944"/>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Mock backend (MSW)</a:t>
            </a:r>
            <a:endParaRPr lang="en-US" sz="1400" dirty="0"/>
          </a:p>
        </p:txBody>
      </p:sp>
      <p:sp>
        <p:nvSpPr>
          <p:cNvPr id="20" name="Text 15"/>
          <p:cNvSpPr/>
          <p:nvPr/>
        </p:nvSpPr>
        <p:spPr>
          <a:xfrm>
            <a:off x="4572000" y="3758184"/>
            <a:ext cx="6888175" cy="731520"/>
          </a:xfrm>
          <a:prstGeom prst="rect">
            <a:avLst/>
          </a:prstGeom>
          <a:noFill/>
          <a:ln/>
        </p:spPr>
        <p:txBody>
          <a:bodyPr wrap="square" lIns="0" tIns="0" rIns="0" bIns="0" rtlCol="0" anchor="ctr"/>
          <a:lstStyle/>
          <a:p>
            <a:pPr indent="0" marL="0">
              <a:buNone/>
            </a:pPr>
            <a:r>
              <a:rPr lang="en-US" sz="1200" dirty="0">
                <a:solidFill>
                  <a:srgbClr val="1B2440"/>
                </a:solidFill>
                <a:latin typeface="Calibri" pitchFamily="34" charset="0"/>
                <a:ea typeface="Calibri" pitchFamily="34" charset="-122"/>
                <a:cs typeface="Calibri" pitchFamily="34" charset="-120"/>
              </a:rPr>
              <a:t>The app runs for real, with realistic fake data, zero live backend</a:t>
            </a:r>
            <a:endParaRPr lang="en-US" sz="1200" dirty="0"/>
          </a:p>
        </p:txBody>
      </p:sp>
      <p:sp>
        <p:nvSpPr>
          <p:cNvPr id="21" name="Shape 16"/>
          <p:cNvSpPr/>
          <p:nvPr/>
        </p:nvSpPr>
        <p:spPr>
          <a:xfrm>
            <a:off x="548640" y="4654296"/>
            <a:ext cx="11094415" cy="859536"/>
          </a:xfrm>
          <a:prstGeom prst="roundRect">
            <a:avLst>
              <a:gd name="adj" fmla="val 9574"/>
            </a:avLst>
          </a:prstGeom>
          <a:solidFill>
            <a:srgbClr val="EDF3FC"/>
          </a:solidFill>
          <a:ln/>
          <a:effectLst>
            <a:outerShdw sx="100000" sy="100000" kx="0" ky="0" algn="bl" rotWithShape="0" blurRad="76200" dist="12700" dir="5400000">
              <a:srgbClr val="9AA7C4">
                <a:alpha val="22000"/>
              </a:srgbClr>
            </a:outerShdw>
          </a:effectLst>
        </p:spPr>
      </p:sp>
      <p:sp>
        <p:nvSpPr>
          <p:cNvPr id="22" name="Shape 17"/>
          <p:cNvSpPr/>
          <p:nvPr/>
        </p:nvSpPr>
        <p:spPr>
          <a:xfrm>
            <a:off x="749808" y="4828032"/>
            <a:ext cx="548640" cy="548640"/>
          </a:xfrm>
          <a:prstGeom prst="ellipse">
            <a:avLst/>
          </a:prstGeom>
          <a:solidFill>
            <a:srgbClr val="1E2761"/>
          </a:solidFill>
          <a:ln/>
        </p:spPr>
      </p:sp>
      <p:pic>
        <p:nvPicPr>
          <p:cNvPr id="23" name="Image 3" descr="preencoded.png">    </p:cNvPr>
          <p:cNvPicPr>
            <a:picLocks noChangeAspect="1"/>
          </p:cNvPicPr>
          <p:nvPr/>
        </p:nvPicPr>
        <p:blipFill>
          <a:blip r:embed="rId4"/>
          <a:stretch>
            <a:fillRect/>
          </a:stretch>
        </p:blipFill>
        <p:spPr>
          <a:xfrm>
            <a:off x="892454" y="4970678"/>
            <a:ext cx="263347" cy="263347"/>
          </a:xfrm>
          <a:prstGeom prst="rect">
            <a:avLst/>
          </a:prstGeom>
        </p:spPr>
      </p:pic>
      <p:sp>
        <p:nvSpPr>
          <p:cNvPr id="24" name="Text 18"/>
          <p:cNvSpPr/>
          <p:nvPr/>
        </p:nvSpPr>
        <p:spPr>
          <a:xfrm>
            <a:off x="1463040" y="4764024"/>
            <a:ext cx="2926080" cy="694944"/>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Playwright tests</a:t>
            </a:r>
            <a:endParaRPr lang="en-US" sz="1400" dirty="0"/>
          </a:p>
        </p:txBody>
      </p:sp>
      <p:sp>
        <p:nvSpPr>
          <p:cNvPr id="25" name="Text 19"/>
          <p:cNvSpPr/>
          <p:nvPr/>
        </p:nvSpPr>
        <p:spPr>
          <a:xfrm>
            <a:off x="4572000" y="4745736"/>
            <a:ext cx="6888175" cy="731520"/>
          </a:xfrm>
          <a:prstGeom prst="rect">
            <a:avLst/>
          </a:prstGeom>
          <a:noFill/>
          <a:ln/>
        </p:spPr>
        <p:txBody>
          <a:bodyPr wrap="square" lIns="0" tIns="0" rIns="0" bIns="0" rtlCol="0" anchor="ctr"/>
          <a:lstStyle/>
          <a:p>
            <a:pPr indent="0" marL="0">
              <a:buNone/>
            </a:pPr>
            <a:r>
              <a:rPr lang="en-US" sz="1200" dirty="0">
                <a:solidFill>
                  <a:srgbClr val="1B2440"/>
                </a:solidFill>
                <a:latin typeface="Calibri" pitchFamily="34" charset="0"/>
                <a:ea typeface="Calibri" pitchFamily="34" charset="-122"/>
                <a:cs typeface="Calibri" pitchFamily="34" charset="-120"/>
              </a:rPr>
              <a:t>Real user flows, including error cases — fast and repeatable</a:t>
            </a:r>
            <a:endParaRPr lang="en-US" sz="1200" dirty="0"/>
          </a:p>
        </p:txBody>
      </p:sp>
      <p:sp>
        <p:nvSpPr>
          <p:cNvPr id="26" name="Shape 20"/>
          <p:cNvSpPr/>
          <p:nvPr/>
        </p:nvSpPr>
        <p:spPr>
          <a:xfrm>
            <a:off x="548640" y="5733288"/>
            <a:ext cx="11094415" cy="960120"/>
          </a:xfrm>
          <a:prstGeom prst="roundRect">
            <a:avLst>
              <a:gd name="adj" fmla="val 8571"/>
            </a:avLst>
          </a:prstGeom>
          <a:solidFill>
            <a:srgbClr val="EAF4EF"/>
          </a:solidFill>
          <a:ln/>
          <a:effectLst>
            <a:outerShdw sx="100000" sy="100000" kx="0" ky="0" algn="bl" rotWithShape="0" blurRad="76200" dist="12700" dir="5400000">
              <a:srgbClr val="9AA7C4">
                <a:alpha val="22000"/>
              </a:srgbClr>
            </a:outerShdw>
          </a:effectLst>
        </p:spPr>
      </p:sp>
      <p:sp>
        <p:nvSpPr>
          <p:cNvPr id="27" name="Shape 21"/>
          <p:cNvSpPr/>
          <p:nvPr/>
        </p:nvSpPr>
        <p:spPr>
          <a:xfrm>
            <a:off x="777240" y="5943600"/>
            <a:ext cx="548640" cy="548640"/>
          </a:xfrm>
          <a:prstGeom prst="ellipse">
            <a:avLst/>
          </a:prstGeom>
          <a:solidFill>
            <a:srgbClr val="2E7D5B"/>
          </a:solidFill>
          <a:ln/>
        </p:spPr>
      </p:sp>
      <p:pic>
        <p:nvPicPr>
          <p:cNvPr id="28" name="Image 4" descr="preencoded.png">    </p:cNvPr>
          <p:cNvPicPr>
            <a:picLocks noChangeAspect="1"/>
          </p:cNvPicPr>
          <p:nvPr/>
        </p:nvPicPr>
        <p:blipFill>
          <a:blip r:embed="rId5"/>
          <a:stretch>
            <a:fillRect/>
          </a:stretch>
        </p:blipFill>
        <p:spPr>
          <a:xfrm>
            <a:off x="919886" y="6086246"/>
            <a:ext cx="263347" cy="263347"/>
          </a:xfrm>
          <a:prstGeom prst="rect">
            <a:avLst/>
          </a:prstGeom>
        </p:spPr>
      </p:pic>
      <p:sp>
        <p:nvSpPr>
          <p:cNvPr id="29" name="Text 22"/>
          <p:cNvSpPr/>
          <p:nvPr/>
        </p:nvSpPr>
        <p:spPr>
          <a:xfrm>
            <a:off x="1508760" y="5852160"/>
            <a:ext cx="9905695" cy="731520"/>
          </a:xfrm>
          <a:prstGeom prst="rect">
            <a:avLst/>
          </a:prstGeom>
          <a:noFill/>
          <a:ln/>
        </p:spPr>
        <p:txBody>
          <a:bodyPr wrap="square" lIns="0" tIns="0" rIns="0" bIns="0" rtlCol="0" anchor="ctr"/>
          <a:lstStyle/>
          <a:p>
            <a:pPr indent="0" marL="0">
              <a:buNone/>
            </a:pPr>
            <a:r>
              <a:rPr lang="en-US" sz="1350" b="1" dirty="0">
                <a:solidFill>
                  <a:srgbClr val="2E7D5B"/>
                </a:solidFill>
                <a:latin typeface="Calibri" pitchFamily="34" charset="0"/>
                <a:ea typeface="Calibri" pitchFamily="34" charset="-122"/>
                <a:cs typeface="Calibri" pitchFamily="34" charset="-120"/>
              </a:rPr>
              <a:t>This is the part that actually saves us months: </a:t>
            </a:r>
            <a:pPr indent="0" marL="0">
              <a:buNone/>
            </a:pPr>
            <a:r>
              <a:rPr lang="en-US" sz="1350" dirty="0">
                <a:solidFill>
                  <a:srgbClr val="1B2440"/>
                </a:solidFill>
                <a:latin typeface="Calibri" pitchFamily="34" charset="0"/>
                <a:ea typeface="Calibri" pitchFamily="34" charset="-122"/>
                <a:cs typeface="Calibri" pitchFamily="34" charset="-120"/>
              </a:rPr>
              <a:t>most bugs get caught outside, where fixing them is a two-minute edit instead of a trip through the internal pipeline.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BEFORE ANY CODE CROSSES</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A short checklist, every time</a:t>
            </a:r>
            <a:endParaRPr lang="en-US" sz="2800" dirty="0"/>
          </a:p>
        </p:txBody>
      </p:sp>
      <p:sp>
        <p:nvSpPr>
          <p:cNvPr id="6" name="Shape 4"/>
          <p:cNvSpPr/>
          <p:nvPr/>
        </p:nvSpPr>
        <p:spPr>
          <a:xfrm>
            <a:off x="548640" y="1828800"/>
            <a:ext cx="11094415" cy="704088"/>
          </a:xfrm>
          <a:prstGeom prst="roundRect">
            <a:avLst>
              <a:gd name="adj" fmla="val 11688"/>
            </a:avLst>
          </a:prstGeom>
          <a:solidFill>
            <a:srgbClr val="EDF3FC"/>
          </a:solidFill>
          <a:ln/>
          <a:effectLst>
            <a:outerShdw sx="100000" sy="100000" kx="0" ky="0" algn="bl" rotWithShape="0" blurRad="76200" dist="12700" dir="5400000">
              <a:srgbClr val="9AA7C4">
                <a:alpha val="22000"/>
              </a:srgbClr>
            </a:outerShdw>
          </a:effectLst>
        </p:spPr>
      </p:sp>
      <p:sp>
        <p:nvSpPr>
          <p:cNvPr id="7" name="Shape 5"/>
          <p:cNvSpPr/>
          <p:nvPr/>
        </p:nvSpPr>
        <p:spPr>
          <a:xfrm>
            <a:off x="731520" y="1961388"/>
            <a:ext cx="438912" cy="438912"/>
          </a:xfrm>
          <a:prstGeom prst="ellipse">
            <a:avLst/>
          </a:prstGeom>
          <a:solidFill>
            <a:srgbClr val="2E7D5B"/>
          </a:solidFill>
          <a:ln/>
        </p:spPr>
      </p:sp>
      <p:pic>
        <p:nvPicPr>
          <p:cNvPr id="8" name="Image 0" descr="preencoded.png">    </p:cNvPr>
          <p:cNvPicPr>
            <a:picLocks noChangeAspect="1"/>
          </p:cNvPicPr>
          <p:nvPr/>
        </p:nvPicPr>
        <p:blipFill>
          <a:blip r:embed="rId1"/>
          <a:stretch>
            <a:fillRect/>
          </a:stretch>
        </p:blipFill>
        <p:spPr>
          <a:xfrm>
            <a:off x="845637" y="2075505"/>
            <a:ext cx="210678" cy="210678"/>
          </a:xfrm>
          <a:prstGeom prst="rect">
            <a:avLst/>
          </a:prstGeom>
        </p:spPr>
      </p:pic>
      <p:sp>
        <p:nvSpPr>
          <p:cNvPr id="9" name="Text 6"/>
          <p:cNvSpPr/>
          <p:nvPr/>
        </p:nvSpPr>
        <p:spPr>
          <a:xfrm>
            <a:off x="1371600" y="1828800"/>
            <a:ext cx="10088575" cy="704088"/>
          </a:xfrm>
          <a:prstGeom prst="rect">
            <a:avLst/>
          </a:prstGeom>
          <a:noFill/>
          <a:ln/>
        </p:spPr>
        <p:txBody>
          <a:bodyPr wrap="square" lIns="0" tIns="0" rIns="0" bIns="0" rtlCol="0" anchor="ctr"/>
          <a:lstStyle/>
          <a:p>
            <a:pPr indent="0" marL="0">
              <a:buNone/>
            </a:pPr>
            <a:r>
              <a:rPr lang="en-US" sz="1350" dirty="0">
                <a:solidFill>
                  <a:srgbClr val="1B2440"/>
                </a:solidFill>
                <a:latin typeface="Calibri" pitchFamily="34" charset="0"/>
                <a:ea typeface="Calibri" pitchFamily="34" charset="-122"/>
                <a:cs typeface="Calibri" pitchFamily="34" charset="-120"/>
              </a:rPr>
              <a:t>Unit tests green — Jest for React/TypeScript, JUnit for any Java/Spring code involved</a:t>
            </a:r>
            <a:endParaRPr lang="en-US" sz="1350" dirty="0"/>
          </a:p>
        </p:txBody>
      </p:sp>
      <p:sp>
        <p:nvSpPr>
          <p:cNvPr id="10" name="Shape 7"/>
          <p:cNvSpPr/>
          <p:nvPr/>
        </p:nvSpPr>
        <p:spPr>
          <a:xfrm>
            <a:off x="548640" y="2697480"/>
            <a:ext cx="11094415" cy="704088"/>
          </a:xfrm>
          <a:prstGeom prst="roundRect">
            <a:avLst>
              <a:gd name="adj" fmla="val 11688"/>
            </a:avLst>
          </a:prstGeom>
          <a:solidFill>
            <a:srgbClr val="EDF3FC"/>
          </a:solidFill>
          <a:ln/>
          <a:effectLst>
            <a:outerShdw sx="100000" sy="100000" kx="0" ky="0" algn="bl" rotWithShape="0" blurRad="76200" dist="12700" dir="5400000">
              <a:srgbClr val="9AA7C4">
                <a:alpha val="22000"/>
              </a:srgbClr>
            </a:outerShdw>
          </a:effectLst>
        </p:spPr>
      </p:sp>
      <p:sp>
        <p:nvSpPr>
          <p:cNvPr id="11" name="Shape 8"/>
          <p:cNvSpPr/>
          <p:nvPr/>
        </p:nvSpPr>
        <p:spPr>
          <a:xfrm>
            <a:off x="731520" y="2830068"/>
            <a:ext cx="438912" cy="438912"/>
          </a:xfrm>
          <a:prstGeom prst="ellipse">
            <a:avLst/>
          </a:prstGeom>
          <a:solidFill>
            <a:srgbClr val="2E7D5B"/>
          </a:solidFill>
          <a:ln/>
        </p:spPr>
      </p:sp>
      <p:pic>
        <p:nvPicPr>
          <p:cNvPr id="12" name="Image 1" descr="preencoded.png">    </p:cNvPr>
          <p:cNvPicPr>
            <a:picLocks noChangeAspect="1"/>
          </p:cNvPicPr>
          <p:nvPr/>
        </p:nvPicPr>
        <p:blipFill>
          <a:blip r:embed="rId2"/>
          <a:stretch>
            <a:fillRect/>
          </a:stretch>
        </p:blipFill>
        <p:spPr>
          <a:xfrm>
            <a:off x="845637" y="2944185"/>
            <a:ext cx="210678" cy="210678"/>
          </a:xfrm>
          <a:prstGeom prst="rect">
            <a:avLst/>
          </a:prstGeom>
        </p:spPr>
      </p:pic>
      <p:sp>
        <p:nvSpPr>
          <p:cNvPr id="13" name="Text 9"/>
          <p:cNvSpPr/>
          <p:nvPr/>
        </p:nvSpPr>
        <p:spPr>
          <a:xfrm>
            <a:off x="1371600" y="2697480"/>
            <a:ext cx="10088575" cy="704088"/>
          </a:xfrm>
          <a:prstGeom prst="rect">
            <a:avLst/>
          </a:prstGeom>
          <a:noFill/>
          <a:ln/>
        </p:spPr>
        <p:txBody>
          <a:bodyPr wrap="square" lIns="0" tIns="0" rIns="0" bIns="0" rtlCol="0" anchor="ctr"/>
          <a:lstStyle/>
          <a:p>
            <a:pPr indent="0" marL="0">
              <a:buNone/>
            </a:pPr>
            <a:r>
              <a:rPr lang="en-US" sz="1350" dirty="0">
                <a:solidFill>
                  <a:srgbClr val="1B2440"/>
                </a:solidFill>
                <a:latin typeface="Calibri" pitchFamily="34" charset="0"/>
                <a:ea typeface="Calibri" pitchFamily="34" charset="-122"/>
                <a:cs typeface="Calibri" pitchFamily="34" charset="-120"/>
              </a:rPr>
              <a:t>Static analysis &amp; lint clean — the same rules Confi uses, not a lighter internet-only version</a:t>
            </a:r>
            <a:endParaRPr lang="en-US" sz="1350" dirty="0"/>
          </a:p>
        </p:txBody>
      </p:sp>
      <p:sp>
        <p:nvSpPr>
          <p:cNvPr id="14" name="Shape 10"/>
          <p:cNvSpPr/>
          <p:nvPr/>
        </p:nvSpPr>
        <p:spPr>
          <a:xfrm>
            <a:off x="548640" y="3566160"/>
            <a:ext cx="11094415" cy="704088"/>
          </a:xfrm>
          <a:prstGeom prst="roundRect">
            <a:avLst>
              <a:gd name="adj" fmla="val 11688"/>
            </a:avLst>
          </a:prstGeom>
          <a:solidFill>
            <a:srgbClr val="EDF3FC"/>
          </a:solidFill>
          <a:ln/>
          <a:effectLst>
            <a:outerShdw sx="100000" sy="100000" kx="0" ky="0" algn="bl" rotWithShape="0" blurRad="76200" dist="12700" dir="5400000">
              <a:srgbClr val="9AA7C4">
                <a:alpha val="22000"/>
              </a:srgbClr>
            </a:outerShdw>
          </a:effectLst>
        </p:spPr>
      </p:sp>
      <p:sp>
        <p:nvSpPr>
          <p:cNvPr id="15" name="Shape 11"/>
          <p:cNvSpPr/>
          <p:nvPr/>
        </p:nvSpPr>
        <p:spPr>
          <a:xfrm>
            <a:off x="731520" y="3698748"/>
            <a:ext cx="438912" cy="438912"/>
          </a:xfrm>
          <a:prstGeom prst="ellipse">
            <a:avLst/>
          </a:prstGeom>
          <a:solidFill>
            <a:srgbClr val="2E7D5B"/>
          </a:solidFill>
          <a:ln/>
        </p:spPr>
      </p:sp>
      <p:pic>
        <p:nvPicPr>
          <p:cNvPr id="16" name="Image 2" descr="preencoded.png">    </p:cNvPr>
          <p:cNvPicPr>
            <a:picLocks noChangeAspect="1"/>
          </p:cNvPicPr>
          <p:nvPr/>
        </p:nvPicPr>
        <p:blipFill>
          <a:blip r:embed="rId3"/>
          <a:stretch>
            <a:fillRect/>
          </a:stretch>
        </p:blipFill>
        <p:spPr>
          <a:xfrm>
            <a:off x="845637" y="3812865"/>
            <a:ext cx="210678" cy="210678"/>
          </a:xfrm>
          <a:prstGeom prst="rect">
            <a:avLst/>
          </a:prstGeom>
        </p:spPr>
      </p:pic>
      <p:sp>
        <p:nvSpPr>
          <p:cNvPr id="17" name="Text 12"/>
          <p:cNvSpPr/>
          <p:nvPr/>
        </p:nvSpPr>
        <p:spPr>
          <a:xfrm>
            <a:off x="1371600" y="3566160"/>
            <a:ext cx="10088575" cy="704088"/>
          </a:xfrm>
          <a:prstGeom prst="rect">
            <a:avLst/>
          </a:prstGeom>
          <a:noFill/>
          <a:ln/>
        </p:spPr>
        <p:txBody>
          <a:bodyPr wrap="square" lIns="0" tIns="0" rIns="0" bIns="0" rtlCol="0" anchor="ctr"/>
          <a:lstStyle/>
          <a:p>
            <a:pPr indent="0" marL="0">
              <a:buNone/>
            </a:pPr>
            <a:r>
              <a:rPr lang="en-US" sz="1350" dirty="0">
                <a:solidFill>
                  <a:srgbClr val="1B2440"/>
                </a:solidFill>
                <a:latin typeface="Calibri" pitchFamily="34" charset="0"/>
                <a:ea typeface="Calibri" pitchFamily="34" charset="-122"/>
                <a:cs typeface="Calibri" pitchFamily="34" charset="-120"/>
              </a:rPr>
              <a:t>Contract tests pass — the mocks match the OpenAPI spec exactly</a:t>
            </a:r>
            <a:endParaRPr lang="en-US" sz="1350" dirty="0"/>
          </a:p>
        </p:txBody>
      </p:sp>
      <p:sp>
        <p:nvSpPr>
          <p:cNvPr id="18" name="Shape 13"/>
          <p:cNvSpPr/>
          <p:nvPr/>
        </p:nvSpPr>
        <p:spPr>
          <a:xfrm>
            <a:off x="548640" y="4434840"/>
            <a:ext cx="11094415" cy="704088"/>
          </a:xfrm>
          <a:prstGeom prst="roundRect">
            <a:avLst>
              <a:gd name="adj" fmla="val 11688"/>
            </a:avLst>
          </a:prstGeom>
          <a:solidFill>
            <a:srgbClr val="EDF3FC"/>
          </a:solidFill>
          <a:ln/>
          <a:effectLst>
            <a:outerShdw sx="100000" sy="100000" kx="0" ky="0" algn="bl" rotWithShape="0" blurRad="76200" dist="12700" dir="5400000">
              <a:srgbClr val="9AA7C4">
                <a:alpha val="22000"/>
              </a:srgbClr>
            </a:outerShdw>
          </a:effectLst>
        </p:spPr>
      </p:sp>
      <p:sp>
        <p:nvSpPr>
          <p:cNvPr id="19" name="Shape 14"/>
          <p:cNvSpPr/>
          <p:nvPr/>
        </p:nvSpPr>
        <p:spPr>
          <a:xfrm>
            <a:off x="731520" y="4567428"/>
            <a:ext cx="438912" cy="438912"/>
          </a:xfrm>
          <a:prstGeom prst="ellipse">
            <a:avLst/>
          </a:prstGeom>
          <a:solidFill>
            <a:srgbClr val="2E7D5B"/>
          </a:solidFill>
          <a:ln/>
        </p:spPr>
      </p:sp>
      <p:pic>
        <p:nvPicPr>
          <p:cNvPr id="20" name="Image 3" descr="preencoded.png">    </p:cNvPr>
          <p:cNvPicPr>
            <a:picLocks noChangeAspect="1"/>
          </p:cNvPicPr>
          <p:nvPr/>
        </p:nvPicPr>
        <p:blipFill>
          <a:blip r:embed="rId4"/>
          <a:stretch>
            <a:fillRect/>
          </a:stretch>
        </p:blipFill>
        <p:spPr>
          <a:xfrm>
            <a:off x="845637" y="4681545"/>
            <a:ext cx="210678" cy="210678"/>
          </a:xfrm>
          <a:prstGeom prst="rect">
            <a:avLst/>
          </a:prstGeom>
        </p:spPr>
      </p:pic>
      <p:sp>
        <p:nvSpPr>
          <p:cNvPr id="21" name="Text 15"/>
          <p:cNvSpPr/>
          <p:nvPr/>
        </p:nvSpPr>
        <p:spPr>
          <a:xfrm>
            <a:off x="1371600" y="4434840"/>
            <a:ext cx="10088575" cy="704088"/>
          </a:xfrm>
          <a:prstGeom prst="rect">
            <a:avLst/>
          </a:prstGeom>
          <a:noFill/>
          <a:ln/>
        </p:spPr>
        <p:txBody>
          <a:bodyPr wrap="square" lIns="0" tIns="0" rIns="0" bIns="0" rtlCol="0" anchor="ctr"/>
          <a:lstStyle/>
          <a:p>
            <a:pPr indent="0" marL="0">
              <a:buNone/>
            </a:pPr>
            <a:r>
              <a:rPr lang="en-US" sz="1350" dirty="0">
                <a:solidFill>
                  <a:srgbClr val="1B2440"/>
                </a:solidFill>
                <a:latin typeface="Calibri" pitchFamily="34" charset="0"/>
                <a:ea typeface="Calibri" pitchFamily="34" charset="-122"/>
                <a:cs typeface="Calibri" pitchFamily="34" charset="-120"/>
              </a:rPr>
              <a:t>Playwright suite green — full user flows, not just isolated components</a:t>
            </a:r>
            <a:endParaRPr lang="en-US" sz="1350" dirty="0"/>
          </a:p>
        </p:txBody>
      </p:sp>
      <p:sp>
        <p:nvSpPr>
          <p:cNvPr id="22" name="Shape 16"/>
          <p:cNvSpPr/>
          <p:nvPr/>
        </p:nvSpPr>
        <p:spPr>
          <a:xfrm>
            <a:off x="548640" y="5349240"/>
            <a:ext cx="11094415" cy="822960"/>
          </a:xfrm>
          <a:prstGeom prst="roundRect">
            <a:avLst>
              <a:gd name="adj" fmla="val 10000"/>
            </a:avLst>
          </a:prstGeom>
          <a:solidFill>
            <a:srgbClr val="EAF4EF"/>
          </a:solidFill>
          <a:ln/>
          <a:effectLst>
            <a:outerShdw sx="100000" sy="100000" kx="0" ky="0" algn="bl" rotWithShape="0" blurRad="76200" dist="12700" dir="5400000">
              <a:srgbClr val="9AA7C4">
                <a:alpha val="22000"/>
              </a:srgbClr>
            </a:outerShdw>
          </a:effectLst>
        </p:spPr>
      </p:sp>
      <p:sp>
        <p:nvSpPr>
          <p:cNvPr id="23" name="Shape 17"/>
          <p:cNvSpPr/>
          <p:nvPr/>
        </p:nvSpPr>
        <p:spPr>
          <a:xfrm>
            <a:off x="749808" y="5513832"/>
            <a:ext cx="502920" cy="502920"/>
          </a:xfrm>
          <a:prstGeom prst="ellipse">
            <a:avLst/>
          </a:prstGeom>
          <a:solidFill>
            <a:srgbClr val="2E7D5B"/>
          </a:solidFill>
          <a:ln/>
        </p:spPr>
      </p:sp>
      <p:pic>
        <p:nvPicPr>
          <p:cNvPr id="24" name="Image 4" descr="preencoded.png">    </p:cNvPr>
          <p:cNvPicPr>
            <a:picLocks noChangeAspect="1"/>
          </p:cNvPicPr>
          <p:nvPr/>
        </p:nvPicPr>
        <p:blipFill>
          <a:blip r:embed="rId5"/>
          <a:stretch>
            <a:fillRect/>
          </a:stretch>
        </p:blipFill>
        <p:spPr>
          <a:xfrm>
            <a:off x="880567" y="5644591"/>
            <a:ext cx="241402" cy="241402"/>
          </a:xfrm>
          <a:prstGeom prst="rect">
            <a:avLst/>
          </a:prstGeom>
        </p:spPr>
      </p:pic>
      <p:sp>
        <p:nvSpPr>
          <p:cNvPr id="25" name="Text 18"/>
          <p:cNvSpPr/>
          <p:nvPr/>
        </p:nvSpPr>
        <p:spPr>
          <a:xfrm>
            <a:off x="1389888" y="5440680"/>
            <a:ext cx="10042855" cy="594360"/>
          </a:xfrm>
          <a:prstGeom prst="rect">
            <a:avLst/>
          </a:prstGeom>
          <a:noFill/>
          <a:ln/>
        </p:spPr>
        <p:txBody>
          <a:bodyPr wrap="square" lIns="0" tIns="0" rIns="0" bIns="0" rtlCol="0" anchor="ctr"/>
          <a:lstStyle/>
          <a:p>
            <a:pPr indent="0" marL="0">
              <a:buNone/>
            </a:pPr>
            <a:r>
              <a:rPr lang="en-US" sz="1300" b="1" dirty="0">
                <a:solidFill>
                  <a:srgbClr val="2E7D5B"/>
                </a:solidFill>
                <a:latin typeface="Calibri" pitchFamily="34" charset="0"/>
                <a:ea typeface="Calibri" pitchFamily="34" charset="-122"/>
                <a:cs typeface="Calibri" pitchFamily="34" charset="-120"/>
              </a:rPr>
              <a:t>If backend code was touched, </a:t>
            </a:r>
            <a:pPr indent="0" marL="0">
              <a:buNone/>
            </a:pPr>
            <a:r>
              <a:rPr lang="en-US" sz="1300" dirty="0">
                <a:solidFill>
                  <a:srgbClr val="1B2440"/>
                </a:solidFill>
                <a:latin typeface="Calibri" pitchFamily="34" charset="0"/>
                <a:ea typeface="Calibri" pitchFamily="34" charset="-122"/>
                <a:cs typeface="Calibri" pitchFamily="34" charset="-120"/>
              </a:rPr>
              <a:t>its tests travel with it — same bar as the frontend, no exceptions.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11</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AN OPEN QUESTION, DECIDED CASE BY CASE</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Do we rebuild backends outside too?</a:t>
            </a:r>
            <a:endParaRPr lang="en-US" sz="2800" dirty="0"/>
          </a:p>
        </p:txBody>
      </p:sp>
      <p:sp>
        <p:nvSpPr>
          <p:cNvPr id="6" name="Shape 4"/>
          <p:cNvSpPr/>
          <p:nvPr/>
        </p:nvSpPr>
        <p:spPr>
          <a:xfrm>
            <a:off x="548640" y="1737360"/>
            <a:ext cx="5364328" cy="3200400"/>
          </a:xfrm>
          <a:prstGeom prst="roundRect">
            <a:avLst>
              <a:gd name="adj" fmla="val 2571"/>
            </a:avLst>
          </a:prstGeom>
          <a:solidFill>
            <a:srgbClr val="EDF3FC"/>
          </a:solidFill>
          <a:ln/>
          <a:effectLst>
            <a:outerShdw sx="100000" sy="100000" kx="0" ky="0" algn="bl" rotWithShape="0" blurRad="76200" dist="12700" dir="5400000">
              <a:srgbClr val="9AA7C4">
                <a:alpha val="22000"/>
              </a:srgbClr>
            </a:outerShdw>
          </a:effectLst>
        </p:spPr>
      </p:sp>
      <p:sp>
        <p:nvSpPr>
          <p:cNvPr id="7" name="Shape 5"/>
          <p:cNvSpPr/>
          <p:nvPr/>
        </p:nvSpPr>
        <p:spPr>
          <a:xfrm>
            <a:off x="804672" y="1965960"/>
            <a:ext cx="548640" cy="54864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947318" y="2108606"/>
            <a:ext cx="263347" cy="263347"/>
          </a:xfrm>
          <a:prstGeom prst="rect">
            <a:avLst/>
          </a:prstGeom>
        </p:spPr>
      </p:pic>
      <p:sp>
        <p:nvSpPr>
          <p:cNvPr id="9" name="Text 6"/>
          <p:cNvSpPr/>
          <p:nvPr/>
        </p:nvSpPr>
        <p:spPr>
          <a:xfrm>
            <a:off x="1481328" y="2029968"/>
            <a:ext cx="4267048"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Default: MFE only</a:t>
            </a:r>
            <a:endParaRPr lang="en-US" sz="1500" dirty="0"/>
          </a:p>
        </p:txBody>
      </p:sp>
      <p:sp>
        <p:nvSpPr>
          <p:cNvPr id="10" name="Text 7"/>
          <p:cNvSpPr/>
          <p:nvPr/>
        </p:nvSpPr>
        <p:spPr>
          <a:xfrm>
            <a:off x="822960" y="2514600"/>
            <a:ext cx="4815688" cy="2011680"/>
          </a:xfrm>
          <a:prstGeom prst="rect">
            <a:avLst/>
          </a:prstGeom>
          <a:noFill/>
          <a:ln/>
        </p:spPr>
        <p:txBody>
          <a:bodyPr wrap="square" lIns="0" tIns="0" rIns="0" bIns="0" rtlCol="0" anchor="ctr"/>
          <a:lstStyle/>
          <a:p>
            <a:pPr indent="0" marL="0">
              <a:buNone/>
            </a:pPr>
            <a:r>
              <a:rPr lang="en-US" sz="1250" dirty="0">
                <a:solidFill>
                  <a:srgbClr val="1B2440"/>
                </a:solidFill>
                <a:latin typeface="Calibri" pitchFamily="34" charset="0"/>
                <a:ea typeface="Calibri" pitchFamily="34" charset="-122"/>
                <a:cs typeface="Calibri" pitchFamily="34" charset="-120"/>
              </a:rPr>
              <a:t>Most features: build the shell outside against a mocked backend. The real Java/Spring service stays right where it is, built and maintained inside as normal.</a:t>
            </a:r>
            <a:endParaRPr lang="en-US" sz="1250" dirty="0"/>
          </a:p>
        </p:txBody>
      </p:sp>
      <p:sp>
        <p:nvSpPr>
          <p:cNvPr id="11" name="Shape 8"/>
          <p:cNvSpPr/>
          <p:nvPr/>
        </p:nvSpPr>
        <p:spPr>
          <a:xfrm>
            <a:off x="6278728" y="1737360"/>
            <a:ext cx="5364328" cy="3200400"/>
          </a:xfrm>
          <a:prstGeom prst="roundRect">
            <a:avLst>
              <a:gd name="adj" fmla="val 2571"/>
            </a:avLst>
          </a:prstGeom>
          <a:solidFill>
            <a:srgbClr val="EAF4EF"/>
          </a:solidFill>
          <a:ln/>
          <a:effectLst>
            <a:outerShdw sx="100000" sy="100000" kx="0" ky="0" algn="bl" rotWithShape="0" blurRad="76200" dist="12700" dir="5400000">
              <a:srgbClr val="9AA7C4">
                <a:alpha val="22000"/>
              </a:srgbClr>
            </a:outerShdw>
          </a:effectLst>
        </p:spPr>
      </p:sp>
      <p:sp>
        <p:nvSpPr>
          <p:cNvPr id="12" name="Shape 9"/>
          <p:cNvSpPr/>
          <p:nvPr/>
        </p:nvSpPr>
        <p:spPr>
          <a:xfrm>
            <a:off x="6534760" y="1965960"/>
            <a:ext cx="548640" cy="548640"/>
          </a:xfrm>
          <a:prstGeom prst="ellipse">
            <a:avLst/>
          </a:prstGeom>
          <a:solidFill>
            <a:srgbClr val="2E7D5B"/>
          </a:solidFill>
          <a:ln/>
        </p:spPr>
      </p:sp>
      <p:pic>
        <p:nvPicPr>
          <p:cNvPr id="13" name="Image 1" descr="preencoded.png">    </p:cNvPr>
          <p:cNvPicPr>
            <a:picLocks noChangeAspect="1"/>
          </p:cNvPicPr>
          <p:nvPr/>
        </p:nvPicPr>
        <p:blipFill>
          <a:blip r:embed="rId2"/>
          <a:stretch>
            <a:fillRect/>
          </a:stretch>
        </p:blipFill>
        <p:spPr>
          <a:xfrm>
            <a:off x="6677406" y="2108606"/>
            <a:ext cx="263347" cy="263347"/>
          </a:xfrm>
          <a:prstGeom prst="rect">
            <a:avLst/>
          </a:prstGeom>
        </p:spPr>
      </p:pic>
      <p:sp>
        <p:nvSpPr>
          <p:cNvPr id="14" name="Text 10"/>
          <p:cNvSpPr/>
          <p:nvPr/>
        </p:nvSpPr>
        <p:spPr>
          <a:xfrm>
            <a:off x="7211416" y="2029968"/>
            <a:ext cx="4267048" cy="365760"/>
          </a:xfrm>
          <a:prstGeom prst="rect">
            <a:avLst/>
          </a:prstGeom>
          <a:noFill/>
          <a:ln/>
        </p:spPr>
        <p:txBody>
          <a:bodyPr wrap="square" lIns="0" tIns="0" rIns="0" bIns="0" rtlCol="0" anchor="ctr"/>
          <a:lstStyle/>
          <a:p>
            <a:pPr indent="0" marL="0">
              <a:buNone/>
            </a:pPr>
            <a:r>
              <a:rPr lang="en-US" sz="1500" b="1" dirty="0">
                <a:solidFill>
                  <a:srgbClr val="2E7D5B"/>
                </a:solidFill>
                <a:latin typeface="Calibri" pitchFamily="34" charset="0"/>
                <a:ea typeface="Calibri" pitchFamily="34" charset="-122"/>
                <a:cs typeface="Calibri" pitchFamily="34" charset="-120"/>
              </a:rPr>
              <a:t>Case by case: bring the backend along</a:t>
            </a:r>
            <a:endParaRPr lang="en-US" sz="1500" dirty="0"/>
          </a:p>
        </p:txBody>
      </p:sp>
      <p:sp>
        <p:nvSpPr>
          <p:cNvPr id="15" name="Text 11"/>
          <p:cNvSpPr/>
          <p:nvPr/>
        </p:nvSpPr>
        <p:spPr>
          <a:xfrm>
            <a:off x="6553048" y="2514600"/>
            <a:ext cx="4815688" cy="2011680"/>
          </a:xfrm>
          <a:prstGeom prst="rect">
            <a:avLst/>
          </a:prstGeom>
          <a:noFill/>
          <a:ln/>
        </p:spPr>
        <p:txBody>
          <a:bodyPr wrap="square" lIns="0" tIns="0" rIns="0" bIns="0" rtlCol="0" anchor="ctr"/>
          <a:lstStyle/>
          <a:p>
            <a:pPr indent="0" marL="0">
              <a:buNone/>
            </a:pPr>
            <a:r>
              <a:rPr lang="en-US" sz="1250" dirty="0">
                <a:solidFill>
                  <a:srgbClr val="1B2440"/>
                </a:solidFill>
                <a:latin typeface="Calibri" pitchFamily="34" charset="0"/>
                <a:ea typeface="Calibri" pitchFamily="34" charset="-122"/>
                <a:cs typeface="Calibri" pitchFamily="34" charset="-120"/>
              </a:rPr>
              <a:t>When a backend genuinely needs a rewrite — not just a re-skin — build a lean version of it outside too, under the same contract-first approach, tested there, then brought in like everything else.</a:t>
            </a:r>
            <a:endParaRPr lang="en-US" sz="1250" dirty="0"/>
          </a:p>
        </p:txBody>
      </p:sp>
      <p:sp>
        <p:nvSpPr>
          <p:cNvPr id="16" name="Shape 12"/>
          <p:cNvSpPr/>
          <p:nvPr/>
        </p:nvSpPr>
        <p:spPr>
          <a:xfrm>
            <a:off x="548640" y="5120640"/>
            <a:ext cx="11094415" cy="960120"/>
          </a:xfrm>
          <a:prstGeom prst="roundRect">
            <a:avLst>
              <a:gd name="adj" fmla="val 8571"/>
            </a:avLst>
          </a:prstGeom>
          <a:solidFill>
            <a:srgbClr val="EDF3FC"/>
          </a:solidFill>
          <a:ln/>
          <a:effectLst>
            <a:outerShdw sx="100000" sy="100000" kx="0" ky="0" algn="bl" rotWithShape="0" blurRad="76200" dist="12700" dir="5400000">
              <a:srgbClr val="9AA7C4">
                <a:alpha val="22000"/>
              </a:srgbClr>
            </a:outerShdw>
          </a:effectLst>
        </p:spPr>
      </p:sp>
      <p:sp>
        <p:nvSpPr>
          <p:cNvPr id="17" name="Shape 13"/>
          <p:cNvSpPr/>
          <p:nvPr/>
        </p:nvSpPr>
        <p:spPr>
          <a:xfrm>
            <a:off x="777240" y="5321808"/>
            <a:ext cx="548640" cy="548640"/>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919886" y="5464454"/>
            <a:ext cx="263347" cy="263347"/>
          </a:xfrm>
          <a:prstGeom prst="rect">
            <a:avLst/>
          </a:prstGeom>
        </p:spPr>
      </p:pic>
      <p:sp>
        <p:nvSpPr>
          <p:cNvPr id="19" name="Text 14"/>
          <p:cNvSpPr/>
          <p:nvPr/>
        </p:nvSpPr>
        <p:spPr>
          <a:xfrm>
            <a:off x="1508760" y="5230368"/>
            <a:ext cx="9905695" cy="7772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question to ask, per feature: </a:t>
            </a:r>
            <a:pPr indent="0" marL="0">
              <a:buNone/>
            </a:pPr>
            <a:r>
              <a:rPr lang="en-US" sz="1300" dirty="0">
                <a:solidFill>
                  <a:srgbClr val="1B2440"/>
                </a:solidFill>
                <a:latin typeface="Calibri" pitchFamily="34" charset="0"/>
                <a:ea typeface="Calibri" pitchFamily="34" charset="-122"/>
                <a:cs typeface="Calibri" pitchFamily="34" charset="-120"/>
              </a:rPr>
              <a:t>does Confi already have a working backend for this? If yes, mock it. If the backend itself is due for a rewrite anyway, build it outside too.</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12</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WHO NEEDS TO LOOK AT WHAT</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Most things need a quick look. Some need a second pair of eyes.</a:t>
            </a:r>
            <a:endParaRPr lang="en-US" sz="2800" dirty="0"/>
          </a:p>
        </p:txBody>
      </p:sp>
      <p:sp>
        <p:nvSpPr>
          <p:cNvPr id="6" name="Shape 4"/>
          <p:cNvSpPr/>
          <p:nvPr/>
        </p:nvSpPr>
        <p:spPr>
          <a:xfrm>
            <a:off x="548640" y="1737360"/>
            <a:ext cx="5364328" cy="3291840"/>
          </a:xfrm>
          <a:prstGeom prst="roundRect">
            <a:avLst>
              <a:gd name="adj" fmla="val 2500"/>
            </a:avLst>
          </a:prstGeom>
          <a:solidFill>
            <a:srgbClr val="EDF3FC"/>
          </a:solidFill>
          <a:ln/>
          <a:effectLst>
            <a:outerShdw sx="100000" sy="100000" kx="0" ky="0" algn="bl" rotWithShape="0" blurRad="76200" dist="12700" dir="5400000">
              <a:srgbClr val="9AA7C4">
                <a:alpha val="22000"/>
              </a:srgbClr>
            </a:outerShdw>
          </a:effectLst>
        </p:spPr>
      </p:sp>
      <p:sp>
        <p:nvSpPr>
          <p:cNvPr id="7" name="Shape 5"/>
          <p:cNvSpPr/>
          <p:nvPr/>
        </p:nvSpPr>
        <p:spPr>
          <a:xfrm>
            <a:off x="804672" y="1965960"/>
            <a:ext cx="548640" cy="54864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947318" y="2108606"/>
            <a:ext cx="263347" cy="263347"/>
          </a:xfrm>
          <a:prstGeom prst="rect">
            <a:avLst/>
          </a:prstGeom>
        </p:spPr>
      </p:pic>
      <p:sp>
        <p:nvSpPr>
          <p:cNvPr id="9" name="Text 6"/>
          <p:cNvSpPr/>
          <p:nvPr/>
        </p:nvSpPr>
        <p:spPr>
          <a:xfrm>
            <a:off x="1481328" y="2029968"/>
            <a:ext cx="4267048"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Everyday stuff</a:t>
            </a:r>
            <a:endParaRPr lang="en-US" sz="1500" dirty="0"/>
          </a:p>
        </p:txBody>
      </p:sp>
      <p:sp>
        <p:nvSpPr>
          <p:cNvPr id="10" name="Text 7"/>
          <p:cNvSpPr/>
          <p:nvPr/>
        </p:nvSpPr>
        <p:spPr>
          <a:xfrm>
            <a:off x="822960" y="2487168"/>
            <a:ext cx="4815688" cy="457200"/>
          </a:xfrm>
          <a:prstGeom prst="rect">
            <a:avLst/>
          </a:prstGeom>
          <a:noFill/>
          <a:ln/>
        </p:spPr>
        <p:txBody>
          <a:bodyPr wrap="square" lIns="0" tIns="0" rIns="0" bIns="0" rtlCol="0" anchor="ctr"/>
          <a:lstStyle/>
          <a:p>
            <a:pPr indent="0" marL="0">
              <a:buNone/>
            </a:pPr>
            <a:r>
              <a:rPr lang="en-US" sz="1200" i="1" dirty="0">
                <a:solidFill>
                  <a:srgbClr val="5A6B8C"/>
                </a:solidFill>
                <a:latin typeface="Calibri" pitchFamily="34" charset="0"/>
                <a:ea typeface="Calibri" pitchFamily="34" charset="-122"/>
                <a:cs typeface="Calibri" pitchFamily="34" charset="-120"/>
              </a:rPr>
              <a:t>Structure, contracts, sanitized code, sample fixtures.</a:t>
            </a:r>
            <a:endParaRPr lang="en-US" sz="1200" dirty="0"/>
          </a:p>
        </p:txBody>
      </p:sp>
      <p:sp>
        <p:nvSpPr>
          <p:cNvPr id="11" name="Text 8"/>
          <p:cNvSpPr/>
          <p:nvPr/>
        </p:nvSpPr>
        <p:spPr>
          <a:xfrm>
            <a:off x="822960" y="3017520"/>
            <a:ext cx="4815688" cy="13716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A teammate reviews it</a:t>
            </a:r>
            <a:endParaRPr lang="en-US" sz="1300" dirty="0"/>
          </a:p>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Off it goes — same day, routine</a:t>
            </a:r>
            <a:endParaRPr lang="en-US" sz="1300" dirty="0"/>
          </a:p>
        </p:txBody>
      </p:sp>
      <p:sp>
        <p:nvSpPr>
          <p:cNvPr id="12" name="Shape 9"/>
          <p:cNvSpPr/>
          <p:nvPr/>
        </p:nvSpPr>
        <p:spPr>
          <a:xfrm>
            <a:off x="6278728" y="1737360"/>
            <a:ext cx="5364328" cy="3291840"/>
          </a:xfrm>
          <a:prstGeom prst="roundRect">
            <a:avLst>
              <a:gd name="adj" fmla="val 2500"/>
            </a:avLst>
          </a:prstGeom>
          <a:solidFill>
            <a:srgbClr val="EAF4EF"/>
          </a:solidFill>
          <a:ln/>
          <a:effectLst>
            <a:outerShdw sx="100000" sy="100000" kx="0" ky="0" algn="bl" rotWithShape="0" blurRad="76200" dist="12700" dir="5400000">
              <a:srgbClr val="9AA7C4">
                <a:alpha val="22000"/>
              </a:srgbClr>
            </a:outerShdw>
          </a:effectLst>
        </p:spPr>
      </p:sp>
      <p:sp>
        <p:nvSpPr>
          <p:cNvPr id="13" name="Shape 10"/>
          <p:cNvSpPr/>
          <p:nvPr/>
        </p:nvSpPr>
        <p:spPr>
          <a:xfrm>
            <a:off x="6534760" y="1965960"/>
            <a:ext cx="548640" cy="548640"/>
          </a:xfrm>
          <a:prstGeom prst="ellipse">
            <a:avLst/>
          </a:prstGeom>
          <a:solidFill>
            <a:srgbClr val="2E7D5B"/>
          </a:solidFill>
          <a:ln/>
        </p:spPr>
      </p:sp>
      <p:pic>
        <p:nvPicPr>
          <p:cNvPr id="14" name="Image 1" descr="preencoded.png">    </p:cNvPr>
          <p:cNvPicPr>
            <a:picLocks noChangeAspect="1"/>
          </p:cNvPicPr>
          <p:nvPr/>
        </p:nvPicPr>
        <p:blipFill>
          <a:blip r:embed="rId2"/>
          <a:stretch>
            <a:fillRect/>
          </a:stretch>
        </p:blipFill>
        <p:spPr>
          <a:xfrm>
            <a:off x="6677406" y="2108606"/>
            <a:ext cx="263347" cy="263347"/>
          </a:xfrm>
          <a:prstGeom prst="rect">
            <a:avLst/>
          </a:prstGeom>
        </p:spPr>
      </p:pic>
      <p:sp>
        <p:nvSpPr>
          <p:cNvPr id="15" name="Text 11"/>
          <p:cNvSpPr/>
          <p:nvPr/>
        </p:nvSpPr>
        <p:spPr>
          <a:xfrm>
            <a:off x="7211416" y="2029968"/>
            <a:ext cx="4267048" cy="365760"/>
          </a:xfrm>
          <a:prstGeom prst="rect">
            <a:avLst/>
          </a:prstGeom>
          <a:noFill/>
          <a:ln/>
        </p:spPr>
        <p:txBody>
          <a:bodyPr wrap="square" lIns="0" tIns="0" rIns="0" bIns="0" rtlCol="0" anchor="ctr"/>
          <a:lstStyle/>
          <a:p>
            <a:pPr indent="0" marL="0">
              <a:buNone/>
            </a:pPr>
            <a:r>
              <a:rPr lang="en-US" sz="1500" b="1" dirty="0">
                <a:solidFill>
                  <a:srgbClr val="2E7D5B"/>
                </a:solidFill>
                <a:latin typeface="Calibri" pitchFamily="34" charset="0"/>
                <a:ea typeface="Calibri" pitchFamily="34" charset="-122"/>
                <a:cs typeface="Calibri" pitchFamily="34" charset="-120"/>
              </a:rPr>
              <a:t>Anything touching real rules</a:t>
            </a:r>
            <a:endParaRPr lang="en-US" sz="1500" dirty="0"/>
          </a:p>
        </p:txBody>
      </p:sp>
      <p:sp>
        <p:nvSpPr>
          <p:cNvPr id="16" name="Text 12"/>
          <p:cNvSpPr/>
          <p:nvPr/>
        </p:nvSpPr>
        <p:spPr>
          <a:xfrm>
            <a:off x="6553048" y="2487168"/>
            <a:ext cx="4815688" cy="457200"/>
          </a:xfrm>
          <a:prstGeom prst="rect">
            <a:avLst/>
          </a:prstGeom>
          <a:noFill/>
          <a:ln/>
        </p:spPr>
        <p:txBody>
          <a:bodyPr wrap="square" lIns="0" tIns="0" rIns="0" bIns="0" rtlCol="0" anchor="ctr"/>
          <a:lstStyle/>
          <a:p>
            <a:pPr indent="0" marL="0">
              <a:buNone/>
            </a:pPr>
            <a:r>
              <a:rPr lang="en-US" sz="1200" i="1" dirty="0">
                <a:solidFill>
                  <a:srgbClr val="5A6B8C"/>
                </a:solidFill>
                <a:latin typeface="Calibri" pitchFamily="34" charset="0"/>
                <a:ea typeface="Calibri" pitchFamily="34" charset="-122"/>
                <a:cs typeface="Calibri" pitchFamily="34" charset="-120"/>
              </a:rPr>
              <a:t>Unusual shapes, anything near sensitive logic.</a:t>
            </a:r>
            <a:endParaRPr lang="en-US" sz="1200" dirty="0"/>
          </a:p>
        </p:txBody>
      </p:sp>
      <p:sp>
        <p:nvSpPr>
          <p:cNvPr id="17" name="Text 13"/>
          <p:cNvSpPr/>
          <p:nvPr/>
        </p:nvSpPr>
        <p:spPr>
          <a:xfrm>
            <a:off x="6553048" y="3017520"/>
            <a:ext cx="4815688" cy="13716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Loop in a tech lead or the supervisor first</a:t>
            </a:r>
            <a:endParaRPr lang="en-US" sz="1300" dirty="0"/>
          </a:p>
          <a:p>
            <a:pPr marL="342900" indent="-342900">
              <a:spcAft>
                <a:spcPts val="800"/>
              </a:spcAft>
              <a:buSzPct val="100000"/>
              <a:buChar char="•"/>
            </a:pPr>
            <a:r>
              <a:rPr lang="en-US" sz="1300" dirty="0">
                <a:solidFill>
                  <a:srgbClr val="1B2440"/>
                </a:solidFill>
                <a:latin typeface="Calibri" pitchFamily="34" charset="0"/>
                <a:ea typeface="Calibri" pitchFamily="34" charset="-122"/>
                <a:cs typeface="Calibri" pitchFamily="34" charset="-120"/>
              </a:rPr>
              <a:t>A day or two, not a blocker — just a second look</a:t>
            </a:r>
            <a:endParaRPr lang="en-US" sz="1300" dirty="0"/>
          </a:p>
        </p:txBody>
      </p:sp>
      <p:sp>
        <p:nvSpPr>
          <p:cNvPr id="18" name="Text 14"/>
          <p:cNvSpPr/>
          <p:nvPr/>
        </p:nvSpPr>
        <p:spPr>
          <a:xfrm>
            <a:off x="548640" y="5257800"/>
            <a:ext cx="11094415" cy="457200"/>
          </a:xfrm>
          <a:prstGeom prst="rect">
            <a:avLst/>
          </a:prstGeom>
          <a:noFill/>
          <a:ln/>
        </p:spPr>
        <p:txBody>
          <a:bodyPr wrap="square" lIns="0" tIns="0" rIns="0" bIns="0" rtlCol="0" anchor="ctr"/>
          <a:lstStyle/>
          <a:p>
            <a:pPr algn="ctr" indent="0" marL="0">
              <a:buNone/>
            </a:pPr>
            <a:r>
              <a:rPr lang="en-US" sz="1300" i="1" dirty="0">
                <a:solidFill>
                  <a:srgbClr val="5A6B8C"/>
                </a:solidFill>
                <a:latin typeface="Calibri" pitchFamily="34" charset="0"/>
                <a:ea typeface="Calibri" pitchFamily="34" charset="-122"/>
                <a:cs typeface="Calibri" pitchFamily="34" charset="-120"/>
              </a:rPr>
              <a:t>We'll tighten this up as we go — better to start simple and add structure only where we actually need it.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13</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PORTING FEATURES, ONE AT A TIME</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Inventory → Spec → Build → Verify — repeat</a:t>
            </a:r>
            <a:endParaRPr lang="en-US" sz="2800" dirty="0"/>
          </a:p>
        </p:txBody>
      </p:sp>
      <p:sp>
        <p:nvSpPr>
          <p:cNvPr id="6" name="Shape 4"/>
          <p:cNvSpPr/>
          <p:nvPr/>
        </p:nvSpPr>
        <p:spPr>
          <a:xfrm>
            <a:off x="548640" y="1691640"/>
            <a:ext cx="2602154" cy="3017520"/>
          </a:xfrm>
          <a:prstGeom prst="roundRect">
            <a:avLst>
              <a:gd name="adj" fmla="val 3163"/>
            </a:avLst>
          </a:prstGeom>
          <a:solidFill>
            <a:srgbClr val="EDF3FC"/>
          </a:solidFill>
          <a:ln/>
          <a:effectLst>
            <a:outerShdw sx="100000" sy="100000" kx="0" ky="0" algn="bl" rotWithShape="0" blurRad="76200" dist="12700" dir="5400000">
              <a:srgbClr val="9AA7C4">
                <a:alpha val="22000"/>
              </a:srgbClr>
            </a:outerShdw>
          </a:effectLst>
        </p:spPr>
      </p:sp>
      <p:sp>
        <p:nvSpPr>
          <p:cNvPr id="7" name="Text 5"/>
          <p:cNvSpPr/>
          <p:nvPr/>
        </p:nvSpPr>
        <p:spPr>
          <a:xfrm>
            <a:off x="731520" y="1828800"/>
            <a:ext cx="731520" cy="685800"/>
          </a:xfrm>
          <a:prstGeom prst="rect">
            <a:avLst/>
          </a:prstGeom>
          <a:noFill/>
          <a:ln/>
        </p:spPr>
        <p:txBody>
          <a:bodyPr wrap="square" lIns="0" tIns="0" rIns="0" bIns="0" rtlCol="0" anchor="ctr"/>
          <a:lstStyle/>
          <a:p>
            <a:pPr indent="0" marL="0">
              <a:buNone/>
            </a:pPr>
            <a:r>
              <a:rPr lang="en-US" sz="3600" b="1" dirty="0">
                <a:solidFill>
                  <a:srgbClr val="CADCFC"/>
                </a:solidFill>
                <a:latin typeface="Cambria" pitchFamily="34" charset="0"/>
                <a:ea typeface="Cambria" pitchFamily="34" charset="-122"/>
                <a:cs typeface="Cambria" pitchFamily="34" charset="-120"/>
              </a:rPr>
              <a:t>1</a:t>
            </a:r>
            <a:endParaRPr lang="en-US" sz="3600" dirty="0"/>
          </a:p>
        </p:txBody>
      </p:sp>
      <p:sp>
        <p:nvSpPr>
          <p:cNvPr id="8" name="Text 6"/>
          <p:cNvSpPr/>
          <p:nvPr/>
        </p:nvSpPr>
        <p:spPr>
          <a:xfrm>
            <a:off x="731520" y="2468880"/>
            <a:ext cx="2236394"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Inventory</a:t>
            </a:r>
            <a:endParaRPr lang="en-US" sz="1500" dirty="0"/>
          </a:p>
        </p:txBody>
      </p:sp>
      <p:sp>
        <p:nvSpPr>
          <p:cNvPr id="9" name="Text 7"/>
          <p:cNvSpPr/>
          <p:nvPr/>
        </p:nvSpPr>
        <p:spPr>
          <a:xfrm>
            <a:off x="731520" y="2834640"/>
            <a:ext cx="2236394" cy="1691640"/>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List out what each Angular feature actually does: routes, screens, calls, rules. One row per feature.</a:t>
            </a:r>
            <a:endParaRPr lang="en-US" sz="1100" dirty="0"/>
          </a:p>
        </p:txBody>
      </p:sp>
      <p:sp>
        <p:nvSpPr>
          <p:cNvPr id="10" name="Text 8"/>
          <p:cNvSpPr/>
          <p:nvPr/>
        </p:nvSpPr>
        <p:spPr>
          <a:xfrm>
            <a:off x="3132506" y="3017520"/>
            <a:ext cx="274320" cy="365760"/>
          </a:xfrm>
          <a:prstGeom prst="rect">
            <a:avLst/>
          </a:prstGeom>
          <a:noFill/>
          <a:ln/>
        </p:spPr>
        <p:txBody>
          <a:bodyPr wrap="square" lIns="0" tIns="0" rIns="0" bIns="0" rtlCol="0" anchor="ctr"/>
          <a:lstStyle/>
          <a:p>
            <a:pPr algn="ctr" indent="0" marL="0">
              <a:buNone/>
            </a:pPr>
            <a:r>
              <a:rPr lang="en-US" sz="1800" dirty="0">
                <a:solidFill>
                  <a:srgbClr val="5A6B8C"/>
                </a:solidFill>
              </a:rPr>
              <a:t>▸</a:t>
            </a:r>
            <a:endParaRPr lang="en-US" sz="1800" dirty="0"/>
          </a:p>
        </p:txBody>
      </p:sp>
      <p:sp>
        <p:nvSpPr>
          <p:cNvPr id="11" name="Shape 9"/>
          <p:cNvSpPr/>
          <p:nvPr/>
        </p:nvSpPr>
        <p:spPr>
          <a:xfrm>
            <a:off x="3379394" y="1691640"/>
            <a:ext cx="2602154" cy="3017520"/>
          </a:xfrm>
          <a:prstGeom prst="roundRect">
            <a:avLst>
              <a:gd name="adj" fmla="val 3163"/>
            </a:avLst>
          </a:prstGeom>
          <a:solidFill>
            <a:srgbClr val="EDF3FC"/>
          </a:solidFill>
          <a:ln/>
          <a:effectLst>
            <a:outerShdw sx="100000" sy="100000" kx="0" ky="0" algn="bl" rotWithShape="0" blurRad="76200" dist="12700" dir="5400000">
              <a:srgbClr val="9AA7C4">
                <a:alpha val="22000"/>
              </a:srgbClr>
            </a:outerShdw>
          </a:effectLst>
        </p:spPr>
      </p:sp>
      <p:sp>
        <p:nvSpPr>
          <p:cNvPr id="12" name="Text 10"/>
          <p:cNvSpPr/>
          <p:nvPr/>
        </p:nvSpPr>
        <p:spPr>
          <a:xfrm>
            <a:off x="3562274" y="1828800"/>
            <a:ext cx="731520" cy="685800"/>
          </a:xfrm>
          <a:prstGeom prst="rect">
            <a:avLst/>
          </a:prstGeom>
          <a:noFill/>
          <a:ln/>
        </p:spPr>
        <p:txBody>
          <a:bodyPr wrap="square" lIns="0" tIns="0" rIns="0" bIns="0" rtlCol="0" anchor="ctr"/>
          <a:lstStyle/>
          <a:p>
            <a:pPr indent="0" marL="0">
              <a:buNone/>
            </a:pPr>
            <a:r>
              <a:rPr lang="en-US" sz="3600" b="1" dirty="0">
                <a:solidFill>
                  <a:srgbClr val="CADCFC"/>
                </a:solidFill>
                <a:latin typeface="Cambria" pitchFamily="34" charset="0"/>
                <a:ea typeface="Cambria" pitchFamily="34" charset="-122"/>
                <a:cs typeface="Cambria" pitchFamily="34" charset="-120"/>
              </a:rPr>
              <a:t>2</a:t>
            </a:r>
            <a:endParaRPr lang="en-US" sz="3600" dirty="0"/>
          </a:p>
        </p:txBody>
      </p:sp>
      <p:sp>
        <p:nvSpPr>
          <p:cNvPr id="13" name="Text 11"/>
          <p:cNvSpPr/>
          <p:nvPr/>
        </p:nvSpPr>
        <p:spPr>
          <a:xfrm>
            <a:off x="3562274" y="2468880"/>
            <a:ext cx="2236394"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Spec</a:t>
            </a:r>
            <a:endParaRPr lang="en-US" sz="1500" dirty="0"/>
          </a:p>
        </p:txBody>
      </p:sp>
      <p:sp>
        <p:nvSpPr>
          <p:cNvPr id="14" name="Text 12"/>
          <p:cNvSpPr/>
          <p:nvPr/>
        </p:nvSpPr>
        <p:spPr>
          <a:xfrm>
            <a:off x="3562274" y="2834640"/>
            <a:ext cx="2236394" cy="1691640"/>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Write the contract inside: API shape, rule keys, sample data. Keep it tight — a spec shouldn't take a week.</a:t>
            </a:r>
            <a:endParaRPr lang="en-US" sz="1100" dirty="0"/>
          </a:p>
        </p:txBody>
      </p:sp>
      <p:sp>
        <p:nvSpPr>
          <p:cNvPr id="15" name="Text 13"/>
          <p:cNvSpPr/>
          <p:nvPr/>
        </p:nvSpPr>
        <p:spPr>
          <a:xfrm>
            <a:off x="5963260" y="3017520"/>
            <a:ext cx="274320" cy="365760"/>
          </a:xfrm>
          <a:prstGeom prst="rect">
            <a:avLst/>
          </a:prstGeom>
          <a:noFill/>
          <a:ln/>
        </p:spPr>
        <p:txBody>
          <a:bodyPr wrap="square" lIns="0" tIns="0" rIns="0" bIns="0" rtlCol="0" anchor="ctr"/>
          <a:lstStyle/>
          <a:p>
            <a:pPr algn="ctr" indent="0" marL="0">
              <a:buNone/>
            </a:pPr>
            <a:r>
              <a:rPr lang="en-US" sz="1800" dirty="0">
                <a:solidFill>
                  <a:srgbClr val="5A6B8C"/>
                </a:solidFill>
              </a:rPr>
              <a:t>▸</a:t>
            </a:r>
            <a:endParaRPr lang="en-US" sz="1800" dirty="0"/>
          </a:p>
        </p:txBody>
      </p:sp>
      <p:sp>
        <p:nvSpPr>
          <p:cNvPr id="16" name="Shape 14"/>
          <p:cNvSpPr/>
          <p:nvPr/>
        </p:nvSpPr>
        <p:spPr>
          <a:xfrm>
            <a:off x="6210148" y="1691640"/>
            <a:ext cx="2602154" cy="3017520"/>
          </a:xfrm>
          <a:prstGeom prst="roundRect">
            <a:avLst>
              <a:gd name="adj" fmla="val 3163"/>
            </a:avLst>
          </a:prstGeom>
          <a:solidFill>
            <a:srgbClr val="EDF3FC"/>
          </a:solidFill>
          <a:ln/>
          <a:effectLst>
            <a:outerShdw sx="100000" sy="100000" kx="0" ky="0" algn="bl" rotWithShape="0" blurRad="76200" dist="12700" dir="5400000">
              <a:srgbClr val="9AA7C4">
                <a:alpha val="22000"/>
              </a:srgbClr>
            </a:outerShdw>
          </a:effectLst>
        </p:spPr>
      </p:sp>
      <p:sp>
        <p:nvSpPr>
          <p:cNvPr id="17" name="Text 15"/>
          <p:cNvSpPr/>
          <p:nvPr/>
        </p:nvSpPr>
        <p:spPr>
          <a:xfrm>
            <a:off x="6393028" y="1828800"/>
            <a:ext cx="731520" cy="685800"/>
          </a:xfrm>
          <a:prstGeom prst="rect">
            <a:avLst/>
          </a:prstGeom>
          <a:noFill/>
          <a:ln/>
        </p:spPr>
        <p:txBody>
          <a:bodyPr wrap="square" lIns="0" tIns="0" rIns="0" bIns="0" rtlCol="0" anchor="ctr"/>
          <a:lstStyle/>
          <a:p>
            <a:pPr indent="0" marL="0">
              <a:buNone/>
            </a:pPr>
            <a:r>
              <a:rPr lang="en-US" sz="3600" b="1" dirty="0">
                <a:solidFill>
                  <a:srgbClr val="CADCFC"/>
                </a:solidFill>
                <a:latin typeface="Cambria" pitchFamily="34" charset="0"/>
                <a:ea typeface="Cambria" pitchFamily="34" charset="-122"/>
                <a:cs typeface="Cambria" pitchFamily="34" charset="-120"/>
              </a:rPr>
              <a:t>3</a:t>
            </a:r>
            <a:endParaRPr lang="en-US" sz="3600" dirty="0"/>
          </a:p>
        </p:txBody>
      </p:sp>
      <p:sp>
        <p:nvSpPr>
          <p:cNvPr id="18" name="Text 16"/>
          <p:cNvSpPr/>
          <p:nvPr/>
        </p:nvSpPr>
        <p:spPr>
          <a:xfrm>
            <a:off x="6393028" y="2468880"/>
            <a:ext cx="2236394"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Build</a:t>
            </a:r>
            <a:endParaRPr lang="en-US" sz="1500" dirty="0"/>
          </a:p>
        </p:txBody>
      </p:sp>
      <p:sp>
        <p:nvSpPr>
          <p:cNvPr id="19" name="Text 17"/>
          <p:cNvSpPr/>
          <p:nvPr/>
        </p:nvSpPr>
        <p:spPr>
          <a:xfrm>
            <a:off x="6393028" y="2834640"/>
            <a:ext cx="2236394" cy="1691640"/>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Build it outside end-to-end — UI, tests, docs together — against the mocks. Not all-screens-first.</a:t>
            </a:r>
            <a:endParaRPr lang="en-US" sz="1100" dirty="0"/>
          </a:p>
        </p:txBody>
      </p:sp>
      <p:sp>
        <p:nvSpPr>
          <p:cNvPr id="20" name="Text 18"/>
          <p:cNvSpPr/>
          <p:nvPr/>
        </p:nvSpPr>
        <p:spPr>
          <a:xfrm>
            <a:off x="8794013" y="3017520"/>
            <a:ext cx="274320" cy="365760"/>
          </a:xfrm>
          <a:prstGeom prst="rect">
            <a:avLst/>
          </a:prstGeom>
          <a:noFill/>
          <a:ln/>
        </p:spPr>
        <p:txBody>
          <a:bodyPr wrap="square" lIns="0" tIns="0" rIns="0" bIns="0" rtlCol="0" anchor="ctr"/>
          <a:lstStyle/>
          <a:p>
            <a:pPr algn="ctr" indent="0" marL="0">
              <a:buNone/>
            </a:pPr>
            <a:r>
              <a:rPr lang="en-US" sz="1800" dirty="0">
                <a:solidFill>
                  <a:srgbClr val="5A6B8C"/>
                </a:solidFill>
              </a:rPr>
              <a:t>▸</a:t>
            </a:r>
            <a:endParaRPr lang="en-US" sz="1800" dirty="0"/>
          </a:p>
        </p:txBody>
      </p:sp>
      <p:sp>
        <p:nvSpPr>
          <p:cNvPr id="21" name="Shape 19"/>
          <p:cNvSpPr/>
          <p:nvPr/>
        </p:nvSpPr>
        <p:spPr>
          <a:xfrm>
            <a:off x="9040901" y="1691640"/>
            <a:ext cx="2602154" cy="3017520"/>
          </a:xfrm>
          <a:prstGeom prst="roundRect">
            <a:avLst>
              <a:gd name="adj" fmla="val 3163"/>
            </a:avLst>
          </a:prstGeom>
          <a:solidFill>
            <a:srgbClr val="EDF3FC"/>
          </a:solidFill>
          <a:ln/>
          <a:effectLst>
            <a:outerShdw sx="100000" sy="100000" kx="0" ky="0" algn="bl" rotWithShape="0" blurRad="76200" dist="12700" dir="5400000">
              <a:srgbClr val="9AA7C4">
                <a:alpha val="22000"/>
              </a:srgbClr>
            </a:outerShdw>
          </a:effectLst>
        </p:spPr>
      </p:sp>
      <p:sp>
        <p:nvSpPr>
          <p:cNvPr id="22" name="Text 20"/>
          <p:cNvSpPr/>
          <p:nvPr/>
        </p:nvSpPr>
        <p:spPr>
          <a:xfrm>
            <a:off x="9223781" y="1828800"/>
            <a:ext cx="731520" cy="685800"/>
          </a:xfrm>
          <a:prstGeom prst="rect">
            <a:avLst/>
          </a:prstGeom>
          <a:noFill/>
          <a:ln/>
        </p:spPr>
        <p:txBody>
          <a:bodyPr wrap="square" lIns="0" tIns="0" rIns="0" bIns="0" rtlCol="0" anchor="ctr"/>
          <a:lstStyle/>
          <a:p>
            <a:pPr indent="0" marL="0">
              <a:buNone/>
            </a:pPr>
            <a:r>
              <a:rPr lang="en-US" sz="3600" b="1" dirty="0">
                <a:solidFill>
                  <a:srgbClr val="CADCFC"/>
                </a:solidFill>
                <a:latin typeface="Cambria" pitchFamily="34" charset="0"/>
                <a:ea typeface="Cambria" pitchFamily="34" charset="-122"/>
                <a:cs typeface="Cambria" pitchFamily="34" charset="-120"/>
              </a:rPr>
              <a:t>4</a:t>
            </a:r>
            <a:endParaRPr lang="en-US" sz="3600" dirty="0"/>
          </a:p>
        </p:txBody>
      </p:sp>
      <p:sp>
        <p:nvSpPr>
          <p:cNvPr id="23" name="Text 21"/>
          <p:cNvSpPr/>
          <p:nvPr/>
        </p:nvSpPr>
        <p:spPr>
          <a:xfrm>
            <a:off x="9223781" y="2468880"/>
            <a:ext cx="2236394"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Verify</a:t>
            </a:r>
            <a:endParaRPr lang="en-US" sz="1500" dirty="0"/>
          </a:p>
        </p:txBody>
      </p:sp>
      <p:sp>
        <p:nvSpPr>
          <p:cNvPr id="24" name="Text 22"/>
          <p:cNvSpPr/>
          <p:nvPr/>
        </p:nvSpPr>
        <p:spPr>
          <a:xfrm>
            <a:off x="9223781" y="2834640"/>
            <a:ext cx="2236394" cy="1691640"/>
          </a:xfrm>
          <a:prstGeom prst="rect">
            <a:avLst/>
          </a:prstGeom>
          <a:noFill/>
          <a:ln/>
        </p:spPr>
        <p:txBody>
          <a:bodyPr wrap="square" lIns="0" tIns="0" rIns="0" bIns="0" rtlCol="0" anchor="ctr"/>
          <a:lstStyle/>
          <a:p>
            <a:pPr indent="0" marL="0">
              <a:buNone/>
            </a:pPr>
            <a:r>
              <a:rPr lang="en-US" sz="1100" dirty="0">
                <a:solidFill>
                  <a:srgbClr val="1B2440"/>
                </a:solidFill>
                <a:latin typeface="Calibri" pitchFamily="34" charset="0"/>
                <a:ea typeface="Calibri" pitchFamily="34" charset="-122"/>
                <a:cs typeface="Calibri" pitchFamily="34" charset="-120"/>
              </a:rPr>
              <a:t>Bring it in, plug in the real backend, re-run the same tests. Found a gap? Fix the spec, then the code.</a:t>
            </a:r>
            <a:endParaRPr lang="en-US" sz="1100" dirty="0"/>
          </a:p>
        </p:txBody>
      </p:sp>
      <p:sp>
        <p:nvSpPr>
          <p:cNvPr id="25" name="Shape 23"/>
          <p:cNvSpPr/>
          <p:nvPr/>
        </p:nvSpPr>
        <p:spPr>
          <a:xfrm>
            <a:off x="548640" y="4983480"/>
            <a:ext cx="11094415" cy="1051560"/>
          </a:xfrm>
          <a:prstGeom prst="roundRect">
            <a:avLst>
              <a:gd name="adj" fmla="val 7826"/>
            </a:avLst>
          </a:prstGeom>
          <a:solidFill>
            <a:srgbClr val="EAF4EF"/>
          </a:solidFill>
          <a:ln/>
          <a:effectLst>
            <a:outerShdw sx="100000" sy="100000" kx="0" ky="0" algn="bl" rotWithShape="0" blurRad="76200" dist="12700" dir="5400000">
              <a:srgbClr val="9AA7C4">
                <a:alpha val="22000"/>
              </a:srgbClr>
            </a:outerShdw>
          </a:effectLst>
        </p:spPr>
      </p:sp>
      <p:sp>
        <p:nvSpPr>
          <p:cNvPr id="26" name="Shape 24"/>
          <p:cNvSpPr/>
          <p:nvPr/>
        </p:nvSpPr>
        <p:spPr>
          <a:xfrm>
            <a:off x="777240" y="5184648"/>
            <a:ext cx="566928" cy="566928"/>
          </a:xfrm>
          <a:prstGeom prst="ellipse">
            <a:avLst/>
          </a:prstGeom>
          <a:solidFill>
            <a:srgbClr val="2E7D5B"/>
          </a:solidFill>
          <a:ln/>
        </p:spPr>
      </p:sp>
      <p:pic>
        <p:nvPicPr>
          <p:cNvPr id="27" name="Image 0" descr="preencoded.png">    </p:cNvPr>
          <p:cNvPicPr>
            <a:picLocks noChangeAspect="1"/>
          </p:cNvPicPr>
          <p:nvPr/>
        </p:nvPicPr>
        <p:blipFill>
          <a:blip r:embed="rId1"/>
          <a:stretch>
            <a:fillRect/>
          </a:stretch>
        </p:blipFill>
        <p:spPr>
          <a:xfrm>
            <a:off x="924641" y="5332049"/>
            <a:ext cx="272125" cy="272125"/>
          </a:xfrm>
          <a:prstGeom prst="rect">
            <a:avLst/>
          </a:prstGeom>
        </p:spPr>
      </p:pic>
      <p:sp>
        <p:nvSpPr>
          <p:cNvPr id="28" name="Text 25"/>
          <p:cNvSpPr/>
          <p:nvPr/>
        </p:nvSpPr>
        <p:spPr>
          <a:xfrm>
            <a:off x="1508760" y="5120640"/>
            <a:ext cx="9905695" cy="822960"/>
          </a:xfrm>
          <a:prstGeom prst="rect">
            <a:avLst/>
          </a:prstGeom>
          <a:noFill/>
          <a:ln/>
        </p:spPr>
        <p:txBody>
          <a:bodyPr wrap="square" lIns="0" tIns="0" rIns="0" bIns="0" rtlCol="0" anchor="ctr"/>
          <a:lstStyle/>
          <a:p>
            <a:pPr indent="0" marL="0">
              <a:buNone/>
            </a:pPr>
            <a:r>
              <a:rPr lang="en-US" sz="1300" b="1" dirty="0">
                <a:solidFill>
                  <a:srgbClr val="2E7D5B"/>
                </a:solidFill>
                <a:latin typeface="Calibri" pitchFamily="34" charset="0"/>
                <a:ea typeface="Calibri" pitchFamily="34" charset="-122"/>
                <a:cs typeface="Calibri" pitchFamily="34" charset="-120"/>
              </a:rPr>
              <a:t>First pick a medium feature, not the hardest one. </a:t>
            </a:r>
            <a:pPr indent="0" marL="0">
              <a:buNone/>
            </a:pPr>
            <a:r>
              <a:rPr lang="en-US" sz="1300" dirty="0">
                <a:solidFill>
                  <a:srgbClr val="1B2440"/>
                </a:solidFill>
                <a:latin typeface="Calibri" pitchFamily="34" charset="0"/>
                <a:ea typeface="Calibri" pitchFamily="34" charset="-122"/>
                <a:cs typeface="Calibri" pitchFamily="34" charset="-120"/>
              </a:rPr>
              <a:t>Its job is to help us learn the loop — how long a spec takes, how the mocks feel, how integration actually goes — before we scale it up.</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THE THREE PHASES, NAMED HONESTLY</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Where this goes, and why</a:t>
            </a:r>
            <a:endParaRPr lang="en-US" sz="2800" dirty="0"/>
          </a:p>
        </p:txBody>
      </p:sp>
      <p:sp>
        <p:nvSpPr>
          <p:cNvPr id="6" name="Shape 4"/>
          <p:cNvSpPr/>
          <p:nvPr/>
        </p:nvSpPr>
        <p:spPr>
          <a:xfrm>
            <a:off x="548640" y="1737360"/>
            <a:ext cx="3515258" cy="3566160"/>
          </a:xfrm>
          <a:prstGeom prst="roundRect">
            <a:avLst>
              <a:gd name="adj" fmla="val 2341"/>
            </a:avLst>
          </a:prstGeom>
          <a:solidFill>
            <a:srgbClr val="EDF3FC"/>
          </a:solidFill>
          <a:ln/>
          <a:effectLst>
            <a:outerShdw sx="100000" sy="100000" kx="0" ky="0" algn="bl" rotWithShape="0" blurRad="76200" dist="12700" dir="5400000">
              <a:srgbClr val="9AA7C4">
                <a:alpha val="22000"/>
              </a:srgbClr>
            </a:outerShdw>
          </a:effectLst>
        </p:spPr>
      </p:sp>
      <p:sp>
        <p:nvSpPr>
          <p:cNvPr id="7" name="Text 5"/>
          <p:cNvSpPr/>
          <p:nvPr/>
        </p:nvSpPr>
        <p:spPr>
          <a:xfrm>
            <a:off x="777240" y="1920240"/>
            <a:ext cx="3058058"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PHASE 1</a:t>
            </a:r>
            <a:endParaRPr lang="en-US" sz="1100" dirty="0"/>
          </a:p>
        </p:txBody>
      </p:sp>
      <p:sp>
        <p:nvSpPr>
          <p:cNvPr id="8" name="Text 6"/>
          <p:cNvSpPr/>
          <p:nvPr/>
        </p:nvSpPr>
        <p:spPr>
          <a:xfrm>
            <a:off x="777240" y="2212848"/>
            <a:ext cx="3058058" cy="54864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Core team goes outside</a:t>
            </a:r>
            <a:endParaRPr lang="en-US" sz="1700" dirty="0"/>
          </a:p>
        </p:txBody>
      </p:sp>
      <p:sp>
        <p:nvSpPr>
          <p:cNvPr id="9" name="Text 7"/>
          <p:cNvSpPr/>
          <p:nvPr/>
        </p:nvSpPr>
        <p:spPr>
          <a:xfrm>
            <a:off x="777240" y="2880360"/>
            <a:ext cx="3058058" cy="2240280"/>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1B2440"/>
                </a:solidFill>
                <a:latin typeface="Calibri" pitchFamily="34" charset="0"/>
                <a:ea typeface="Calibri" pitchFamily="34" charset="-122"/>
                <a:cs typeface="Calibri" pitchFamily="34" charset="-120"/>
              </a:rPr>
              <a:t>Pick a pilot feature, run the full loop end to end</a:t>
            </a:r>
            <a:endParaRPr lang="en-US" sz="1100" dirty="0"/>
          </a:p>
          <a:p>
            <a:pPr marL="342900" indent="-342900">
              <a:spcAft>
                <a:spcPts val="700"/>
              </a:spcAft>
              <a:buSzPct val="100000"/>
              <a:buChar char="•"/>
            </a:pPr>
            <a:r>
              <a:rPr lang="en-US" sz="1100" dirty="0">
                <a:solidFill>
                  <a:srgbClr val="1B2440"/>
                </a:solidFill>
                <a:latin typeface="Calibri" pitchFamily="34" charset="0"/>
                <a:ea typeface="Calibri" pitchFamily="34" charset="-122"/>
                <a:cs typeface="Calibri" pitchFamily="34" charset="-120"/>
              </a:rPr>
              <a:t>Set up matching pipelines &amp; configs outside</a:t>
            </a:r>
            <a:endParaRPr lang="en-US" sz="1100" dirty="0"/>
          </a:p>
          <a:p>
            <a:pPr marL="342900" indent="-342900">
              <a:spcAft>
                <a:spcPts val="700"/>
              </a:spcAft>
              <a:buSzPct val="100000"/>
              <a:buChar char="•"/>
            </a:pPr>
            <a:r>
              <a:rPr lang="en-US" sz="1100" dirty="0">
                <a:solidFill>
                  <a:srgbClr val="1B2440"/>
                </a:solidFill>
                <a:latin typeface="Calibri" pitchFamily="34" charset="0"/>
                <a:ea typeface="Calibri" pitchFamily="34" charset="-122"/>
                <a:cs typeface="Calibri" pitchFamily="34" charset="-120"/>
              </a:rPr>
              <a:t>Contractors take on environment testing, config management, and bringing internet work into Confi — the ingress side</a:t>
            </a:r>
            <a:endParaRPr lang="en-US" sz="1100" dirty="0"/>
          </a:p>
          <a:p>
            <a:pPr marL="342900" indent="-342900">
              <a:spcAft>
                <a:spcPts val="700"/>
              </a:spcAft>
              <a:buSzPct val="100000"/>
              <a:buChar char="•"/>
            </a:pPr>
            <a:r>
              <a:rPr lang="en-US" sz="1100" dirty="0">
                <a:solidFill>
                  <a:srgbClr val="1B2440"/>
                </a:solidFill>
                <a:latin typeface="Calibri" pitchFamily="34" charset="0"/>
                <a:ea typeface="Calibri" pitchFamily="34" charset="-122"/>
                <a:cs typeface="Calibri" pitchFamily="34" charset="-120"/>
              </a:rPr>
              <a:t>Fix the friction we find, together</a:t>
            </a:r>
            <a:endParaRPr lang="en-US" sz="1100" dirty="0"/>
          </a:p>
        </p:txBody>
      </p:sp>
      <p:sp>
        <p:nvSpPr>
          <p:cNvPr id="10" name="Shape 8"/>
          <p:cNvSpPr/>
          <p:nvPr/>
        </p:nvSpPr>
        <p:spPr>
          <a:xfrm>
            <a:off x="4338218" y="1737360"/>
            <a:ext cx="3515258" cy="3566160"/>
          </a:xfrm>
          <a:prstGeom prst="roundRect">
            <a:avLst>
              <a:gd name="adj" fmla="val 2341"/>
            </a:avLst>
          </a:prstGeom>
          <a:solidFill>
            <a:srgbClr val="EDF3FC"/>
          </a:solidFill>
          <a:ln/>
          <a:effectLst>
            <a:outerShdw sx="100000" sy="100000" kx="0" ky="0" algn="bl" rotWithShape="0" blurRad="76200" dist="12700" dir="5400000">
              <a:srgbClr val="9AA7C4">
                <a:alpha val="22000"/>
              </a:srgbClr>
            </a:outerShdw>
          </a:effectLst>
        </p:spPr>
      </p:sp>
      <p:sp>
        <p:nvSpPr>
          <p:cNvPr id="11" name="Text 9"/>
          <p:cNvSpPr/>
          <p:nvPr/>
        </p:nvSpPr>
        <p:spPr>
          <a:xfrm>
            <a:off x="4566818" y="1920240"/>
            <a:ext cx="3058058" cy="274320"/>
          </a:xfrm>
          <a:prstGeom prst="rect">
            <a:avLst/>
          </a:prstGeom>
          <a:noFill/>
          <a:ln/>
        </p:spPr>
        <p:txBody>
          <a:bodyPr wrap="square" lIns="0" tIns="0" rIns="0" bIns="0" rtlCol="0" anchor="ctr"/>
          <a:lstStyle/>
          <a:p>
            <a:pPr indent="0" marL="0">
              <a:buNone/>
            </a:pPr>
            <a:r>
              <a:rPr lang="en-US" sz="1100" b="1" spc="200" kern="0" dirty="0">
                <a:solidFill>
                  <a:srgbClr val="5A6B8C"/>
                </a:solidFill>
                <a:latin typeface="Calibri" pitchFamily="34" charset="0"/>
                <a:ea typeface="Calibri" pitchFamily="34" charset="-122"/>
                <a:cs typeface="Calibri" pitchFamily="34" charset="-120"/>
              </a:rPr>
              <a:t>PHASE 2</a:t>
            </a:r>
            <a:endParaRPr lang="en-US" sz="1100" dirty="0"/>
          </a:p>
        </p:txBody>
      </p:sp>
      <p:sp>
        <p:nvSpPr>
          <p:cNvPr id="12" name="Text 10"/>
          <p:cNvSpPr/>
          <p:nvPr/>
        </p:nvSpPr>
        <p:spPr>
          <a:xfrm>
            <a:off x="4566818" y="2212848"/>
            <a:ext cx="3058058" cy="54864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Both directions get routine</a:t>
            </a:r>
            <a:endParaRPr lang="en-US" sz="1700" dirty="0"/>
          </a:p>
        </p:txBody>
      </p:sp>
      <p:sp>
        <p:nvSpPr>
          <p:cNvPr id="13" name="Text 11"/>
          <p:cNvSpPr/>
          <p:nvPr/>
        </p:nvSpPr>
        <p:spPr>
          <a:xfrm>
            <a:off x="4566818" y="2880360"/>
            <a:ext cx="3058058" cy="2240280"/>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1B2440"/>
                </a:solidFill>
                <a:latin typeface="Calibri" pitchFamily="34" charset="0"/>
                <a:ea typeface="Calibri" pitchFamily="34" charset="-122"/>
                <a:cs typeface="Calibri" pitchFamily="34" charset="-120"/>
              </a:rPr>
              <a:t>More features through the loop; Angular inventory &amp; porting underway</a:t>
            </a:r>
            <a:endParaRPr lang="en-US" sz="1100" dirty="0"/>
          </a:p>
          <a:p>
            <a:pPr marL="342900" indent="-342900">
              <a:spcAft>
                <a:spcPts val="700"/>
              </a:spcAft>
              <a:buSzPct val="100000"/>
              <a:buChar char="•"/>
            </a:pPr>
            <a:r>
              <a:rPr lang="en-US" sz="1100" dirty="0">
                <a:solidFill>
                  <a:srgbClr val="1B2440"/>
                </a:solidFill>
                <a:latin typeface="Calibri" pitchFamily="34" charset="0"/>
                <a:ea typeface="Calibri" pitchFamily="34" charset="-122"/>
                <a:cs typeface="Calibri" pitchFamily="34" charset="-120"/>
              </a:rPr>
              <a:t>The occasional egress flow (Confi → internet) becomes the clear, repeatable process from a couple slides ago</a:t>
            </a:r>
            <a:endParaRPr lang="en-US" sz="1100" dirty="0"/>
          </a:p>
          <a:p>
            <a:pPr marL="342900" indent="-342900">
              <a:spcAft>
                <a:spcPts val="700"/>
              </a:spcAft>
              <a:buSzPct val="100000"/>
              <a:buChar char="•"/>
            </a:pPr>
            <a:r>
              <a:rPr lang="en-US" sz="1100" dirty="0">
                <a:solidFill>
                  <a:srgbClr val="1B2440"/>
                </a:solidFill>
                <a:latin typeface="Calibri" pitchFamily="34" charset="0"/>
                <a:ea typeface="Calibri" pitchFamily="34" charset="-122"/>
                <a:cs typeface="Calibri" pitchFamily="34" charset="-120"/>
              </a:rPr>
              <a:t>Sign-off is quick because the habits are solid</a:t>
            </a:r>
            <a:endParaRPr lang="en-US" sz="1100" dirty="0"/>
          </a:p>
          <a:p>
            <a:pPr marL="342900" indent="-342900">
              <a:spcAft>
                <a:spcPts val="700"/>
              </a:spcAft>
              <a:buSzPct val="100000"/>
              <a:buChar char="•"/>
            </a:pPr>
            <a:r>
              <a:rPr lang="en-US" sz="1100" dirty="0">
                <a:solidFill>
                  <a:srgbClr val="1B2440"/>
                </a:solidFill>
                <a:latin typeface="Calibri" pitchFamily="34" charset="0"/>
                <a:ea typeface="Calibri" pitchFamily="34" charset="-122"/>
                <a:cs typeface="Calibri" pitchFamily="34" charset="-120"/>
              </a:rPr>
              <a:t>We're no longer thinking about this as "new"</a:t>
            </a:r>
            <a:endParaRPr lang="en-US" sz="1100" dirty="0"/>
          </a:p>
        </p:txBody>
      </p:sp>
      <p:sp>
        <p:nvSpPr>
          <p:cNvPr id="14" name="Shape 12"/>
          <p:cNvSpPr/>
          <p:nvPr/>
        </p:nvSpPr>
        <p:spPr>
          <a:xfrm>
            <a:off x="8127797" y="1737360"/>
            <a:ext cx="3515258" cy="3566160"/>
          </a:xfrm>
          <a:prstGeom prst="roundRect">
            <a:avLst>
              <a:gd name="adj" fmla="val 2341"/>
            </a:avLst>
          </a:prstGeom>
          <a:solidFill>
            <a:srgbClr val="EAF4EF"/>
          </a:solidFill>
          <a:ln/>
          <a:effectLst>
            <a:outerShdw sx="100000" sy="100000" kx="0" ky="0" algn="bl" rotWithShape="0" blurRad="76200" dist="12700" dir="5400000">
              <a:srgbClr val="9AA7C4">
                <a:alpha val="22000"/>
              </a:srgbClr>
            </a:outerShdw>
          </a:effectLst>
        </p:spPr>
      </p:sp>
      <p:sp>
        <p:nvSpPr>
          <p:cNvPr id="15" name="Text 13"/>
          <p:cNvSpPr/>
          <p:nvPr/>
        </p:nvSpPr>
        <p:spPr>
          <a:xfrm>
            <a:off x="8356397" y="1920240"/>
            <a:ext cx="3058058" cy="274320"/>
          </a:xfrm>
          <a:prstGeom prst="rect">
            <a:avLst/>
          </a:prstGeom>
          <a:noFill/>
          <a:ln/>
        </p:spPr>
        <p:txBody>
          <a:bodyPr wrap="square" lIns="0" tIns="0" rIns="0" bIns="0" rtlCol="0" anchor="ctr"/>
          <a:lstStyle/>
          <a:p>
            <a:pPr indent="0" marL="0">
              <a:buNone/>
            </a:pPr>
            <a:r>
              <a:rPr lang="en-US" sz="1100" b="1" spc="200" kern="0" dirty="0">
                <a:solidFill>
                  <a:srgbClr val="2E7D5B"/>
                </a:solidFill>
                <a:latin typeface="Calibri" pitchFamily="34" charset="0"/>
                <a:ea typeface="Calibri" pitchFamily="34" charset="-122"/>
                <a:cs typeface="Calibri" pitchFamily="34" charset="-120"/>
              </a:rPr>
              <a:t>PHASE 3</a:t>
            </a:r>
            <a:endParaRPr lang="en-US" sz="1100" dirty="0"/>
          </a:p>
        </p:txBody>
      </p:sp>
      <p:sp>
        <p:nvSpPr>
          <p:cNvPr id="16" name="Text 14"/>
          <p:cNvSpPr/>
          <p:nvPr/>
        </p:nvSpPr>
        <p:spPr>
          <a:xfrm>
            <a:off x="8356397" y="2212848"/>
            <a:ext cx="3058058" cy="548640"/>
          </a:xfrm>
          <a:prstGeom prst="rect">
            <a:avLst/>
          </a:prstGeom>
          <a:noFill/>
          <a:ln/>
        </p:spPr>
        <p:txBody>
          <a:bodyPr wrap="square" lIns="0" tIns="0" rIns="0" bIns="0" rtlCol="0" anchor="ctr"/>
          <a:lstStyle/>
          <a:p>
            <a:pPr indent="0" marL="0">
              <a:buNone/>
            </a:pPr>
            <a:r>
              <a:rPr lang="en-US" sz="1700" b="1" dirty="0">
                <a:solidFill>
                  <a:srgbClr val="2E7D5B"/>
                </a:solidFill>
                <a:latin typeface="Calibri" pitchFamily="34" charset="0"/>
                <a:ea typeface="Calibri" pitchFamily="34" charset="-122"/>
                <a:cs typeface="Calibri" pitchFamily="34" charset="-120"/>
              </a:rPr>
              <a:t>Contractor headcount comes down</a:t>
            </a:r>
            <a:endParaRPr lang="en-US" sz="1700" dirty="0"/>
          </a:p>
        </p:txBody>
      </p:sp>
      <p:sp>
        <p:nvSpPr>
          <p:cNvPr id="17" name="Text 15"/>
          <p:cNvSpPr/>
          <p:nvPr/>
        </p:nvSpPr>
        <p:spPr>
          <a:xfrm>
            <a:off x="8356397" y="2880360"/>
            <a:ext cx="3058058" cy="2240280"/>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1B2440"/>
                </a:solidFill>
                <a:latin typeface="Calibri" pitchFamily="34" charset="0"/>
                <a:ea typeface="Calibri" pitchFamily="34" charset="-122"/>
                <a:cs typeface="Calibri" pitchFamily="34" charset="-120"/>
              </a:rPr>
              <a:t>Core team absorbs the full loop, both directions, on its own</a:t>
            </a:r>
            <a:endParaRPr lang="en-US" sz="1100" dirty="0"/>
          </a:p>
          <a:p>
            <a:pPr marL="342900" indent="-342900">
              <a:spcAft>
                <a:spcPts val="700"/>
              </a:spcAft>
              <a:buSzPct val="100000"/>
              <a:buChar char="•"/>
            </a:pPr>
            <a:r>
              <a:rPr lang="en-US" sz="1100" dirty="0">
                <a:solidFill>
                  <a:srgbClr val="1B2440"/>
                </a:solidFill>
                <a:latin typeface="Calibri" pitchFamily="34" charset="0"/>
                <a:ea typeface="Calibri" pitchFamily="34" charset="-122"/>
                <a:cs typeface="Calibri" pitchFamily="34" charset="-120"/>
              </a:rPr>
              <a:t>Trigger-based, not date-based — we genuinely don't know when</a:t>
            </a:r>
            <a:endParaRPr lang="en-US" sz="1100" dirty="0"/>
          </a:p>
          <a:p>
            <a:pPr marL="342900" indent="-342900">
              <a:spcAft>
                <a:spcPts val="700"/>
              </a:spcAft>
              <a:buSzPct val="100000"/>
              <a:buChar char="•"/>
            </a:pPr>
            <a:r>
              <a:rPr lang="en-US" sz="1100" dirty="0">
                <a:solidFill>
                  <a:srgbClr val="1B2440"/>
                </a:solidFill>
                <a:latin typeface="Calibri" pitchFamily="34" charset="0"/>
                <a:ea typeface="Calibri" pitchFamily="34" charset="-122"/>
                <a:cs typeface="Calibri" pitchFamily="34" charset="-120"/>
              </a:rPr>
              <a:t>Phases 1 &amp; 2 exist partly to make this transition possible without surprises</a:t>
            </a:r>
            <a:endParaRPr lang="en-US" sz="1100" dirty="0"/>
          </a:p>
          <a:p>
            <a:pPr marL="342900" indent="-342900">
              <a:spcAft>
                <a:spcPts val="700"/>
              </a:spcAft>
              <a:buSzPct val="100000"/>
              <a:buChar char="•"/>
            </a:pPr>
            <a:r>
              <a:rPr lang="en-US" sz="1100" dirty="0">
                <a:solidFill>
                  <a:srgbClr val="1B2440"/>
                </a:solidFill>
                <a:latin typeface="Calibri" pitchFamily="34" charset="0"/>
                <a:ea typeface="Calibri" pitchFamily="34" charset="-122"/>
                <a:cs typeface="Calibri" pitchFamily="34" charset="-120"/>
              </a:rPr>
              <a:t>We're naming it now, not waiting until it's decided to say anything</a:t>
            </a:r>
            <a:endParaRPr lang="en-US" sz="1100" dirty="0"/>
          </a:p>
        </p:txBody>
      </p:sp>
      <p:sp>
        <p:nvSpPr>
          <p:cNvPr id="18" name="Shape 16"/>
          <p:cNvSpPr/>
          <p:nvPr/>
        </p:nvSpPr>
        <p:spPr>
          <a:xfrm>
            <a:off x="548640" y="5440680"/>
            <a:ext cx="11094415" cy="777240"/>
          </a:xfrm>
          <a:prstGeom prst="roundRect">
            <a:avLst>
              <a:gd name="adj" fmla="val 10588"/>
            </a:avLst>
          </a:prstGeom>
          <a:solidFill>
            <a:srgbClr val="EDF3FC"/>
          </a:solidFill>
          <a:ln/>
          <a:effectLst>
            <a:outerShdw sx="100000" sy="100000" kx="0" ky="0" algn="bl" rotWithShape="0" blurRad="76200" dist="12700" dir="5400000">
              <a:srgbClr val="9AA7C4">
                <a:alpha val="22000"/>
              </a:srgbClr>
            </a:outerShdw>
          </a:effectLst>
        </p:spPr>
      </p:sp>
      <p:sp>
        <p:nvSpPr>
          <p:cNvPr id="19" name="Shape 17"/>
          <p:cNvSpPr/>
          <p:nvPr/>
        </p:nvSpPr>
        <p:spPr>
          <a:xfrm>
            <a:off x="749808" y="5605272"/>
            <a:ext cx="457200" cy="457200"/>
          </a:xfrm>
          <a:prstGeom prst="ellipse">
            <a:avLst/>
          </a:prstGeom>
          <a:solidFill>
            <a:srgbClr val="1E2761"/>
          </a:solidFill>
          <a:ln/>
        </p:spPr>
      </p:sp>
      <p:pic>
        <p:nvPicPr>
          <p:cNvPr id="20" name="Image 0" descr="preencoded.png">    </p:cNvPr>
          <p:cNvPicPr>
            <a:picLocks noChangeAspect="1"/>
          </p:cNvPicPr>
          <p:nvPr/>
        </p:nvPicPr>
        <p:blipFill>
          <a:blip r:embed="rId1"/>
          <a:stretch>
            <a:fillRect/>
          </a:stretch>
        </p:blipFill>
        <p:spPr>
          <a:xfrm>
            <a:off x="868680" y="5724144"/>
            <a:ext cx="219456" cy="219456"/>
          </a:xfrm>
          <a:prstGeom prst="rect">
            <a:avLst/>
          </a:prstGeom>
        </p:spPr>
      </p:pic>
      <p:sp>
        <p:nvSpPr>
          <p:cNvPr id="21" name="Text 18"/>
          <p:cNvSpPr/>
          <p:nvPr/>
        </p:nvSpPr>
        <p:spPr>
          <a:xfrm>
            <a:off x="1353312" y="5513832"/>
            <a:ext cx="10088575" cy="59436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We'd rather be straightforward about where this is headed </a:t>
            </a:r>
            <a:pPr indent="0" marL="0">
              <a:buNone/>
            </a:pPr>
            <a:r>
              <a:rPr lang="en-US" sz="1350" dirty="0">
                <a:solidFill>
                  <a:srgbClr val="1B2440"/>
                </a:solidFill>
                <a:latin typeface="Calibri" pitchFamily="34" charset="0"/>
                <a:ea typeface="Calibri" pitchFamily="34" charset="-122"/>
                <a:cs typeface="Calibri" pitchFamily="34" charset="-120"/>
              </a:rPr>
              <a:t>than let people guess.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5A6B8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5A6B8C"/>
                </a:solidFill>
                <a:latin typeface="Calibri" pitchFamily="34" charset="0"/>
                <a:ea typeface="Calibri" pitchFamily="34" charset="-122"/>
                <a:cs typeface="Calibri" pitchFamily="34" charset="-120"/>
              </a:rPr>
              <a:t>15</a:t>
            </a:r>
            <a:endParaRPr lang="en-US" sz="900" dirty="0"/>
          </a:p>
        </p:txBody>
      </p:sp>
      <p:sp>
        <p:nvSpPr>
          <p:cNvPr id="4" name="Text 2"/>
          <p:cNvSpPr/>
          <p:nvPr/>
        </p:nvSpPr>
        <p:spPr>
          <a:xfrm>
            <a:off x="548640" y="384048"/>
            <a:ext cx="11094415" cy="274320"/>
          </a:xfrm>
          <a:prstGeom prst="rect">
            <a:avLst/>
          </a:prstGeom>
          <a:noFill/>
          <a:ln/>
        </p:spPr>
        <p:txBody>
          <a:bodyPr wrap="square" lIns="0" tIns="0" rIns="0" bIns="0" rtlCol="0" anchor="ctr"/>
          <a:lstStyle/>
          <a:p>
            <a:pPr indent="0" marL="0">
              <a:buNone/>
            </a:pPr>
            <a:r>
              <a:rPr lang="en-US" sz="1200" b="1" spc="300" kern="0" dirty="0">
                <a:solidFill>
                  <a:srgbClr val="5A6B8C"/>
                </a:solidFill>
                <a:latin typeface="Calibri" pitchFamily="34" charset="0"/>
                <a:ea typeface="Calibri" pitchFamily="34" charset="-122"/>
                <a:cs typeface="Calibri" pitchFamily="34" charset="-120"/>
              </a:rPr>
              <a:t>BEING STRAIGHT ABOUT THE PEOPLE SIDE</a:t>
            </a:r>
            <a:endParaRPr lang="en-US" sz="1200" dirty="0"/>
          </a:p>
        </p:txBody>
      </p:sp>
      <p:sp>
        <p:nvSpPr>
          <p:cNvPr id="5" name="Text 3"/>
          <p:cNvSpPr/>
          <p:nvPr/>
        </p:nvSpPr>
        <p:spPr>
          <a:xfrm>
            <a:off x="548640" y="658368"/>
            <a:ext cx="11094415" cy="621792"/>
          </a:xfrm>
          <a:prstGeom prst="rect">
            <a:avLst/>
          </a:prstGeom>
          <a:noFill/>
          <a:ln/>
        </p:spPr>
        <p:txBody>
          <a:bodyPr wrap="square" lIns="0" tIns="0" rIns="0" bIns="0"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This changes roles — let's talk about it early and honestly</a:t>
            </a:r>
            <a:endParaRPr lang="en-US" sz="2800" dirty="0"/>
          </a:p>
        </p:txBody>
      </p:sp>
      <p:sp>
        <p:nvSpPr>
          <p:cNvPr id="6" name="Shape 4"/>
          <p:cNvSpPr/>
          <p:nvPr/>
        </p:nvSpPr>
        <p:spPr>
          <a:xfrm>
            <a:off x="548640" y="1691640"/>
            <a:ext cx="3520440" cy="3657600"/>
          </a:xfrm>
          <a:prstGeom prst="roundRect">
            <a:avLst>
              <a:gd name="adj" fmla="val 2338"/>
            </a:avLst>
          </a:prstGeom>
          <a:solidFill>
            <a:srgbClr val="EDF3FC"/>
          </a:solidFill>
          <a:ln/>
          <a:effectLst>
            <a:outerShdw sx="100000" sy="100000" kx="0" ky="0" algn="bl" rotWithShape="0" blurRad="76200" dist="12700" dir="5400000">
              <a:srgbClr val="9AA7C4">
                <a:alpha val="22000"/>
              </a:srgbClr>
            </a:outerShdw>
          </a:effectLst>
        </p:spPr>
      </p:sp>
      <p:sp>
        <p:nvSpPr>
          <p:cNvPr id="7" name="Shape 5"/>
          <p:cNvSpPr/>
          <p:nvPr/>
        </p:nvSpPr>
        <p:spPr>
          <a:xfrm>
            <a:off x="777240" y="1920240"/>
            <a:ext cx="548640" cy="54864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919886" y="2062886"/>
            <a:ext cx="263347" cy="263347"/>
          </a:xfrm>
          <a:prstGeom prst="rect">
            <a:avLst/>
          </a:prstGeom>
        </p:spPr>
      </p:pic>
      <p:sp>
        <p:nvSpPr>
          <p:cNvPr id="9" name="Text 6"/>
          <p:cNvSpPr/>
          <p:nvPr/>
        </p:nvSpPr>
        <p:spPr>
          <a:xfrm>
            <a:off x="777240" y="2606040"/>
            <a:ext cx="3063240"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For developers</a:t>
            </a:r>
            <a:endParaRPr lang="en-US" sz="1500" dirty="0"/>
          </a:p>
        </p:txBody>
      </p:sp>
      <p:sp>
        <p:nvSpPr>
          <p:cNvPr id="10" name="Text 7"/>
          <p:cNvSpPr/>
          <p:nvPr/>
        </p:nvSpPr>
        <p:spPr>
          <a:xfrm>
            <a:off x="777240" y="3108960"/>
            <a:ext cx="3063240" cy="2103120"/>
          </a:xfrm>
          <a:prstGeom prst="rect">
            <a:avLst/>
          </a:prstGeom>
          <a:noFill/>
          <a:ln/>
        </p:spPr>
        <p:txBody>
          <a:bodyPr wrap="square" lIns="0" tIns="0" rIns="0" bIns="0" rtlCol="0" anchor="ctr"/>
          <a:lstStyle/>
          <a:p>
            <a:pPr indent="0" marL="0">
              <a:buNone/>
            </a:pPr>
            <a:r>
              <a:rPr lang="en-US" sz="1200" dirty="0">
                <a:solidFill>
                  <a:srgbClr val="1B2440"/>
                </a:solidFill>
                <a:latin typeface="Calibri" pitchFamily="34" charset="0"/>
                <a:ea typeface="Calibri" pitchFamily="34" charset="-122"/>
                <a:cs typeface="Calibri" pitchFamily="34" charset="-120"/>
              </a:rPr>
              <a:t>More time on the interesting problems, less on environment friction and waiting on access or pipelines. The tools handle more of the repetitive part so we can focus on what actually needs a person.</a:t>
            </a:r>
            <a:endParaRPr lang="en-US" sz="1200" dirty="0"/>
          </a:p>
        </p:txBody>
      </p:sp>
      <p:sp>
        <p:nvSpPr>
          <p:cNvPr id="11" name="Shape 8"/>
          <p:cNvSpPr/>
          <p:nvPr/>
        </p:nvSpPr>
        <p:spPr>
          <a:xfrm>
            <a:off x="4334256" y="1691640"/>
            <a:ext cx="3520440" cy="3657600"/>
          </a:xfrm>
          <a:prstGeom prst="roundRect">
            <a:avLst>
              <a:gd name="adj" fmla="val 2338"/>
            </a:avLst>
          </a:prstGeom>
          <a:solidFill>
            <a:srgbClr val="EDF3FC"/>
          </a:solidFill>
          <a:ln/>
          <a:effectLst>
            <a:outerShdw sx="100000" sy="100000" kx="0" ky="0" algn="bl" rotWithShape="0" blurRad="76200" dist="12700" dir="5400000">
              <a:srgbClr val="9AA7C4">
                <a:alpha val="22000"/>
              </a:srgbClr>
            </a:outerShdw>
          </a:effectLst>
        </p:spPr>
      </p:sp>
      <p:sp>
        <p:nvSpPr>
          <p:cNvPr id="12" name="Shape 9"/>
          <p:cNvSpPr/>
          <p:nvPr/>
        </p:nvSpPr>
        <p:spPr>
          <a:xfrm>
            <a:off x="4562856" y="1920240"/>
            <a:ext cx="548640" cy="548640"/>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4705502" y="2062886"/>
            <a:ext cx="263347" cy="263347"/>
          </a:xfrm>
          <a:prstGeom prst="rect">
            <a:avLst/>
          </a:prstGeom>
        </p:spPr>
      </p:pic>
      <p:sp>
        <p:nvSpPr>
          <p:cNvPr id="14" name="Text 10"/>
          <p:cNvSpPr/>
          <p:nvPr/>
        </p:nvSpPr>
        <p:spPr>
          <a:xfrm>
            <a:off x="4562856" y="2606040"/>
            <a:ext cx="3063240"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For contractors</a:t>
            </a:r>
            <a:endParaRPr lang="en-US" sz="1500" dirty="0"/>
          </a:p>
        </p:txBody>
      </p:sp>
      <p:sp>
        <p:nvSpPr>
          <p:cNvPr id="15" name="Text 11"/>
          <p:cNvSpPr/>
          <p:nvPr/>
        </p:nvSpPr>
        <p:spPr>
          <a:xfrm>
            <a:off x="4562856" y="3108960"/>
            <a:ext cx="3063240" cy="2103120"/>
          </a:xfrm>
          <a:prstGeom prst="rect">
            <a:avLst/>
          </a:prstGeom>
          <a:noFill/>
          <a:ln/>
        </p:spPr>
        <p:txBody>
          <a:bodyPr wrap="square" lIns="0" tIns="0" rIns="0" bIns="0" rtlCol="0" anchor="ctr"/>
          <a:lstStyle/>
          <a:p>
            <a:pPr indent="0" marL="0">
              <a:buNone/>
            </a:pPr>
            <a:r>
              <a:rPr lang="en-US" sz="1200" dirty="0">
                <a:solidFill>
                  <a:srgbClr val="1B2440"/>
                </a:solidFill>
                <a:latin typeface="Calibri" pitchFamily="34" charset="0"/>
                <a:ea typeface="Calibri" pitchFamily="34" charset="-122"/>
                <a:cs typeface="Calibri" pitchFamily="34" charset="-120"/>
              </a:rPr>
              <a:t>Some roles shift toward integration, environment testing, and configuration management — the ingress side of the loop, and genuinely valuable, hands-on work, not busywork. Where useful, some may also move toward more BA-style spec work.</a:t>
            </a:r>
            <a:endParaRPr lang="en-US" sz="1200" dirty="0"/>
          </a:p>
        </p:txBody>
      </p:sp>
      <p:sp>
        <p:nvSpPr>
          <p:cNvPr id="16" name="Shape 12"/>
          <p:cNvSpPr/>
          <p:nvPr/>
        </p:nvSpPr>
        <p:spPr>
          <a:xfrm>
            <a:off x="8119872" y="1691640"/>
            <a:ext cx="3520440" cy="3657600"/>
          </a:xfrm>
          <a:prstGeom prst="roundRect">
            <a:avLst>
              <a:gd name="adj" fmla="val 2338"/>
            </a:avLst>
          </a:prstGeom>
          <a:solidFill>
            <a:srgbClr val="EAF4EF"/>
          </a:solidFill>
          <a:ln/>
          <a:effectLst>
            <a:outerShdw sx="100000" sy="100000" kx="0" ky="0" algn="bl" rotWithShape="0" blurRad="76200" dist="12700" dir="5400000">
              <a:srgbClr val="9AA7C4">
                <a:alpha val="22000"/>
              </a:srgbClr>
            </a:outerShdw>
          </a:effectLst>
        </p:spPr>
      </p:sp>
      <p:sp>
        <p:nvSpPr>
          <p:cNvPr id="17" name="Shape 13"/>
          <p:cNvSpPr/>
          <p:nvPr/>
        </p:nvSpPr>
        <p:spPr>
          <a:xfrm>
            <a:off x="8348472" y="1920240"/>
            <a:ext cx="548640" cy="548640"/>
          </a:xfrm>
          <a:prstGeom prst="ellipse">
            <a:avLst/>
          </a:prstGeom>
          <a:solidFill>
            <a:srgbClr val="2E7D5B"/>
          </a:solidFill>
          <a:ln/>
        </p:spPr>
      </p:sp>
      <p:pic>
        <p:nvPicPr>
          <p:cNvPr id="18" name="Image 2" descr="preencoded.png">    </p:cNvPr>
          <p:cNvPicPr>
            <a:picLocks noChangeAspect="1"/>
          </p:cNvPicPr>
          <p:nvPr/>
        </p:nvPicPr>
        <p:blipFill>
          <a:blip r:embed="rId3"/>
          <a:stretch>
            <a:fillRect/>
          </a:stretch>
        </p:blipFill>
        <p:spPr>
          <a:xfrm>
            <a:off x="8491118" y="2062886"/>
            <a:ext cx="263347" cy="263347"/>
          </a:xfrm>
          <a:prstGeom prst="rect">
            <a:avLst/>
          </a:prstGeom>
        </p:spPr>
      </p:pic>
      <p:sp>
        <p:nvSpPr>
          <p:cNvPr id="19" name="Text 14"/>
          <p:cNvSpPr/>
          <p:nvPr/>
        </p:nvSpPr>
        <p:spPr>
          <a:xfrm>
            <a:off x="8348472" y="2606040"/>
            <a:ext cx="3063240" cy="457200"/>
          </a:xfrm>
          <a:prstGeom prst="rect">
            <a:avLst/>
          </a:prstGeom>
          <a:noFill/>
          <a:ln/>
        </p:spPr>
        <p:txBody>
          <a:bodyPr wrap="square" lIns="0" tIns="0" rIns="0" bIns="0" rtlCol="0" anchor="ctr"/>
          <a:lstStyle/>
          <a:p>
            <a:pPr indent="0" marL="0">
              <a:buNone/>
            </a:pPr>
            <a:r>
              <a:rPr lang="en-US" sz="1500" b="1" dirty="0">
                <a:solidFill>
                  <a:srgbClr val="2E7D5B"/>
                </a:solidFill>
                <a:latin typeface="Calibri" pitchFamily="34" charset="0"/>
                <a:ea typeface="Calibri" pitchFamily="34" charset="-122"/>
                <a:cs typeface="Calibri" pitchFamily="34" charset="-120"/>
              </a:rPr>
              <a:t>For everyone</a:t>
            </a:r>
            <a:endParaRPr lang="en-US" sz="1500" dirty="0"/>
          </a:p>
        </p:txBody>
      </p:sp>
      <p:sp>
        <p:nvSpPr>
          <p:cNvPr id="20" name="Text 15"/>
          <p:cNvSpPr/>
          <p:nvPr/>
        </p:nvSpPr>
        <p:spPr>
          <a:xfrm>
            <a:off x="8348472" y="3108960"/>
            <a:ext cx="3063240" cy="2103120"/>
          </a:xfrm>
          <a:prstGeom prst="rect">
            <a:avLst/>
          </a:prstGeom>
          <a:noFill/>
          <a:ln/>
        </p:spPr>
        <p:txBody>
          <a:bodyPr wrap="square" lIns="0" tIns="0" rIns="0" bIns="0" rtlCol="0" anchor="ctr"/>
          <a:lstStyle/>
          <a:p>
            <a:pPr indent="0" marL="0">
              <a:buNone/>
            </a:pPr>
            <a:r>
              <a:rPr lang="en-US" sz="1200" dirty="0">
                <a:solidFill>
                  <a:srgbClr val="1B2440"/>
                </a:solidFill>
                <a:latin typeface="Calibri" pitchFamily="34" charset="0"/>
                <a:ea typeface="Calibri" pitchFamily="34" charset="-122"/>
                <a:cs typeface="Calibri" pitchFamily="34" charset="-120"/>
              </a:rPr>
              <a:t>Phase 3 means a real reduction in contractor headcount, eventually — we don't know when, but we're naming it now rather than waiting. Phases 1 and 2 exist partly to make that transition possible without anyone being blindsided.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6473952"/>
            <a:ext cx="5029200" cy="274320"/>
          </a:xfrm>
          <a:prstGeom prst="rect">
            <a:avLst/>
          </a:prstGeom>
          <a:noFill/>
          <a:ln/>
        </p:spPr>
        <p:txBody>
          <a:bodyPr wrap="square" lIns="0" tIns="0" rIns="0" bIns="0"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Internet-First, Airgap-Final — Team Edition</a:t>
            </a:r>
            <a:endParaRPr lang="en-US" sz="900" dirty="0"/>
          </a:p>
        </p:txBody>
      </p:sp>
      <p:sp>
        <p:nvSpPr>
          <p:cNvPr id="3" name="Text 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16</a:t>
            </a:r>
            <a:endParaRPr lang="en-US" sz="900" dirty="0"/>
          </a:p>
        </p:txBody>
      </p:sp>
      <p:sp>
        <p:nvSpPr>
          <p:cNvPr id="4" name="Shape 2"/>
          <p:cNvSpPr/>
          <p:nvPr/>
        </p:nvSpPr>
        <p:spPr>
          <a:xfrm>
            <a:off x="-2286000" y="3474720"/>
            <a:ext cx="6400800" cy="6400800"/>
          </a:xfrm>
          <a:prstGeom prst="ellipse">
            <a:avLst/>
          </a:prstGeom>
          <a:solidFill>
            <a:srgbClr val="2A3A7A">
              <a:alpha val="40000"/>
            </a:srgbClr>
          </a:solidFill>
          <a:ln/>
        </p:spPr>
      </p:sp>
      <p:sp>
        <p:nvSpPr>
          <p:cNvPr id="5" name="Text 3"/>
          <p:cNvSpPr/>
          <p:nvPr/>
        </p:nvSpPr>
        <p:spPr>
          <a:xfrm>
            <a:off x="548640" y="822960"/>
            <a:ext cx="11094415" cy="365760"/>
          </a:xfrm>
          <a:prstGeom prst="rect">
            <a:avLst/>
          </a:prstGeom>
          <a:noFill/>
          <a:ln/>
        </p:spPr>
        <p:txBody>
          <a:bodyPr wrap="square" lIns="0" tIns="0" rIns="0" bIns="0"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WHAT WE ACTUALLY DO NEXT</a:t>
            </a:r>
            <a:endParaRPr lang="en-US" sz="1300" dirty="0"/>
          </a:p>
        </p:txBody>
      </p:sp>
      <p:sp>
        <p:nvSpPr>
          <p:cNvPr id="6" name="Text 4"/>
          <p:cNvSpPr/>
          <p:nvPr/>
        </p:nvSpPr>
        <p:spPr>
          <a:xfrm>
            <a:off x="548640" y="1188720"/>
            <a:ext cx="11094415" cy="15544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 few small steps,</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not a big bang.</a:t>
            </a:r>
            <a:endParaRPr lang="en-US" sz="4000" dirty="0"/>
          </a:p>
        </p:txBody>
      </p:sp>
      <p:sp>
        <p:nvSpPr>
          <p:cNvPr id="7" name="Text 5"/>
          <p:cNvSpPr/>
          <p:nvPr/>
        </p:nvSpPr>
        <p:spPr>
          <a:xfrm>
            <a:off x="548640" y="2880360"/>
            <a:ext cx="10607040" cy="2103120"/>
          </a:xfrm>
          <a:prstGeom prst="rect">
            <a:avLst/>
          </a:prstGeom>
          <a:noFill/>
          <a:ln/>
        </p:spPr>
        <p:txBody>
          <a:bodyPr wrap="square" lIns="0" tIns="0" rIns="0" bIns="0" rtlCol="0" anchor="ctr"/>
          <a:lstStyle/>
          <a:p>
            <a:pPr marL="342900" indent="-342900">
              <a:spcAft>
                <a:spcPts val="1400"/>
              </a:spcAft>
              <a:buSzPct val="100000"/>
              <a:buChar char="•"/>
            </a:pPr>
            <a:r>
              <a:rPr lang="en-US" sz="1600" dirty="0">
                <a:solidFill>
                  <a:srgbClr val="CADCFC"/>
                </a:solidFill>
                <a:latin typeface="Calibri" pitchFamily="34" charset="0"/>
                <a:ea typeface="Calibri" pitchFamily="34" charset="-122"/>
                <a:cs typeface="Calibri" pitchFamily="34" charset="-120"/>
              </a:rPr>
              <a:t>Pick one small feature to pilot the whole loop on</a:t>
            </a:r>
            <a:endParaRPr lang="en-US" sz="1600" dirty="0"/>
          </a:p>
          <a:p>
            <a:pPr marL="342900" indent="-342900">
              <a:spcAft>
                <a:spcPts val="1400"/>
              </a:spcAft>
              <a:buSzPct val="100000"/>
              <a:buChar char="•"/>
            </a:pPr>
            <a:r>
              <a:rPr lang="en-US" sz="1600" dirty="0">
                <a:solidFill>
                  <a:srgbClr val="CADCFC"/>
                </a:solidFill>
                <a:latin typeface="Calibri" pitchFamily="34" charset="0"/>
                <a:ea typeface="Calibri" pitchFamily="34" charset="-122"/>
                <a:cs typeface="Calibri" pitchFamily="34" charset="-120"/>
              </a:rPr>
              <a:t>Copy our lint / SAST / test configs over so outside matches inside from day one</a:t>
            </a:r>
            <a:endParaRPr lang="en-US" sz="1600" dirty="0"/>
          </a:p>
          <a:p>
            <a:pPr marL="342900" indent="-342900">
              <a:spcAft>
                <a:spcPts val="1400"/>
              </a:spcAft>
              <a:buSzPct val="100000"/>
              <a:buChar char="•"/>
            </a:pPr>
            <a:r>
              <a:rPr lang="en-US" sz="1600" dirty="0">
                <a:solidFill>
                  <a:srgbClr val="CADCFC"/>
                </a:solidFill>
                <a:latin typeface="Calibri" pitchFamily="34" charset="0"/>
                <a:ea typeface="Calibri" pitchFamily="34" charset="-122"/>
                <a:cs typeface="Calibri" pitchFamily="34" charset="-120"/>
              </a:rPr>
              <a:t>Run the extractor → mock → Playwright loop on it, end to end</a:t>
            </a:r>
            <a:endParaRPr lang="en-US" sz="1600" dirty="0"/>
          </a:p>
          <a:p>
            <a:pPr marL="342900" indent="-342900">
              <a:spcAft>
                <a:spcPts val="1400"/>
              </a:spcAft>
              <a:buSzPct val="100000"/>
              <a:buChar char="•"/>
            </a:pPr>
            <a:r>
              <a:rPr lang="en-US" sz="1600" dirty="0">
                <a:solidFill>
                  <a:srgbClr val="CADCFC"/>
                </a:solidFill>
                <a:latin typeface="Calibri" pitchFamily="34" charset="0"/>
                <a:ea typeface="Calibri" pitchFamily="34" charset="-122"/>
                <a:cs typeface="Calibri" pitchFamily="34" charset="-120"/>
              </a:rPr>
              <a:t>Get together as a team afterward: what worked, what didn't, what we adjust</a:t>
            </a:r>
            <a:endParaRPr lang="en-US" sz="1600" dirty="0"/>
          </a:p>
        </p:txBody>
      </p:sp>
      <p:sp>
        <p:nvSpPr>
          <p:cNvPr id="8" name="Text 6"/>
          <p:cNvSpPr/>
          <p:nvPr/>
        </p:nvSpPr>
        <p:spPr>
          <a:xfrm>
            <a:off x="548640" y="5349240"/>
            <a:ext cx="10607040" cy="548640"/>
          </a:xfrm>
          <a:prstGeom prst="rect">
            <a:avLst/>
          </a:prstGeom>
          <a:noFill/>
          <a:ln/>
        </p:spPr>
        <p:txBody>
          <a:bodyPr wrap="square" lIns="0" tIns="0" rIns="0" bIns="0" rtlCol="0" anchor="ctr"/>
          <a:lstStyle/>
          <a:p>
            <a:pPr indent="0" marL="0">
              <a:buNone/>
            </a:pPr>
            <a:r>
              <a:rPr lang="en-US" sz="1700" i="1" dirty="0">
                <a:solidFill>
                  <a:srgbClr val="FFFFFF"/>
                </a:solidFill>
                <a:latin typeface="Calibri" pitchFamily="34" charset="0"/>
                <a:ea typeface="Calibri" pitchFamily="34" charset="-122"/>
                <a:cs typeface="Calibri" pitchFamily="34" charset="-120"/>
              </a:rPr>
              <a:t>Let's prove this on one feature, learn from it, and go from there — together.</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Core Engineering</dc:creator>
  <cp:lastModifiedBy>Core Engineering</cp:lastModifiedBy>
  <cp:revision>1</cp:revision>
  <dcterms:created xsi:type="dcterms:W3CDTF">2026-07-18T21:51:58Z</dcterms:created>
  <dcterms:modified xsi:type="dcterms:W3CDTF">2026-07-18T21:51:58Z</dcterms:modified>
</cp:coreProperties>
</file>